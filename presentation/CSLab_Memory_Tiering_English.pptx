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da613675304f1e" /><Relationship Type="http://schemas.openxmlformats.org/officeDocument/2006/relationships/extended-properties" Target="/docProps/app.xml" Id="R2ae054bdef254542" /><Relationship Type="http://schemas.openxmlformats.org/officeDocument/2006/relationships/officeDocument" Target="/ppt/presentation.xml" Id="R8bb2cebf90934766" /></Relationships>
</file>

<file path=ppt/presentation.xml><?xml version="1.0" encoding="utf-8"?>
<p:presentation xmlns:p="http://schemas.openxmlformats.org/presentationml/2006/main">
  <p:sldMasterIdLst>
    <p:sldMasterId xmlns:r="http://schemas.openxmlformats.org/officeDocument/2006/relationships" id="2147483648" r:id="R36a1bb289d974f6c"/>
  </p:sldMasterIdLst>
  <p:notesMasterIdLst>
    <p:notesMasterId xmlns:r="http://schemas.openxmlformats.org/officeDocument/2006/relationships" r:id="R87b930e5b4754ed9"/>
  </p:notesMasterIdLst>
  <p:sldIdLst>
    <p:sldId xmlns:r="http://schemas.openxmlformats.org/officeDocument/2006/relationships" id="256" r:id="Racc5a465fae94b3f"/>
    <p:sldId xmlns:r="http://schemas.openxmlformats.org/officeDocument/2006/relationships" id="257" r:id="Rb89d42cf674e4877"/>
    <p:sldId xmlns:r="http://schemas.openxmlformats.org/officeDocument/2006/relationships" id="258" r:id="Rd0282ab0121e427b"/>
    <p:sldId xmlns:r="http://schemas.openxmlformats.org/officeDocument/2006/relationships" id="259" r:id="Rcc70da1a7a5648cc"/>
    <p:sldId xmlns:r="http://schemas.openxmlformats.org/officeDocument/2006/relationships" id="260" r:id="R32bd3ea7cfac4e61"/>
    <p:sldId xmlns:r="http://schemas.openxmlformats.org/officeDocument/2006/relationships" id="261" r:id="R3a3a1fbba8014ade"/>
    <p:sldId xmlns:r="http://schemas.openxmlformats.org/officeDocument/2006/relationships" id="262" r:id="Ra6167bd93b224cdd"/>
    <p:sldId xmlns:r="http://schemas.openxmlformats.org/officeDocument/2006/relationships" id="263" r:id="Re9fbaaa265a84308"/>
    <p:sldId xmlns:r="http://schemas.openxmlformats.org/officeDocument/2006/relationships" id="264" r:id="R0c34f7709eb24a49"/>
    <p:sldId xmlns:r="http://schemas.openxmlformats.org/officeDocument/2006/relationships" id="265" r:id="Rbf3d6613e35d44ef"/>
    <p:sldId xmlns:r="http://schemas.openxmlformats.org/officeDocument/2006/relationships" id="266" r:id="R1ba6555876ae4a64"/>
    <p:sldId xmlns:r="http://schemas.openxmlformats.org/officeDocument/2006/relationships" id="267" r:id="Rc6f2acf7449d40b1"/>
    <p:sldId xmlns:r="http://schemas.openxmlformats.org/officeDocument/2006/relationships" id="268" r:id="R73c53c2e89c540b3"/>
    <p:sldId xmlns:r="http://schemas.openxmlformats.org/officeDocument/2006/relationships" id="269" r:id="Rf7f5276d0cd5485a"/>
    <p:sldId xmlns:r="http://schemas.openxmlformats.org/officeDocument/2006/relationships" id="270" r:id="Re1a3bade46fd474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de654201774e85" /><Relationship Type="http://schemas.openxmlformats.org/officeDocument/2006/relationships/slideMaster" Target="/ppt/slideMasters/slideMaster1.xml" Id="R36a1bb289d974f6c" /><Relationship Type="http://schemas.openxmlformats.org/officeDocument/2006/relationships/notesMaster" Target="/ppt/notesMasters/notesMaster1.xml" Id="R87b930e5b4754ed9" /><Relationship Type="http://schemas.openxmlformats.org/officeDocument/2006/relationships/presProps" Target="/ppt/presProps.xml" Id="R4160d8af353e4a54" /><Relationship Type="http://schemas.openxmlformats.org/officeDocument/2006/relationships/tableStyles" Target="/ppt/tableStyles.xml" Id="R61c784f6e9b94914" /><Relationship Type="http://schemas.openxmlformats.org/officeDocument/2006/relationships/slide" Target="/ppt/slides/slide1.xml" Id="Racc5a465fae94b3f" /><Relationship Type="http://schemas.openxmlformats.org/officeDocument/2006/relationships/slide" Target="/ppt/slides/slide2.xml" Id="Rb89d42cf674e4877" /><Relationship Type="http://schemas.openxmlformats.org/officeDocument/2006/relationships/slide" Target="/ppt/slides/slide3.xml" Id="Rd0282ab0121e427b" /><Relationship Type="http://schemas.openxmlformats.org/officeDocument/2006/relationships/slide" Target="/ppt/slides/slide4.xml" Id="Rcc70da1a7a5648cc" /><Relationship Type="http://schemas.openxmlformats.org/officeDocument/2006/relationships/slide" Target="/ppt/slides/slide5.xml" Id="R32bd3ea7cfac4e61" /><Relationship Type="http://schemas.openxmlformats.org/officeDocument/2006/relationships/slide" Target="/ppt/slides/slide6.xml" Id="R3a3a1fbba8014ade" /><Relationship Type="http://schemas.openxmlformats.org/officeDocument/2006/relationships/slide" Target="/ppt/slides/slide7.xml" Id="Ra6167bd93b224cdd" /><Relationship Type="http://schemas.openxmlformats.org/officeDocument/2006/relationships/slide" Target="/ppt/slides/slide8.xml" Id="Re9fbaaa265a84308" /><Relationship Type="http://schemas.openxmlformats.org/officeDocument/2006/relationships/slide" Target="/ppt/slides/slide9.xml" Id="R0c34f7709eb24a49" /><Relationship Type="http://schemas.openxmlformats.org/officeDocument/2006/relationships/slide" Target="/ppt/slides/slide10.xml" Id="Rbf3d6613e35d44ef" /><Relationship Type="http://schemas.openxmlformats.org/officeDocument/2006/relationships/slide" Target="/ppt/slides/slide11.xml" Id="R1ba6555876ae4a64" /><Relationship Type="http://schemas.openxmlformats.org/officeDocument/2006/relationships/slide" Target="/ppt/slides/slide12.xml" Id="Rc6f2acf7449d40b1" /><Relationship Type="http://schemas.openxmlformats.org/officeDocument/2006/relationships/slide" Target="/ppt/slides/slide13.xml" Id="R73c53c2e89c540b3" /><Relationship Type="http://schemas.openxmlformats.org/officeDocument/2006/relationships/slide" Target="/ppt/slides/slide14.xml" Id="Rf7f5276d0cd5485a" /><Relationship Type="http://schemas.openxmlformats.org/officeDocument/2006/relationships/slide" Target="/ppt/slides/slide15.xml" Id="Re1a3bade46fd47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09154bc4c0c4d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a:ea typeface=""/>
        <a:cs typeface=""/>
      </a:majorFont>
      <a:minorFont>
        <a:latin typeface="Noto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805f26942a4ad9" /><Relationship Type="http://schemas.openxmlformats.org/officeDocument/2006/relationships/notesMaster" Target="/ppt/notesMasters/notesMaster1.xml" Id="R8244cedf832a4f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c7351768fe4b00" /><Relationship Type="http://schemas.openxmlformats.org/officeDocument/2006/relationships/notesMaster" Target="/ppt/notesMasters/notesMaster1.xml" Id="R00c8a9a1cd314e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6badb2249549ab" /><Relationship Type="http://schemas.openxmlformats.org/officeDocument/2006/relationships/notesMaster" Target="/ppt/notesMasters/notesMaster1.xml" Id="R975c7f568d1c4b73" /></Relationships>
</file>

<file path=ppt/notesSlides/_rels/notesSlide4.xml.rels>&#65279;<?xml version="1.0" encoding="utf-8"?><Relationships xmlns="http://schemas.openxmlformats.org/package/2006/relationships"><Relationship Type="http://schemas.openxmlformats.org/officeDocument/2006/relationships/slide" Target="/ppt/slides/slide4.xml" Id="R5a5674b7996242f1" /><Relationship Type="http://schemas.openxmlformats.org/officeDocument/2006/relationships/notesMaster" Target="/ppt/notesMasters/notesMaster1.xml" Id="R8be8f8676efb49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0495ec63740447e2" /><Relationship Type="http://schemas.openxmlformats.org/officeDocument/2006/relationships/notesMaster" Target="/ppt/notesMasters/notesMaster1.xml" Id="R0d726d1dce8e4055" /></Relationships>
</file>

<file path=ppt/notesSlides/_rels/notesSlide6.xml.rels>&#65279;<?xml version="1.0" encoding="utf-8"?><Relationships xmlns="http://schemas.openxmlformats.org/package/2006/relationships"><Relationship Type="http://schemas.openxmlformats.org/officeDocument/2006/relationships/slide" Target="/ppt/slides/slide6.xml" Id="Re57adb7f71ab4bb9" /><Relationship Type="http://schemas.openxmlformats.org/officeDocument/2006/relationships/notesMaster" Target="/ppt/notesMasters/notesMaster1.xml" Id="Rdab4cf678dfc4262" /></Relationships>
</file>

<file path=ppt/notesSlides/_rels/notesSlide7.xml.rels>&#65279;<?xml version="1.0" encoding="utf-8"?><Relationships xmlns="http://schemas.openxmlformats.org/package/2006/relationships"><Relationship Type="http://schemas.openxmlformats.org/officeDocument/2006/relationships/slide" Target="/ppt/slides/slide7.xml" Id="R291249cc5ca34ad4" /><Relationship Type="http://schemas.openxmlformats.org/officeDocument/2006/relationships/notesMaster" Target="/ppt/notesMasters/notesMaster1.xml" Id="Re9b764db1b8c4e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6c7668af804ae8" /><Relationship Type="http://schemas.openxmlformats.org/officeDocument/2006/relationships/notesMaster" Target="/ppt/notesMasters/notesMaster1.xml" Id="R348c3fdfd0cc46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107f84854bd24e47" /><Relationship Type="http://schemas.openxmlformats.org/officeDocument/2006/relationships/notesMaster" Target="/ppt/notesMasters/notesMaster1.xml" Id="R79720ec102d247f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a58d4f769d45b0" /><Relationship Type="http://schemas.openxmlformats.org/officeDocument/2006/relationships/notesMaster" Target="/ppt/notesMasters/notesMaster1.xml" Id="R8afbad5683914b1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9163a9a8c2c45f0" /><Relationship Type="http://schemas.openxmlformats.org/officeDocument/2006/relationships/notesMaster" Target="/ppt/notesMasters/notesMaster1.xml" Id="R33d09ffdb8c14b7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3000cf76ac14452" /><Relationship Type="http://schemas.openxmlformats.org/officeDocument/2006/relationships/notesMaster" Target="/ppt/notesMasters/notesMaster1.xml" Id="Rd33b8571117b425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d6a971610d3499c" /><Relationship Type="http://schemas.openxmlformats.org/officeDocument/2006/relationships/notesMaster" Target="/ppt/notesMasters/notesMaster1.xml" Id="R6517cc5be950487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927efd4fef140f2" /><Relationship Type="http://schemas.openxmlformats.org/officeDocument/2006/relationships/notesMaster" Target="/ppt/notesMasters/notesMaster1.xml" Id="R0c7f4134e7cc4b5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06aea2dfeec4f95" /><Relationship Type="http://schemas.openxmlformats.org/officeDocument/2006/relationships/notesMaster" Target="/ppt/notesMasters/notesMaster1.xml" Id="R752d6da2127b47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This course research project was carried out for Advanced Computer Architecture with CSLab. The target is M5 Figure 4, not a complete implementation of M5. Present the measurement method, discrepancies and controlled extensions.</a:t>
            </a:r>
          </a:p>
          <a:p xmlns:a="http://schemas.openxmlformats.org/drawingml/2006/main">
            <a:r>
              <a:t/>
            </a:r>
          </a:p>
          <a:p xmlns:a="http://schemas.openxmlformats.org/drawingml/2006/main">
            <a:r>
              <a:t>Sources: docs/methodology.md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Record memory references, use the artifact benchmarks, reproduce the figure and extend it to accesses. Memstrata and NeoMem also informed the study. Figure 4 concerns spatial coverage, not the hot-page selection accuracy in Figure 3.</a:t>
            </a:r>
          </a:p>
          <a:p xmlns:a="http://schemas.openxmlformats.org/drawingml/2006/main">
            <a:r>
              <a:t/>
            </a:r>
          </a:p>
          <a:p xmlns:a="http://schemas.openxmlformats.org/drawingml/2006/main">
            <a:r>
              <a:t>Sources: docs/methodology.md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seconds. Count distinct lines for each page and window. The CDF at N is the fraction of observations touching at most N lines. Coverage is not access frequency. Each page-window observation has equal weight; epochs are not weighted equally regardless of population.</a:t>
            </a:r>
          </a:p>
          <a:p xmlns:a="http://schemas.openxmlformats.org/drawingml/2006/main">
            <a:r>
              <a:t/>
            </a:r>
          </a:p>
          <a:p xmlns:a="http://schemas.openxmlformats.org/drawingml/2006/main">
            <a:r>
              <a:t>Sources: docs/methodology.md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seconds. Intel supplies the Pin framework. Our C++ implementation instruments memory operands, splits them into lines, filters them through caches and updates masks and counters. It does not retain a full trace. ROI hooks, shared epochs and manifests support validation and reproducibility.</a:t>
            </a:r>
          </a:p>
          <a:p xmlns:a="http://schemas.openxmlformats.org/drawingml/2006/main">
            <a:r>
              <a:t/>
            </a:r>
          </a:p>
          <a:p xmlns:a="http://schemas.openxmlformats.org/drawingml/2006/main">
            <a:r>
              <a:t>Sources: src/profiler/pintool/hotskew.cpp; counter_table.hpp; paired_observer.hpp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seconds. A cache model is needed as a filter. It has private L1/L2, a shared LLC, writeback/write-allocate, LRU and non-inclusive behavior. It is not an exact Sapphire Rapids simulator. Pin sees virtual user-space operands, not kernel copies or hardware prefetches.</a:t>
            </a:r>
          </a:p>
          <a:p xmlns:a="http://schemas.openxmlformats.org/drawingml/2006/main">
            <a:r>
              <a:t/>
            </a:r>
          </a:p>
          <a:p xmlns:a="http://schemas.openxmlformats.org/drawingml/2006/main">
            <a:r>
              <a:t>Sources: docs/methodology.md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seconds. Accesses are demand operands split by line. Fills are demand misses through every modeled cache level. Total traffic adds dirty LLC writebacks. All streams share boundaries in the same execution. The protocol uses 10M memory events, retains the final partial window and reports a separate whole-ROI union. Controls vary only declared factors.</a:t>
            </a:r>
          </a:p>
          <a:p xmlns:a="http://schemas.openxmlformats.org/drawingml/2006/main">
            <a:r>
              <a:t/>
            </a:r>
          </a:p>
          <a:p xmlns:a="http://schemas.openxmlformats.org/drawingml/2006/main">
            <a:r>
              <a:t>Sources: docs/methodology.md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 seconds. Top: digitized M5. Below: paired accesses and demand misses under a common protocol. This baseline precedes the new input campaign. It is not full replication. Retain it as the common basis for comparing controls.</a:t>
            </a:r>
          </a:p>
          <a:p xmlns:a="http://schemas.openxmlformats.org/drawingml/2006/main">
            <a:r>
              <a:t/>
            </a:r>
          </a:p>
          <a:p xmlns:a="http://schemas.openxmlformats.org/drawingml/2006/main">
            <a:r>
              <a:t>Sources: docs/uniform-windows.md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seconds. The new campaign uses our declared Twitter reductions and Google+ snapshots 4/2. All six runs completed and passed checks. These are not the exact author inputs. Negative results are retained: BC and SSSP disagree more strongly.</a:t>
            </a:r>
          </a:p>
          <a:p xmlns:a="http://schemas.openxmlformats.org/drawingml/2006/main">
            <a:r>
              <a:t/>
            </a:r>
          </a:p>
          <a:p xmlns:a="http://schemas.openxmlformats.org/drawingml/2006/main">
            <a:r>
              <a:t>Sources: docs/fidelity-followup.md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Report the maximum absolute discrepancy across all five N thresholds, not just the tail. Do not substitute whole-ROI results because they look closer. The input campaign tests a hypothesis; it does not establish successful full reproduction.</a:t>
            </a:r>
          </a:p>
          <a:p xmlns:a="http://schemas.openxmlformats.org/drawingml/2006/main">
            <a:r>
              <a:t/>
            </a:r>
          </a:p>
          <a:p xmlns:a="http://schemas.openxmlformats.org/drawingml/2006/main">
            <a:r>
              <a:t>Sources: results/fidelity-2026-10-27/scores.csv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Touching a line sets one bit regardless of repeated hits. With cold initial caches, the first demand touch causes a fill, so whole-ROI line coverage can agree. This does not mean caches are ineffective. Baseline BFS has about 168.8M accesses and 7.9M fills.</a:t>
            </a:r>
          </a:p>
          <a:p xmlns:a="http://schemas.openxmlformats.org/drawingml/2006/main">
            <a:r>
              <a:t/>
            </a:r>
          </a:p>
          <a:p xmlns:a="http://schemas.openxmlformats.org/drawingml/2006/main">
            <a:r>
              <a:t>Sources: docs/methodology.md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Do not choose a separate protocol for each workload after inspecting M5. Stage 2 declares full-process collection, real inputs with twenty threads, nine LLC ways and RSS-selected TC. Select the footprint before looking at Pin CDFs. Closest cases are explicitly exploratory.</a:t>
            </a:r>
          </a:p>
          <a:p xmlns:a="http://schemas.openxmlformats.org/drawingml/2006/main">
            <a:r>
              <a:t/>
            </a:r>
          </a:p>
          <a:p xmlns:a="http://schemas.openxmlformats.org/drawingml/2006/main">
            <a:r>
              <a:t>Sources: docs/pin-stage2-protocol.md</a:t>
            </a:r>
          </a:p>
          <a:p xmlns:a="http://schemas.openxmlformats.org/drawingml/2006/main">
            <a:r>
              <a:t/>
            </a:r>
          </a:p>
          <a:p xmlns:a="http://schemas.openxmlformats.org/drawingml/2006/main">
            <a:r>
              <a:t>TC native RSS: 8.89 GB; target 5.0 GB. Within tolerance: false. Selection used RSS only. This is not a size-matched reproduction. The completed one-thread control has pooled miss error 53.87 pp, worse than 34.87 pp for the smaller input. The twenty-thread control is a separate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seconds. The probe measures physical accepted requests at the CXL bridge. Bridge and controller clocks are independent; never add their observations together. The overview compares different setups, not identical traces. All six graph workloads completed and passed checks. TC: 621,867,320 requests in 63 windows, 31.07 hours, maximum discrepancy 37.78 percentage points. PR is numerically close, but full reproduction is not established. Liblinear and BC window controls remain in the simulator queue.</a:t>
            </a:r>
          </a:p>
          <a:p xmlns:a="http://schemas.openxmlformats.org/drawingml/2006/main">
            <a:r>
              <a:t/>
            </a:r>
          </a:p>
          <a:p xmlns:a="http://schemas.openxmlformats.org/drawingml/2006/main">
            <a:r>
              <a:t>Sources: docs/simulator-figure4.md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Exact page/word counts provide ground truth. HPT/HWT are bounded trackers using Space-Saving and Count-Min plus top-K. Corrected runs completed. This is not the complete M5 hardware or tiering manager. Tracker N is a capacity budget, distinct from N in the CDF thresholds.</a:t>
            </a:r>
          </a:p>
          <a:p xmlns:a="http://schemas.openxmlformats.org/drawingml/2006/main">
            <a:r>
              <a:t/>
            </a:r>
          </a:p>
          <a:p xmlns:a="http://schemas.openxmlformats.org/drawingml/2006/main">
            <a:r>
              <a:t>Sources: docs/revalidation-2026-10-25.md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Validated extensions cover granularity, turnover and previous-window placement. A coarser tracking unit changes apparent density, not the physical cache-line size. Redis A/C, Memcached and Liblinear are included in the broader study. The serial latency cost model is not measured application speedup.</a:t>
            </a:r>
          </a:p>
          <a:p xmlns:a="http://schemas.openxmlformats.org/drawingml/2006/main">
            <a:r>
              <a:t/>
            </a:r>
          </a:p>
          <a:p xmlns:a="http://schemas.openxmlformats.org/drawingml/2006/main">
            <a:r>
              <a:t>Sources: docs/revalidation-2026-10-25.md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seconds. Correct implementation of our counters does not recover the exact reference procedure. We still need the reduced graphs, WAC collection schedule and page population. Controls continue, but the objective is to explain discrepancies without selecting attractive bars after the fact.</a:t>
            </a:r>
          </a:p>
          <a:p xmlns:a="http://schemas.openxmlformats.org/drawingml/2006/main">
            <a:r>
              <a:t/>
            </a:r>
          </a:p>
          <a:p xmlns:a="http://schemas.openxmlformats.org/drawingml/2006/main">
            <a:r>
              <a:t>Sources: docs/m5-parameter-evidence.md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5fbb79e24284fc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675bfb7b43f4fb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fc5624897e466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bc36c0eaac04f9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5bf0a92178d4a7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cf9fac85ecd4e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F503EE-622C-47CC-A4E5-4B5A15791ED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53D30DD-9CA4-45F6-A911-AFF1505991D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1227589-B30F-4B92-BDB2-96D80BB6DC2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9753076-6435-422A-BC14-D270105657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7BCB282-5C01-4F78-88A1-AA7460FEE67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0036653-8E53-428A-846D-2A79B6CB63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22963C9-501C-4631-96A8-960CBA3AA3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48436D4-A5AE-4CC6-BDF5-FD602B5DB40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96C9775-7BBF-4D10-8954-A9779F129F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A22343-463D-4AFE-87C3-6837B6BC94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e125ad997474e9b" /><Relationship Type="http://schemas.openxmlformats.org/officeDocument/2006/relationships/slideLayout" Target="/ppt/slideLayouts/slideLayout1.xml" Id="R3414ff5dddaa43d0" /><Relationship Type="http://schemas.openxmlformats.org/officeDocument/2006/relationships/slideLayout" Target="/ppt/slideLayouts/slideLayout2.xml" Id="Re327ab7b00884887" /><Relationship Type="http://schemas.openxmlformats.org/officeDocument/2006/relationships/slideLayout" Target="/ppt/slideLayouts/slideLayout3.xml" Id="R5dda2c2a0c5b4bc1" /><Relationship Type="http://schemas.openxmlformats.org/officeDocument/2006/relationships/slideLayout" Target="/ppt/slideLayouts/slideLayout4.xml" Id="R4e614fb50fb54c06" /><Relationship Type="http://schemas.openxmlformats.org/officeDocument/2006/relationships/slideLayout" Target="/ppt/slideLayouts/slideLayout5.xml" Id="Rb16a91aa251f4b29" /><Relationship Type="http://schemas.openxmlformats.org/officeDocument/2006/relationships/slideLayout" Target="/ppt/slideLayouts/slideLayout6.xml" Id="Ra4b03e0650204a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14ff5dddaa43d0"/>
    <p:sldLayoutId xmlns:r="http://schemas.openxmlformats.org/officeDocument/2006/relationships" id="2147483650" r:id="Re327ab7b00884887"/>
    <p:sldLayoutId xmlns:r="http://schemas.openxmlformats.org/officeDocument/2006/relationships" id="2147483651" r:id="R5dda2c2a0c5b4bc1"/>
    <p:sldLayoutId xmlns:r="http://schemas.openxmlformats.org/officeDocument/2006/relationships" id="2147483652" r:id="R4e614fb50fb54c06"/>
    <p:sldLayoutId xmlns:r="http://schemas.openxmlformats.org/officeDocument/2006/relationships" id="2147483653" r:id="Rb16a91aa251f4b29"/>
    <p:sldLayoutId xmlns:r="http://schemas.openxmlformats.org/officeDocument/2006/relationships" id="2147483654" r:id="Ra4b03e0650204a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a:ea typeface=""/>
        <a:cs typeface=""/>
      </a:majorFont>
      <a:minorFont>
        <a:latin typeface="Noto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fbc7d2ebbf54b9a" /><Relationship Type="http://schemas.openxmlformats.org/officeDocument/2006/relationships/notesSlide" Target="/ppt/notesSlides/notesSlide1.xml" Id="Rde1c30eb38434ef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6f70374699242e8" /><Relationship Type="http://schemas.openxmlformats.org/officeDocument/2006/relationships/notesSlide" Target="/ppt/notesSlides/notesSlide2.xml" Id="Rc4138bed922e4f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75dc8c9074c4414" /><Relationship Type="http://schemas.openxmlformats.org/officeDocument/2006/relationships/notesSlide" Target="/ppt/notesSlides/notesSlide3.xml" Id="Re0aaf84d0f7f40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f597dd4b0bf4db5" /><Relationship Type="http://schemas.openxmlformats.org/officeDocument/2006/relationships/notesSlide" Target="/ppt/notesSlides/notesSlide4.xml" Id="R51abb345252c4d3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14b07a5a4ce4df8" /><Relationship Type="http://schemas.openxmlformats.org/officeDocument/2006/relationships/notesSlide" Target="/ppt/notesSlides/notesSlide5.xml" Id="Ra18647637a7f4e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b767a06fe874681" /><Relationship Type="http://schemas.openxmlformats.org/officeDocument/2006/relationships/notesSlide" Target="/ppt/notesSlides/notesSlide6.xml" Id="R0ed5c72e6a4043f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86d072b5a944cf5" /><Relationship Type="http://schemas.openxmlformats.org/officeDocument/2006/relationships/image" Target="/ppt/media/image.png" Id="Rbb4e8be59d704d4a" /><Relationship Type="http://schemas.openxmlformats.org/officeDocument/2006/relationships/notesSlide" Target="/ppt/notesSlides/notesSlide7.xml" Id="R43d7e0823b9544f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34eb0eca5284df8" /><Relationship Type="http://schemas.openxmlformats.org/officeDocument/2006/relationships/image" Target="/ppt/media/image2.png" Id="Rbfb590dbc9ec4166" /><Relationship Type="http://schemas.openxmlformats.org/officeDocument/2006/relationships/notesSlide" Target="/ppt/notesSlides/notesSlide8.xml" Id="R0d05e627b0de476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471e6c9b6c04f3f" /><Relationship Type="http://schemas.openxmlformats.org/officeDocument/2006/relationships/notesSlide" Target="/ppt/notesSlides/notesSlide9.xml" Id="Ra82b174f7eef447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ade5931fd3a4ffb" /><Relationship Type="http://schemas.openxmlformats.org/officeDocument/2006/relationships/notesSlide" Target="/ppt/notesSlides/notesSlide10.xml" Id="Re55647ef3c6a43c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d1283a9c78d1445c" /><Relationship Type="http://schemas.openxmlformats.org/officeDocument/2006/relationships/image" Target="/ppt/media/image3.png" Id="R4fed282c456c4597" /><Relationship Type="http://schemas.openxmlformats.org/officeDocument/2006/relationships/notesSlide" Target="/ppt/notesSlides/notesSlide11.xml" Id="Re5d843769daa45d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5003fff6dce48c3" /><Relationship Type="http://schemas.openxmlformats.org/officeDocument/2006/relationships/image" Target="/ppt/media/image4.png" Id="R3cd8574766a34868" /><Relationship Type="http://schemas.openxmlformats.org/officeDocument/2006/relationships/notesSlide" Target="/ppt/notesSlides/notesSlide12.xml" Id="R540ca55815b349f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2818f8dc7f64f6c" /><Relationship Type="http://schemas.openxmlformats.org/officeDocument/2006/relationships/image" Target="/ppt/media/image5.png" Id="R4f76e8e4cd6d4d71" /><Relationship Type="http://schemas.openxmlformats.org/officeDocument/2006/relationships/notesSlide" Target="/ppt/notesSlides/notesSlide13.xml" Id="Rd0ff93c76aed456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3e0d1c515534cd1" /><Relationship Type="http://schemas.openxmlformats.org/officeDocument/2006/relationships/image" Target="/ppt/media/image6.png" Id="R927e887991f942e0" /><Relationship Type="http://schemas.openxmlformats.org/officeDocument/2006/relationships/notesSlide" Target="/ppt/notesSlides/notesSlide14.xml" Id="Rb17efd3fc6c7433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c1e5a9a7d324b4b" /><Relationship Type="http://schemas.openxmlformats.org/officeDocument/2006/relationships/notesSlide" Target="/ppt/notesSlides/notesSlide15.xml" Id="R5ecbd82a201d4791" /></Relationships>
</file>

<file path=ppt/slides/slide1.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AE78B5F-7860-466E-8C49-562073E39B16}"/>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287828CE-44E1-4C53-B262-4EC9A4ADC6A5}"/>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How hot is a hot page?</a:t>
            </a:r>
          </a:p>
        </p:txBody>
      </p:sp>
      <p:sp>
        <p:nvSpPr>
          <p:cNvPr id="3" name="">
            <a:extLst xmlns:a="http://schemas.openxmlformats.org/drawingml/2006/main">
              <a:ext uri="{FF2B5EF4-FFF2-40B4-BE49-F238E27FC236}">
                <a16:creationId xmlns:a16="http://schemas.microsoft.com/office/drawing/2014/main" id="{D9B84FDB-C177-441E-8E31-F1B065CE9CFB}"/>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174286D3-D634-4D6B-A3C5-7A2A69E1344D}"/>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Iason Zakynthinos / Advanced Computer Architecture                                      01 / 15</a:t>
            </a:r>
          </a:p>
        </p:txBody>
      </p:sp>
      <p:sp>
        <p:nvSpPr>
          <p:cNvPr id="5" name="">
            <a:extLst xmlns:a="http://schemas.openxmlformats.org/drawingml/2006/main">
              <a:ext uri="{FF2B5EF4-FFF2-40B4-BE49-F238E27FC236}">
                <a16:creationId xmlns:a16="http://schemas.microsoft.com/office/drawing/2014/main" id="{62CE9E23-5115-47CF-ABD3-8F1951F66F9D}"/>
              </a:ext>
            </a:extLst>
          </p:cNvPr>
          <p:cNvSpPr>
            <a:spLocks xmlns:a="http://schemas.openxmlformats.org/drawingml/2006/main" noGrp="1"/>
          </p:cNvSpPr>
          <p:nvPr/>
        </p:nvSpPr>
        <p:spPr>
          <a:xfrm xmlns:a="http://schemas.openxmlformats.org/drawingml/2006/main">
            <a:off x="571500" y="1952625"/>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850" b="1">
                <a:solidFill>
                  <a:srgbClr val="111111"/>
                </a:solidFill>
                <a:latin typeface="Noto Sans"/>
                <a:ea typeface="Noto Sans"/>
                <a:cs typeface="Noto Sans"/>
              </a:defRPr>
            </a:defPPr>
            <a:lvl1pPr>
              <a:defRPr sz="5850" b="1">
                <a:solidFill>
                  <a:srgbClr val="111111"/>
                </a:solidFill>
                <a:latin typeface="Noto Sans"/>
                <a:ea typeface="Noto Sans"/>
                <a:cs typeface="Noto Sans"/>
              </a:defRPr>
            </a:lvl1pPr>
            <a:lvl2pPr>
              <a:defRPr sz="5850" b="1">
                <a:solidFill>
                  <a:srgbClr val="111111"/>
                </a:solidFill>
                <a:latin typeface="Noto Sans"/>
                <a:ea typeface="Noto Sans"/>
                <a:cs typeface="Noto Sans"/>
              </a:defRPr>
            </a:lvl2pPr>
            <a:lvl3pPr>
              <a:defRPr sz="5850" b="1">
                <a:solidFill>
                  <a:srgbClr val="111111"/>
                </a:solidFill>
                <a:latin typeface="Noto Sans"/>
                <a:ea typeface="Noto Sans"/>
                <a:cs typeface="Noto Sans"/>
              </a:defRPr>
            </a:lvl3pPr>
            <a:lvl4pPr>
              <a:defRPr sz="5850" b="1">
                <a:solidFill>
                  <a:srgbClr val="111111"/>
                </a:solidFill>
                <a:latin typeface="Noto Sans"/>
                <a:ea typeface="Noto Sans"/>
                <a:cs typeface="Noto Sans"/>
              </a:defRPr>
            </a:lvl4pPr>
            <a:lvl5pPr>
              <a:defRPr sz="5850" b="1">
                <a:solidFill>
                  <a:srgbClr val="111111"/>
                </a:solidFill>
                <a:latin typeface="Noto Sans"/>
                <a:ea typeface="Noto Sans"/>
                <a:cs typeface="Noto Sans"/>
              </a:defRPr>
            </a:lvl5pPr>
            <a:lvl6pPr>
              <a:defRPr sz="5850" b="1">
                <a:solidFill>
                  <a:srgbClr val="111111"/>
                </a:solidFill>
                <a:latin typeface="Noto Sans"/>
                <a:ea typeface="Noto Sans"/>
                <a:cs typeface="Noto Sans"/>
              </a:defRPr>
            </a:lvl6pPr>
            <a:lvl7pPr>
              <a:defRPr sz="5850" b="1">
                <a:solidFill>
                  <a:srgbClr val="111111"/>
                </a:solidFill>
                <a:latin typeface="Noto Sans"/>
                <a:ea typeface="Noto Sans"/>
                <a:cs typeface="Noto Sans"/>
              </a:defRPr>
            </a:lvl7pPr>
            <a:lvl8pPr>
              <a:defRPr sz="5850" b="1">
                <a:solidFill>
                  <a:srgbClr val="111111"/>
                </a:solidFill>
                <a:latin typeface="Noto Sans"/>
                <a:ea typeface="Noto Sans"/>
                <a:cs typeface="Noto Sans"/>
              </a:defRPr>
            </a:lvl8pPr>
            <a:lvl9pPr>
              <a:defRPr sz="5850" b="1">
                <a:solidFill>
                  <a:srgbClr val="111111"/>
                </a:solidFill>
                <a:latin typeface="Noto Sans"/>
                <a:ea typeface="Noto Sans"/>
                <a:cs typeface="Noto Sans"/>
              </a:defRPr>
            </a:lvl9pPr>
          </a:lstStyle>
          <a:p xmlns:a="http://schemas.openxmlformats.org/drawingml/2006/main">
            <a:pPr>
              <a:defRPr sz="5850" b="1">
                <a:solidFill>
                  <a:srgbClr val="111111"/>
                </a:solidFill>
                <a:latin typeface="Noto Sans"/>
                <a:ea typeface="Noto Sans"/>
                <a:cs typeface="Noto Sans"/>
              </a:defRPr>
            </a:pPr>
            <a:r>
              <a:rPr sz="5850" b="1">
                <a:solidFill>
                  <a:srgbClr val="111111"/>
                </a:solidFill>
                <a:latin typeface="Noto Sans"/>
                <a:ea typeface="Noto Sans"/>
                <a:cs typeface="Noto Sans"/>
              </a:rPr>
              <a:t>M5 Figure 4</a:t>
            </a:r>
          </a:p>
        </p:txBody>
      </p:sp>
      <p:sp>
        <p:nvSpPr>
          <p:cNvPr id="6" name="">
            <a:extLst xmlns:a="http://schemas.openxmlformats.org/drawingml/2006/main">
              <a:ext uri="{FF2B5EF4-FFF2-40B4-BE49-F238E27FC236}">
                <a16:creationId xmlns:a16="http://schemas.microsoft.com/office/drawing/2014/main" id="{BE83162D-86E5-454E-836B-136129882FF2}"/>
              </a:ext>
            </a:extLst>
          </p:cNvPr>
          <p:cNvSpPr>
            <a:spLocks xmlns:a="http://schemas.openxmlformats.org/drawingml/2006/main" noGrp="1"/>
          </p:cNvSpPr>
          <p:nvPr/>
        </p:nvSpPr>
        <p:spPr>
          <a:xfrm xmlns:a="http://schemas.openxmlformats.org/drawingml/2006/main">
            <a:off x="571500" y="3381375"/>
            <a:ext cx="10858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11111"/>
                </a:solidFill>
                <a:latin typeface="Noto Sans"/>
                <a:ea typeface="Noto Sans"/>
                <a:cs typeface="Noto Sans"/>
              </a:defRPr>
            </a:defPPr>
            <a:lvl1pPr>
              <a:defRPr sz="2250" b="0">
                <a:solidFill>
                  <a:srgbClr val="111111"/>
                </a:solidFill>
                <a:latin typeface="Noto Sans"/>
                <a:ea typeface="Noto Sans"/>
                <a:cs typeface="Noto Sans"/>
              </a:defRPr>
            </a:lvl1pPr>
            <a:lvl2pPr>
              <a:defRPr sz="2250" b="0">
                <a:solidFill>
                  <a:srgbClr val="111111"/>
                </a:solidFill>
                <a:latin typeface="Noto Sans"/>
                <a:ea typeface="Noto Sans"/>
                <a:cs typeface="Noto Sans"/>
              </a:defRPr>
            </a:lvl2pPr>
            <a:lvl3pPr>
              <a:defRPr sz="2250" b="0">
                <a:solidFill>
                  <a:srgbClr val="111111"/>
                </a:solidFill>
                <a:latin typeface="Noto Sans"/>
                <a:ea typeface="Noto Sans"/>
                <a:cs typeface="Noto Sans"/>
              </a:defRPr>
            </a:lvl3pPr>
            <a:lvl4pPr>
              <a:defRPr sz="2250" b="0">
                <a:solidFill>
                  <a:srgbClr val="111111"/>
                </a:solidFill>
                <a:latin typeface="Noto Sans"/>
                <a:ea typeface="Noto Sans"/>
                <a:cs typeface="Noto Sans"/>
              </a:defRPr>
            </a:lvl4pPr>
            <a:lvl5pPr>
              <a:defRPr sz="2250" b="0">
                <a:solidFill>
                  <a:srgbClr val="111111"/>
                </a:solidFill>
                <a:latin typeface="Noto Sans"/>
                <a:ea typeface="Noto Sans"/>
                <a:cs typeface="Noto Sans"/>
              </a:defRPr>
            </a:lvl5pPr>
            <a:lvl6pPr>
              <a:defRPr sz="2250" b="0">
                <a:solidFill>
                  <a:srgbClr val="111111"/>
                </a:solidFill>
                <a:latin typeface="Noto Sans"/>
                <a:ea typeface="Noto Sans"/>
                <a:cs typeface="Noto Sans"/>
              </a:defRPr>
            </a:lvl6pPr>
            <a:lvl7pPr>
              <a:defRPr sz="2250" b="0">
                <a:solidFill>
                  <a:srgbClr val="111111"/>
                </a:solidFill>
                <a:latin typeface="Noto Sans"/>
                <a:ea typeface="Noto Sans"/>
                <a:cs typeface="Noto Sans"/>
              </a:defRPr>
            </a:lvl7pPr>
            <a:lvl8pPr>
              <a:defRPr sz="2250" b="0">
                <a:solidFill>
                  <a:srgbClr val="111111"/>
                </a:solidFill>
                <a:latin typeface="Noto Sans"/>
                <a:ea typeface="Noto Sans"/>
                <a:cs typeface="Noto Sans"/>
              </a:defRPr>
            </a:lvl8pPr>
            <a:lvl9pPr>
              <a:defRPr sz="2250" b="0">
                <a:solidFill>
                  <a:srgbClr val="111111"/>
                </a:solidFill>
                <a:latin typeface="Noto Sans"/>
                <a:ea typeface="Noto Sans"/>
                <a:cs typeface="Noto Sans"/>
              </a:defRPr>
            </a:lvl9pPr>
          </a:lstStyle>
          <a:p xmlns:a="http://schemas.openxmlformats.org/drawingml/2006/main">
            <a:pPr>
              <a:defRPr sz="2250" b="0">
                <a:solidFill>
                  <a:srgbClr val="111111"/>
                </a:solidFill>
                <a:latin typeface="Noto Sans"/>
                <a:ea typeface="Noto Sans"/>
                <a:cs typeface="Noto Sans"/>
              </a:defRPr>
            </a:pPr>
            <a:r>
              <a:rPr sz="2250" b="0">
                <a:solidFill>
                  <a:srgbClr val="111111"/>
                </a:solidFill>
                <a:latin typeface="Noto Sans"/>
                <a:ea typeface="Noto Sans"/>
                <a:cs typeface="Noto Sans"/>
              </a:rPr>
              <a:t>Custom pintool: accesses and modeled misses</a:t>
            </a:r>
          </a:p>
          <a:p xmlns:a="http://schemas.openxmlformats.org/drawingml/2006/main">
            <a:r>
              <a:t/>
            </a:r>
          </a:p>
          <a:p xmlns:a="http://schemas.openxmlformats.org/drawingml/2006/main">
            <a:pPr>
              <a:defRPr sz="2250" b="0">
                <a:solidFill>
                  <a:srgbClr val="111111"/>
                </a:solidFill>
                <a:latin typeface="Noto Sans"/>
                <a:ea typeface="Noto Sans"/>
                <a:cs typeface="Noto Sans"/>
              </a:defRPr>
            </a:pPr>
            <a:r>
              <a:rPr sz="2250" b="0">
                <a:solidFill>
                  <a:srgbClr val="111111"/>
                </a:solidFill>
                <a:latin typeface="Noto Sans"/>
                <a:ea typeface="Noto Sans"/>
                <a:cs typeface="Noto Sans"/>
              </a:rPr>
              <a:t>Iason Zakynthinos</a:t>
            </a:r>
          </a:p>
          <a:p xmlns:a="http://schemas.openxmlformats.org/drawingml/2006/main">
            <a:pPr>
              <a:defRPr sz="2250" b="0">
                <a:solidFill>
                  <a:srgbClr val="111111"/>
                </a:solidFill>
                <a:latin typeface="Noto Sans"/>
                <a:ea typeface="Noto Sans"/>
                <a:cs typeface="Noto Sans"/>
              </a:defRPr>
            </a:pPr>
            <a:r>
              <a:rPr sz="2250" b="0">
                <a:solidFill>
                  <a:srgbClr val="111111"/>
                </a:solidFill>
                <a:latin typeface="Noto Sans"/>
                <a:ea typeface="Noto Sans"/>
                <a:cs typeface="Noto Sans"/>
              </a:rPr>
              <a:t>Course research project / NTUA</a:t>
            </a:r>
          </a:p>
        </p:txBody>
      </p:sp>
    </p:spTree>
    <p:extLst>
      <p:ext uri="{BB962C8B-B14F-4D97-AF65-F5344CB8AC3E}">
        <p14:creationId xmlns:p14="http://schemas.microsoft.com/office/powerpoint/2010/main" val="524840597"/>
      </p:ext>
    </p:extLst>
  </p:cSld>
</p:sld>
</file>

<file path=ppt/slides/slide2.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4BDD555-5F32-4313-91FB-84F87091E581}"/>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DB240DFC-27B0-4A9A-B501-15823414D67B}"/>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The assignment</a:t>
            </a:r>
          </a:p>
        </p:txBody>
      </p:sp>
      <p:sp>
        <p:nvSpPr>
          <p:cNvPr id="3" name="">
            <a:extLst xmlns:a="http://schemas.openxmlformats.org/drawingml/2006/main">
              <a:ext uri="{FF2B5EF4-FFF2-40B4-BE49-F238E27FC236}">
                <a16:creationId xmlns:a16="http://schemas.microsoft.com/office/drawing/2014/main" id="{26C94290-4D01-4632-A61E-04DEA26B162A}"/>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F48E2DD1-CBE3-4C94-91D0-D66C5EC18EBB}"/>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Iason Zakynthinos / Advanced Computer Architecture                                      02 / 15</a:t>
            </a:r>
          </a:p>
        </p:txBody>
      </p:sp>
      <p:sp>
        <p:nvSpPr>
          <p:cNvPr id="5" name="">
            <a:extLst xmlns:a="http://schemas.openxmlformats.org/drawingml/2006/main">
              <a:ext uri="{FF2B5EF4-FFF2-40B4-BE49-F238E27FC236}">
                <a16:creationId xmlns:a16="http://schemas.microsoft.com/office/drawing/2014/main" id="{8B08946C-82A1-48FF-8712-9E9ABBB34AF8}"/>
              </a:ext>
            </a:extLst>
          </p:cNvPr>
          <p:cNvSpPr>
            <a:spLocks xmlns:a="http://schemas.openxmlformats.org/drawingml/2006/main" noGrp="1"/>
          </p:cNvSpPr>
          <p:nvPr/>
        </p:nvSpPr>
        <p:spPr>
          <a:xfrm xmlns:a="http://schemas.openxmlformats.org/drawingml/2006/main">
            <a:off x="571500" y="1809750"/>
            <a:ext cx="10858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11111"/>
                </a:solidFill>
                <a:latin typeface="Noto Sans"/>
                <a:ea typeface="Noto Sans"/>
                <a:cs typeface="Noto Sans"/>
              </a:defRPr>
            </a:defPPr>
            <a:lvl1pPr>
              <a:defRPr sz="2550" b="0">
                <a:solidFill>
                  <a:srgbClr val="111111"/>
                </a:solidFill>
                <a:latin typeface="Noto Sans"/>
                <a:ea typeface="Noto Sans"/>
                <a:cs typeface="Noto Sans"/>
              </a:defRPr>
            </a:lvl1pPr>
            <a:lvl2pPr>
              <a:defRPr sz="2550" b="0">
                <a:solidFill>
                  <a:srgbClr val="111111"/>
                </a:solidFill>
                <a:latin typeface="Noto Sans"/>
                <a:ea typeface="Noto Sans"/>
                <a:cs typeface="Noto Sans"/>
              </a:defRPr>
            </a:lvl2pPr>
            <a:lvl3pPr>
              <a:defRPr sz="2550" b="0">
                <a:solidFill>
                  <a:srgbClr val="111111"/>
                </a:solidFill>
                <a:latin typeface="Noto Sans"/>
                <a:ea typeface="Noto Sans"/>
                <a:cs typeface="Noto Sans"/>
              </a:defRPr>
            </a:lvl3pPr>
            <a:lvl4pPr>
              <a:defRPr sz="2550" b="0">
                <a:solidFill>
                  <a:srgbClr val="111111"/>
                </a:solidFill>
                <a:latin typeface="Noto Sans"/>
                <a:ea typeface="Noto Sans"/>
                <a:cs typeface="Noto Sans"/>
              </a:defRPr>
            </a:lvl4pPr>
            <a:lvl5pPr>
              <a:defRPr sz="2550" b="0">
                <a:solidFill>
                  <a:srgbClr val="111111"/>
                </a:solidFill>
                <a:latin typeface="Noto Sans"/>
                <a:ea typeface="Noto Sans"/>
                <a:cs typeface="Noto Sans"/>
              </a:defRPr>
            </a:lvl5pPr>
            <a:lvl6pPr>
              <a:defRPr sz="2550" b="0">
                <a:solidFill>
                  <a:srgbClr val="111111"/>
                </a:solidFill>
                <a:latin typeface="Noto Sans"/>
                <a:ea typeface="Noto Sans"/>
                <a:cs typeface="Noto Sans"/>
              </a:defRPr>
            </a:lvl6pPr>
            <a:lvl7pPr>
              <a:defRPr sz="2550" b="0">
                <a:solidFill>
                  <a:srgbClr val="111111"/>
                </a:solidFill>
                <a:latin typeface="Noto Sans"/>
                <a:ea typeface="Noto Sans"/>
                <a:cs typeface="Noto Sans"/>
              </a:defRPr>
            </a:lvl7pPr>
            <a:lvl8pPr>
              <a:defRPr sz="2550" b="0">
                <a:solidFill>
                  <a:srgbClr val="111111"/>
                </a:solidFill>
                <a:latin typeface="Noto Sans"/>
                <a:ea typeface="Noto Sans"/>
                <a:cs typeface="Noto Sans"/>
              </a:defRPr>
            </a:lvl8pPr>
            <a:lvl9pPr>
              <a:defRPr sz="2550" b="0">
                <a:solidFill>
                  <a:srgbClr val="111111"/>
                </a:solidFill>
                <a:latin typeface="Noto Sans"/>
                <a:ea typeface="Noto Sans"/>
                <a:cs typeface="Noto Sans"/>
              </a:defRPr>
            </a:lvl9pPr>
          </a:lstStyle>
          <a:p xmlns:a="http://schemas.openxmlformats.org/drawingml/2006/main">
            <a:pPr>
              <a:defRPr sz="2550" b="0">
                <a:solidFill>
                  <a:srgbClr val="111111"/>
                </a:solidFill>
                <a:latin typeface="Noto Sans"/>
                <a:ea typeface="Noto Sans"/>
                <a:cs typeface="Noto Sans"/>
              </a:defRPr>
            </a:pPr>
            <a:r>
              <a:rPr sz="2550" b="0">
                <a:solidFill>
                  <a:srgbClr val="111111"/>
                </a:solidFill>
                <a:latin typeface="Noto Sans"/>
                <a:ea typeface="Noto Sans"/>
                <a:cs typeface="Noto Sans"/>
              </a:rPr>
              <a:t>01    Record memory references with Intel Pin.</a:t>
            </a:r>
          </a:p>
          <a:p xmlns:a="http://schemas.openxmlformats.org/drawingml/2006/main">
            <a:r>
              <a:t/>
            </a:r>
          </a:p>
          <a:p xmlns:a="http://schemas.openxmlformats.org/drawingml/2006/main">
            <a:pPr>
              <a:defRPr sz="2550" b="0">
                <a:solidFill>
                  <a:srgbClr val="111111"/>
                </a:solidFill>
                <a:latin typeface="Noto Sans"/>
                <a:ea typeface="Noto Sans"/>
                <a:cs typeface="Noto Sans"/>
              </a:defRPr>
            </a:pPr>
            <a:r>
              <a:rPr sz="2550" b="0">
                <a:solidFill>
                  <a:srgbClr val="111111"/>
                </a:solidFill>
                <a:latin typeface="Noto Sans"/>
                <a:ea typeface="Noto Sans"/>
                <a:cs typeface="Noto Sans"/>
              </a:rPr>
              <a:t>02    Use benchmarks from the M5 artifact.</a:t>
            </a:r>
          </a:p>
          <a:p xmlns:a="http://schemas.openxmlformats.org/drawingml/2006/main">
            <a:r>
              <a:t/>
            </a:r>
          </a:p>
          <a:p xmlns:a="http://schemas.openxmlformats.org/drawingml/2006/main">
            <a:pPr>
              <a:defRPr sz="2550" b="0">
                <a:solidFill>
                  <a:srgbClr val="111111"/>
                </a:solidFill>
                <a:latin typeface="Noto Sans"/>
                <a:ea typeface="Noto Sans"/>
                <a:cs typeface="Noto Sans"/>
              </a:defRPr>
            </a:pPr>
            <a:r>
              <a:rPr sz="2550" b="0">
                <a:solidFill>
                  <a:srgbClr val="111111"/>
                </a:solidFill>
                <a:latin typeface="Noto Sans"/>
                <a:ea typeface="Noto Sans"/>
                <a:cs typeface="Noto Sans"/>
              </a:rPr>
              <a:t>03    Compare the figure for misses and accesses.</a:t>
            </a:r>
          </a:p>
        </p:txBody>
      </p:sp>
    </p:spTree>
    <p:extLst>
      <p:ext uri="{BB962C8B-B14F-4D97-AF65-F5344CB8AC3E}">
        <p14:creationId xmlns:p14="http://schemas.microsoft.com/office/powerpoint/2010/main" val="989159707"/>
      </p:ext>
    </p:extLst>
  </p:cSld>
</p:sld>
</file>

<file path=ppt/slides/slide3.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77264B2-42DB-4024-A0F5-9DD9884F9032}"/>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8EBF82AC-C334-4A59-9E9D-19FE4EB0C4CD}"/>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4 KiB = 64 lines x 64 B</a:t>
            </a:r>
          </a:p>
        </p:txBody>
      </p:sp>
      <p:sp>
        <p:nvSpPr>
          <p:cNvPr id="3" name="">
            <a:extLst xmlns:a="http://schemas.openxmlformats.org/drawingml/2006/main">
              <a:ext uri="{FF2B5EF4-FFF2-40B4-BE49-F238E27FC236}">
                <a16:creationId xmlns:a16="http://schemas.microsoft.com/office/drawing/2014/main" id="{449F6AC8-9895-4458-A939-DDF1753AD046}"/>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5C8CEE13-F7BA-4E0B-9FB2-93A1ADD61536}"/>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Iason Zakynthinos / Advanced Computer Architecture                                      03 / 15</a:t>
            </a:r>
          </a:p>
        </p:txBody>
      </p:sp>
      <p:sp>
        <p:nvSpPr>
          <p:cNvPr id="5" name="">
            <a:extLst xmlns:a="http://schemas.openxmlformats.org/drawingml/2006/main">
              <a:ext uri="{FF2B5EF4-FFF2-40B4-BE49-F238E27FC236}">
                <a16:creationId xmlns:a16="http://schemas.microsoft.com/office/drawing/2014/main" id="{7C3DAC77-5A4D-4443-8E83-65D68DCCF540}"/>
              </a:ext>
            </a:extLst>
          </p:cNvPr>
          <p:cNvSpPr>
            <a:spLocks xmlns:a="http://schemas.openxmlformats.org/drawingml/2006/main" noGrp="1"/>
          </p:cNvSpPr>
          <p:nvPr/>
        </p:nvSpPr>
        <p:spPr>
          <a:xfrm xmlns:a="http://schemas.openxmlformats.org/drawingml/2006/main">
            <a:off x="571500" y="1666875"/>
            <a:ext cx="10858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11111"/>
                </a:solidFill>
                <a:latin typeface="Noto Sans"/>
                <a:ea typeface="Noto Sans"/>
                <a:cs typeface="Noto Sans"/>
              </a:defRPr>
            </a:defPPr>
            <a:lvl1pPr>
              <a:defRPr sz="2175" b="0">
                <a:solidFill>
                  <a:srgbClr val="111111"/>
                </a:solidFill>
                <a:latin typeface="Noto Sans"/>
                <a:ea typeface="Noto Sans"/>
                <a:cs typeface="Noto Sans"/>
              </a:defRPr>
            </a:lvl1pPr>
            <a:lvl2pPr>
              <a:defRPr sz="2175" b="0">
                <a:solidFill>
                  <a:srgbClr val="111111"/>
                </a:solidFill>
                <a:latin typeface="Noto Sans"/>
                <a:ea typeface="Noto Sans"/>
                <a:cs typeface="Noto Sans"/>
              </a:defRPr>
            </a:lvl2pPr>
            <a:lvl3pPr>
              <a:defRPr sz="2175" b="0">
                <a:solidFill>
                  <a:srgbClr val="111111"/>
                </a:solidFill>
                <a:latin typeface="Noto Sans"/>
                <a:ea typeface="Noto Sans"/>
                <a:cs typeface="Noto Sans"/>
              </a:defRPr>
            </a:lvl3pPr>
            <a:lvl4pPr>
              <a:defRPr sz="2175" b="0">
                <a:solidFill>
                  <a:srgbClr val="111111"/>
                </a:solidFill>
                <a:latin typeface="Noto Sans"/>
                <a:ea typeface="Noto Sans"/>
                <a:cs typeface="Noto Sans"/>
              </a:defRPr>
            </a:lvl4pPr>
            <a:lvl5pPr>
              <a:defRPr sz="2175" b="0">
                <a:solidFill>
                  <a:srgbClr val="111111"/>
                </a:solidFill>
                <a:latin typeface="Noto Sans"/>
                <a:ea typeface="Noto Sans"/>
                <a:cs typeface="Noto Sans"/>
              </a:defRPr>
            </a:lvl5pPr>
            <a:lvl6pPr>
              <a:defRPr sz="2175" b="0">
                <a:solidFill>
                  <a:srgbClr val="111111"/>
                </a:solidFill>
                <a:latin typeface="Noto Sans"/>
                <a:ea typeface="Noto Sans"/>
                <a:cs typeface="Noto Sans"/>
              </a:defRPr>
            </a:lvl6pPr>
            <a:lvl7pPr>
              <a:defRPr sz="2175" b="0">
                <a:solidFill>
                  <a:srgbClr val="111111"/>
                </a:solidFill>
                <a:latin typeface="Noto Sans"/>
                <a:ea typeface="Noto Sans"/>
                <a:cs typeface="Noto Sans"/>
              </a:defRPr>
            </a:lvl7pPr>
            <a:lvl8pPr>
              <a:defRPr sz="2175" b="0">
                <a:solidFill>
                  <a:srgbClr val="111111"/>
                </a:solidFill>
                <a:latin typeface="Noto Sans"/>
                <a:ea typeface="Noto Sans"/>
                <a:cs typeface="Noto Sans"/>
              </a:defRPr>
            </a:lvl8pPr>
            <a:lvl9pPr>
              <a:defRPr sz="2175" b="0">
                <a:solidFill>
                  <a:srgbClr val="111111"/>
                </a:solidFill>
                <a:latin typeface="Noto Sans"/>
                <a:ea typeface="Noto Sans"/>
                <a:cs typeface="Noto Sans"/>
              </a:defRPr>
            </a:lvl9pPr>
          </a:lstStyle>
          <a:p xmlns:a="http://schemas.openxmlformats.org/drawingml/2006/main">
            <a:pPr>
              <a:defRPr sz="2175" b="0">
                <a:solidFill>
                  <a:srgbClr val="111111"/>
                </a:solidFill>
                <a:latin typeface="Noto Sans"/>
                <a:ea typeface="Noto Sans"/>
                <a:cs typeface="Noto Sans"/>
              </a:defRPr>
            </a:pPr>
            <a:r>
              <a:rPr sz="2175" b="0">
                <a:solidFill>
                  <a:srgbClr val="111111"/>
                </a:solidFill>
                <a:latin typeface="Noto Sans"/>
                <a:ea typeface="Noto Sans"/>
                <a:cs typeface="Noto Sans"/>
              </a:rPr>
              <a:t>U(p,e): distinct lines in page p during window e.</a:t>
            </a:r>
          </a:p>
          <a:p xmlns:a="http://schemas.openxmlformats.org/drawingml/2006/main">
            <a:r>
              <a:t/>
            </a:r>
          </a:p>
          <a:p xmlns:a="http://schemas.openxmlformats.org/drawingml/2006/main">
            <a:pPr>
              <a:defRPr sz="2175" b="0">
                <a:solidFill>
                  <a:srgbClr val="111111"/>
                </a:solidFill>
                <a:latin typeface="Noto Sans"/>
                <a:ea typeface="Noto Sans"/>
                <a:cs typeface="Noto Sans"/>
              </a:defRPr>
            </a:pPr>
            <a:r>
              <a:rPr sz="2175" b="0">
                <a:solidFill>
                  <a:srgbClr val="111111"/>
                </a:solidFill>
                <a:latin typeface="Noto Sans"/>
                <a:ea typeface="Noto Sans"/>
                <a:cs typeface="Noto Sans"/>
              </a:rPr>
              <a:t>F(N): fraction of observations with 1 &lt;= U &lt;= N.</a:t>
            </a:r>
          </a:p>
          <a:p xmlns:a="http://schemas.openxmlformats.org/drawingml/2006/main">
            <a:r>
              <a:t/>
            </a:r>
          </a:p>
          <a:p xmlns:a="http://schemas.openxmlformats.org/drawingml/2006/main">
            <a:pPr>
              <a:defRPr sz="2175" b="0">
                <a:solidFill>
                  <a:srgbClr val="111111"/>
                </a:solidFill>
                <a:latin typeface="Noto Sans"/>
                <a:ea typeface="Noto Sans"/>
                <a:cs typeface="Noto Sans"/>
              </a:defRPr>
            </a:pPr>
            <a:r>
              <a:rPr sz="2175" b="0">
                <a:solidFill>
                  <a:srgbClr val="111111"/>
                </a:solidFill>
                <a:latin typeface="Noto Sans"/>
                <a:ea typeface="Noto Sans"/>
                <a:cs typeface="Noto Sans"/>
              </a:rPr>
              <a:t>N = 4, 8, 16, 32, 48.</a:t>
            </a:r>
          </a:p>
          <a:p xmlns:a="http://schemas.openxmlformats.org/drawingml/2006/main">
            <a:r>
              <a:t/>
            </a:r>
          </a:p>
          <a:p xmlns:a="http://schemas.openxmlformats.org/drawingml/2006/main">
            <a:pPr>
              <a:defRPr sz="2175" b="0">
                <a:solidFill>
                  <a:srgbClr val="111111"/>
                </a:solidFill>
                <a:latin typeface="Noto Sans"/>
                <a:ea typeface="Noto Sans"/>
                <a:cs typeface="Noto Sans"/>
              </a:defRPr>
            </a:pPr>
            <a:r>
              <a:rPr sz="2175" b="0">
                <a:solidFill>
                  <a:srgbClr val="111111"/>
                </a:solidFill>
                <a:latin typeface="Noto Sans"/>
                <a:ea typeface="Noto Sans"/>
                <a:cs typeface="Noto Sans"/>
              </a:rPr>
              <a:t>F(8)=0.40: 40% touched at most 8 lines, not 40% of accesses.</a:t>
            </a:r>
          </a:p>
        </p:txBody>
      </p:sp>
    </p:spTree>
    <p:extLst>
      <p:ext uri="{BB962C8B-B14F-4D97-AF65-F5344CB8AC3E}">
        <p14:creationId xmlns:p14="http://schemas.microsoft.com/office/powerpoint/2010/main" val="1303298511"/>
      </p:ext>
    </p:extLst>
  </p:cSld>
</p:sld>
</file>

<file path=ppt/slides/slide4.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D88241D-8FD8-474A-9348-80E8E46F528F}"/>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F6B7CF93-CF5B-4B0A-AFB2-FB31F83C80A4}"/>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A custom pintool for the measurement</a:t>
            </a:r>
          </a:p>
        </p:txBody>
      </p:sp>
      <p:sp>
        <p:nvSpPr>
          <p:cNvPr id="3" name="">
            <a:extLst xmlns:a="http://schemas.openxmlformats.org/drawingml/2006/main">
              <a:ext uri="{FF2B5EF4-FFF2-40B4-BE49-F238E27FC236}">
                <a16:creationId xmlns:a16="http://schemas.microsoft.com/office/drawing/2014/main" id="{C850E82C-FCAF-408C-880C-B59619D4D8CB}"/>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01EF3A68-FA7A-4043-AD73-B3848222D524}"/>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Iason Zakynthinos / Advanced Computer Architecture                                      04 / 15</a:t>
            </a:r>
          </a:p>
        </p:txBody>
      </p:sp>
      <p:sp>
        <p:nvSpPr>
          <p:cNvPr id="5" name="">
            <a:extLst xmlns:a="http://schemas.openxmlformats.org/drawingml/2006/main">
              <a:ext uri="{FF2B5EF4-FFF2-40B4-BE49-F238E27FC236}">
                <a16:creationId xmlns:a16="http://schemas.microsoft.com/office/drawing/2014/main" id="{57458A27-AEEF-4327-B521-E7A8205CB486}"/>
              </a:ext>
            </a:extLst>
          </p:cNvPr>
          <p:cNvSpPr>
            <a:spLocks xmlns:a="http://schemas.openxmlformats.org/drawingml/2006/main" noGrp="1"/>
          </p:cNvSpPr>
          <p:nvPr/>
        </p:nvSpPr>
        <p:spPr>
          <a:xfrm xmlns:a="http://schemas.openxmlformats.org/drawingml/2006/main">
            <a:off x="571500" y="1762125"/>
            <a:ext cx="10858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11111"/>
                </a:solidFill>
                <a:latin typeface="Noto Sans"/>
                <a:ea typeface="Noto Sans"/>
                <a:cs typeface="Noto Sans"/>
              </a:defRPr>
            </a:defPPr>
            <a:lvl1pPr>
              <a:defRPr sz="2175" b="0">
                <a:solidFill>
                  <a:srgbClr val="111111"/>
                </a:solidFill>
                <a:latin typeface="Noto Sans"/>
                <a:ea typeface="Noto Sans"/>
                <a:cs typeface="Noto Sans"/>
              </a:defRPr>
            </a:lvl1pPr>
            <a:lvl2pPr>
              <a:defRPr sz="2175" b="0">
                <a:solidFill>
                  <a:srgbClr val="111111"/>
                </a:solidFill>
                <a:latin typeface="Noto Sans"/>
                <a:ea typeface="Noto Sans"/>
                <a:cs typeface="Noto Sans"/>
              </a:defRPr>
            </a:lvl2pPr>
            <a:lvl3pPr>
              <a:defRPr sz="2175" b="0">
                <a:solidFill>
                  <a:srgbClr val="111111"/>
                </a:solidFill>
                <a:latin typeface="Noto Sans"/>
                <a:ea typeface="Noto Sans"/>
                <a:cs typeface="Noto Sans"/>
              </a:defRPr>
            </a:lvl3pPr>
            <a:lvl4pPr>
              <a:defRPr sz="2175" b="0">
                <a:solidFill>
                  <a:srgbClr val="111111"/>
                </a:solidFill>
                <a:latin typeface="Noto Sans"/>
                <a:ea typeface="Noto Sans"/>
                <a:cs typeface="Noto Sans"/>
              </a:defRPr>
            </a:lvl4pPr>
            <a:lvl5pPr>
              <a:defRPr sz="2175" b="0">
                <a:solidFill>
                  <a:srgbClr val="111111"/>
                </a:solidFill>
                <a:latin typeface="Noto Sans"/>
                <a:ea typeface="Noto Sans"/>
                <a:cs typeface="Noto Sans"/>
              </a:defRPr>
            </a:lvl5pPr>
            <a:lvl6pPr>
              <a:defRPr sz="2175" b="0">
                <a:solidFill>
                  <a:srgbClr val="111111"/>
                </a:solidFill>
                <a:latin typeface="Noto Sans"/>
                <a:ea typeface="Noto Sans"/>
                <a:cs typeface="Noto Sans"/>
              </a:defRPr>
            </a:lvl6pPr>
            <a:lvl7pPr>
              <a:defRPr sz="2175" b="0">
                <a:solidFill>
                  <a:srgbClr val="111111"/>
                </a:solidFill>
                <a:latin typeface="Noto Sans"/>
                <a:ea typeface="Noto Sans"/>
                <a:cs typeface="Noto Sans"/>
              </a:defRPr>
            </a:lvl7pPr>
            <a:lvl8pPr>
              <a:defRPr sz="2175" b="0">
                <a:solidFill>
                  <a:srgbClr val="111111"/>
                </a:solidFill>
                <a:latin typeface="Noto Sans"/>
                <a:ea typeface="Noto Sans"/>
                <a:cs typeface="Noto Sans"/>
              </a:defRPr>
            </a:lvl8pPr>
            <a:lvl9pPr>
              <a:defRPr sz="2175" b="0">
                <a:solidFill>
                  <a:srgbClr val="111111"/>
                </a:solidFill>
                <a:latin typeface="Noto Sans"/>
                <a:ea typeface="Noto Sans"/>
                <a:cs typeface="Noto Sans"/>
              </a:defRPr>
            </a:lvl9pPr>
          </a:lstStyle>
          <a:p xmlns:a="http://schemas.openxmlformats.org/drawingml/2006/main">
            <a:pPr>
              <a:defRPr sz="2175" b="0">
                <a:solidFill>
                  <a:srgbClr val="111111"/>
                </a:solidFill>
                <a:latin typeface="Noto Sans"/>
                <a:ea typeface="Noto Sans"/>
                <a:cs typeface="Noto Sans"/>
              </a:defRPr>
            </a:pPr>
            <a:r>
              <a:rPr sz="2175" b="0">
                <a:solidFill>
                  <a:srgbClr val="111111"/>
                </a:solidFill>
                <a:latin typeface="Noto Sans"/>
                <a:ea typeface="Noto Sans"/>
                <a:cs typeface="Noto Sans"/>
              </a:rPr>
              <a:t>memory operand -&gt; 64 B lines -&gt; cache filter -&gt; masks / counters</a:t>
            </a:r>
          </a:p>
          <a:p xmlns:a="http://schemas.openxmlformats.org/drawingml/2006/main">
            <a:r>
              <a:t/>
            </a:r>
          </a:p>
          <a:p xmlns:a="http://schemas.openxmlformats.org/drawingml/2006/main">
            <a:pPr>
              <a:defRPr sz="2175" b="0">
                <a:solidFill>
                  <a:srgbClr val="111111"/>
                </a:solidFill>
                <a:latin typeface="Noto Sans"/>
                <a:ea typeface="Noto Sans"/>
                <a:cs typeface="Noto Sans"/>
              </a:defRPr>
            </a:pPr>
            <a:r>
              <a:rPr sz="2175" b="0">
                <a:solidFill>
                  <a:srgbClr val="111111"/>
                </a:solidFill>
                <a:latin typeface="Noto Sans"/>
                <a:ea typeface="Noto Sans"/>
                <a:cs typeface="Noto Sans"/>
              </a:rPr>
              <a:t>Intel Pin supplies the instrumentation framework.</a:t>
            </a:r>
          </a:p>
          <a:p xmlns:a="http://schemas.openxmlformats.org/drawingml/2006/main">
            <a:r>
              <a:t/>
            </a:r>
          </a:p>
          <a:p xmlns:a="http://schemas.openxmlformats.org/drawingml/2006/main">
            <a:pPr>
              <a:defRPr sz="2175" b="0">
                <a:solidFill>
                  <a:srgbClr val="111111"/>
                </a:solidFill>
                <a:latin typeface="Noto Sans"/>
                <a:ea typeface="Noto Sans"/>
                <a:cs typeface="Noto Sans"/>
              </a:defRPr>
            </a:pPr>
            <a:r>
              <a:rPr sz="2175" b="0">
                <a:solidFill>
                  <a:srgbClr val="111111"/>
                </a:solidFill>
                <a:latin typeface="Noto Sans"/>
                <a:ea typeface="Noto Sans"/>
                <a:cs typeface="Noto Sans"/>
              </a:rPr>
              <a:t>Our C++ code implements the measurement logic.</a:t>
            </a:r>
          </a:p>
          <a:p xmlns:a="http://schemas.openxmlformats.org/drawingml/2006/main">
            <a:r>
              <a:t/>
            </a:r>
          </a:p>
          <a:p xmlns:a="http://schemas.openxmlformats.org/drawingml/2006/main">
            <a:pPr>
              <a:defRPr sz="2175" b="0">
                <a:solidFill>
                  <a:srgbClr val="111111"/>
                </a:solidFill>
                <a:latin typeface="Noto Sans"/>
                <a:ea typeface="Noto Sans"/>
                <a:cs typeface="Noto Sans"/>
              </a:defRPr>
            </a:pPr>
            <a:r>
              <a:rPr sz="2175" b="0">
                <a:solidFill>
                  <a:srgbClr val="111111"/>
                </a:solidFill>
                <a:latin typeface="Noto Sans"/>
                <a:ea typeface="Noto Sans"/>
                <a:cs typeface="Noto Sans"/>
              </a:rPr>
              <a:t>One execution, three streams. No large full trace.</a:t>
            </a:r>
          </a:p>
        </p:txBody>
      </p:sp>
    </p:spTree>
    <p:extLst>
      <p:ext uri="{BB962C8B-B14F-4D97-AF65-F5344CB8AC3E}">
        <p14:creationId xmlns:p14="http://schemas.microsoft.com/office/powerpoint/2010/main" val="1156950118"/>
      </p:ext>
    </p:extLst>
  </p:cSld>
</p:sld>
</file>

<file path=ppt/slides/slide5.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3F9EAF1-FAF5-4978-8404-039F3947D1FE}"/>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E1840390-1F77-466E-AA71-BA32B1DCF18D}"/>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Pin accesses vs device-side traffic</a:t>
            </a:r>
          </a:p>
        </p:txBody>
      </p:sp>
      <p:sp>
        <p:nvSpPr>
          <p:cNvPr id="3" name="">
            <a:extLst xmlns:a="http://schemas.openxmlformats.org/drawingml/2006/main">
              <a:ext uri="{FF2B5EF4-FFF2-40B4-BE49-F238E27FC236}">
                <a16:creationId xmlns:a16="http://schemas.microsoft.com/office/drawing/2014/main" id="{E4B49DE8-1755-49EB-BCD9-2D0E05B391FA}"/>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1F190FF2-1BB0-4ED3-8BFD-E3D5AE13400C}"/>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Iason Zakynthinos / Advanced Computer Architecture                                      05 / 15</a:t>
            </a:r>
          </a:p>
        </p:txBody>
      </p:sp>
      <p:sp>
        <p:nvSpPr>
          <p:cNvPr id="5" name="">
            <a:extLst xmlns:a="http://schemas.openxmlformats.org/drawingml/2006/main">
              <a:ext uri="{FF2B5EF4-FFF2-40B4-BE49-F238E27FC236}">
                <a16:creationId xmlns:a16="http://schemas.microsoft.com/office/drawing/2014/main" id="{9E29B9B3-AD50-4FBC-9648-B4518C45BFA5}"/>
              </a:ext>
            </a:extLst>
          </p:cNvPr>
          <p:cNvSpPr>
            <a:spLocks xmlns:a="http://schemas.openxmlformats.org/drawingml/2006/main" noGrp="1"/>
          </p:cNvSpPr>
          <p:nvPr/>
        </p:nvSpPr>
        <p:spPr>
          <a:xfrm xmlns:a="http://schemas.openxmlformats.org/drawingml/2006/main">
            <a:off x="571500" y="1666875"/>
            <a:ext cx="10858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11111"/>
                </a:solidFill>
                <a:latin typeface="Noto Sans"/>
                <a:ea typeface="Noto Sans"/>
                <a:cs typeface="Noto Sans"/>
              </a:defRPr>
            </a:defPPr>
            <a:lvl1pPr>
              <a:defRPr sz="2325" b="0">
                <a:solidFill>
                  <a:srgbClr val="111111"/>
                </a:solidFill>
                <a:latin typeface="Noto Sans"/>
                <a:ea typeface="Noto Sans"/>
                <a:cs typeface="Noto Sans"/>
              </a:defRPr>
            </a:lvl1pPr>
            <a:lvl2pPr>
              <a:defRPr sz="2325" b="0">
                <a:solidFill>
                  <a:srgbClr val="111111"/>
                </a:solidFill>
                <a:latin typeface="Noto Sans"/>
                <a:ea typeface="Noto Sans"/>
                <a:cs typeface="Noto Sans"/>
              </a:defRPr>
            </a:lvl2pPr>
            <a:lvl3pPr>
              <a:defRPr sz="2325" b="0">
                <a:solidFill>
                  <a:srgbClr val="111111"/>
                </a:solidFill>
                <a:latin typeface="Noto Sans"/>
                <a:ea typeface="Noto Sans"/>
                <a:cs typeface="Noto Sans"/>
              </a:defRPr>
            </a:lvl3pPr>
            <a:lvl4pPr>
              <a:defRPr sz="2325" b="0">
                <a:solidFill>
                  <a:srgbClr val="111111"/>
                </a:solidFill>
                <a:latin typeface="Noto Sans"/>
                <a:ea typeface="Noto Sans"/>
                <a:cs typeface="Noto Sans"/>
              </a:defRPr>
            </a:lvl4pPr>
            <a:lvl5pPr>
              <a:defRPr sz="2325" b="0">
                <a:solidFill>
                  <a:srgbClr val="111111"/>
                </a:solidFill>
                <a:latin typeface="Noto Sans"/>
                <a:ea typeface="Noto Sans"/>
                <a:cs typeface="Noto Sans"/>
              </a:defRPr>
            </a:lvl5pPr>
            <a:lvl6pPr>
              <a:defRPr sz="2325" b="0">
                <a:solidFill>
                  <a:srgbClr val="111111"/>
                </a:solidFill>
                <a:latin typeface="Noto Sans"/>
                <a:ea typeface="Noto Sans"/>
                <a:cs typeface="Noto Sans"/>
              </a:defRPr>
            </a:lvl6pPr>
            <a:lvl7pPr>
              <a:defRPr sz="2325" b="0">
                <a:solidFill>
                  <a:srgbClr val="111111"/>
                </a:solidFill>
                <a:latin typeface="Noto Sans"/>
                <a:ea typeface="Noto Sans"/>
                <a:cs typeface="Noto Sans"/>
              </a:defRPr>
            </a:lvl7pPr>
            <a:lvl8pPr>
              <a:defRPr sz="2325" b="0">
                <a:solidFill>
                  <a:srgbClr val="111111"/>
                </a:solidFill>
                <a:latin typeface="Noto Sans"/>
                <a:ea typeface="Noto Sans"/>
                <a:cs typeface="Noto Sans"/>
              </a:defRPr>
            </a:lvl8pPr>
            <a:lvl9pPr>
              <a:defRPr sz="2325" b="0">
                <a:solidFill>
                  <a:srgbClr val="111111"/>
                </a:solidFill>
                <a:latin typeface="Noto Sans"/>
                <a:ea typeface="Noto Sans"/>
                <a:cs typeface="Noto Sans"/>
              </a:defRPr>
            </a:lvl9pPr>
          </a:lstStyle>
          <a:p xmlns:a="http://schemas.openxmlformats.org/drawingml/2006/main">
            <a:pPr>
              <a:defRPr sz="2325" b="0">
                <a:solidFill>
                  <a:srgbClr val="111111"/>
                </a:solidFill>
                <a:latin typeface="Noto Sans"/>
                <a:ea typeface="Noto Sans"/>
                <a:cs typeface="Noto Sans"/>
              </a:defRPr>
            </a:pPr>
            <a:r>
              <a:rPr sz="2325" b="0">
                <a:solidFill>
                  <a:srgbClr val="111111"/>
                </a:solidFill>
                <a:latin typeface="Noto Sans"/>
                <a:ea typeface="Noto Sans"/>
                <a:cs typeface="Noto Sans"/>
              </a:rPr>
              <a:t>Private L1D/L2 and shared LLC.</a:t>
            </a:r>
          </a:p>
          <a:p xmlns:a="http://schemas.openxmlformats.org/drawingml/2006/main">
            <a:pPr>
              <a:defRPr sz="2325" b="0">
                <a:solidFill>
                  <a:srgbClr val="111111"/>
                </a:solidFill>
                <a:latin typeface="Noto Sans"/>
                <a:ea typeface="Noto Sans"/>
                <a:cs typeface="Noto Sans"/>
              </a:defRPr>
            </a:pPr>
            <a:r>
              <a:rPr sz="2325" b="0">
                <a:solidFill>
                  <a:srgbClr val="111111"/>
                </a:solidFill>
                <a:latin typeface="Noto Sans"/>
                <a:ea typeface="Noto Sans"/>
                <a:cs typeface="Noto Sans"/>
              </a:rPr>
              <a:t>Primary setting: 40 MiB / 10 ways.</a:t>
            </a:r>
          </a:p>
          <a:p xmlns:a="http://schemas.openxmlformats.org/drawingml/2006/main">
            <a:r>
              <a:t/>
            </a:r>
          </a:p>
          <a:p xmlns:a="http://schemas.openxmlformats.org/drawingml/2006/main">
            <a:pPr>
              <a:defRPr sz="2325" b="0">
                <a:solidFill>
                  <a:srgbClr val="111111"/>
                </a:solidFill>
                <a:latin typeface="Noto Sans"/>
                <a:ea typeface="Noto Sans"/>
                <a:cs typeface="Noto Sans"/>
              </a:defRPr>
            </a:pPr>
            <a:r>
              <a:rPr sz="2325" b="0">
                <a:solidFill>
                  <a:srgbClr val="111111"/>
                </a:solidFill>
                <a:latin typeface="Noto Sans"/>
                <a:ea typeface="Noto Sans"/>
                <a:cs typeface="Noto Sans"/>
              </a:rPr>
              <a:t>No coherence, physical slice hashing or hardware prefetching.</a:t>
            </a:r>
          </a:p>
          <a:p xmlns:a="http://schemas.openxmlformats.org/drawingml/2006/main">
            <a:r>
              <a:t/>
            </a:r>
          </a:p>
          <a:p xmlns:a="http://schemas.openxmlformats.org/drawingml/2006/main">
            <a:pPr>
              <a:defRPr sz="2325" b="0">
                <a:solidFill>
                  <a:srgbClr val="111111"/>
                </a:solidFill>
                <a:latin typeface="Noto Sans"/>
                <a:ea typeface="Noto Sans"/>
                <a:cs typeface="Noto Sans"/>
              </a:defRPr>
            </a:pPr>
            <a:r>
              <a:rPr sz="2325" b="0">
                <a:solidFill>
                  <a:srgbClr val="111111"/>
                </a:solidFill>
                <a:latin typeface="Noto Sans"/>
                <a:ea typeface="Noto Sans"/>
                <a:cs typeface="Noto Sans"/>
              </a:rPr>
              <a:t>These are modeled misses,</a:t>
            </a:r>
          </a:p>
          <a:p xmlns:a="http://schemas.openxmlformats.org/drawingml/2006/main">
            <a:pPr>
              <a:defRPr sz="2325" b="0">
                <a:solidFill>
                  <a:srgbClr val="111111"/>
                </a:solidFill>
                <a:latin typeface="Noto Sans"/>
                <a:ea typeface="Noto Sans"/>
                <a:cs typeface="Noto Sans"/>
              </a:defRPr>
            </a:pPr>
            <a:r>
              <a:rPr sz="2325" b="0">
                <a:solidFill>
                  <a:srgbClr val="111111"/>
                </a:solidFill>
                <a:latin typeface="Noto Sans"/>
                <a:ea typeface="Noto Sans"/>
                <a:cs typeface="Noto Sans"/>
              </a:rPr>
              <a:t>not hardware performance counters.</a:t>
            </a:r>
          </a:p>
        </p:txBody>
      </p:sp>
    </p:spTree>
    <p:extLst>
      <p:ext uri="{BB962C8B-B14F-4D97-AF65-F5344CB8AC3E}">
        <p14:creationId xmlns:p14="http://schemas.microsoft.com/office/powerpoint/2010/main" val="992376164"/>
      </p:ext>
    </p:extLst>
  </p:cSld>
</p:sld>
</file>

<file path=ppt/slides/slide6.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E8A95ED-0B09-455C-957C-2ADEE2DC8B7F}"/>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09F71606-FC34-4B7D-BDA1-2B65B617D87B}"/>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Shared windows, different streams</a:t>
            </a:r>
          </a:p>
        </p:txBody>
      </p:sp>
      <p:sp>
        <p:nvSpPr>
          <p:cNvPr id="3" name="">
            <a:extLst xmlns:a="http://schemas.openxmlformats.org/drawingml/2006/main">
              <a:ext uri="{FF2B5EF4-FFF2-40B4-BE49-F238E27FC236}">
                <a16:creationId xmlns:a16="http://schemas.microsoft.com/office/drawing/2014/main" id="{84B278A3-AE4E-444B-B539-B07014D13D09}"/>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803B8F26-1D37-4D1F-AC18-F30C2BDBB44E}"/>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Iason Zakynthinos / Advanced Computer Architecture                                      06 / 15</a:t>
            </a:r>
          </a:p>
        </p:txBody>
      </p:sp>
      <p:sp>
        <p:nvSpPr>
          <p:cNvPr id="5" name="">
            <a:extLst xmlns:a="http://schemas.openxmlformats.org/drawingml/2006/main">
              <a:ext uri="{FF2B5EF4-FFF2-40B4-BE49-F238E27FC236}">
                <a16:creationId xmlns:a16="http://schemas.microsoft.com/office/drawing/2014/main" id="{A903DE13-1A8F-4B4B-87F7-74DA94A7AB34}"/>
              </a:ext>
            </a:extLst>
          </p:cNvPr>
          <p:cNvSpPr>
            <a:spLocks xmlns:a="http://schemas.openxmlformats.org/drawingml/2006/main" noGrp="1"/>
          </p:cNvSpPr>
          <p:nvPr/>
        </p:nvSpPr>
        <p:spPr>
          <a:xfrm xmlns:a="http://schemas.openxmlformats.org/drawingml/2006/main">
            <a:off x="571500" y="1666875"/>
            <a:ext cx="10858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11111"/>
                </a:solidFill>
                <a:latin typeface="Noto Sans"/>
                <a:ea typeface="Noto Sans"/>
                <a:cs typeface="Noto Sans"/>
              </a:defRPr>
            </a:defPPr>
            <a:lvl1pPr>
              <a:defRPr sz="2325" b="0">
                <a:solidFill>
                  <a:srgbClr val="111111"/>
                </a:solidFill>
                <a:latin typeface="Noto Sans"/>
                <a:ea typeface="Noto Sans"/>
                <a:cs typeface="Noto Sans"/>
              </a:defRPr>
            </a:lvl1pPr>
            <a:lvl2pPr>
              <a:defRPr sz="2325" b="0">
                <a:solidFill>
                  <a:srgbClr val="111111"/>
                </a:solidFill>
                <a:latin typeface="Noto Sans"/>
                <a:ea typeface="Noto Sans"/>
                <a:cs typeface="Noto Sans"/>
              </a:defRPr>
            </a:lvl2pPr>
            <a:lvl3pPr>
              <a:defRPr sz="2325" b="0">
                <a:solidFill>
                  <a:srgbClr val="111111"/>
                </a:solidFill>
                <a:latin typeface="Noto Sans"/>
                <a:ea typeface="Noto Sans"/>
                <a:cs typeface="Noto Sans"/>
              </a:defRPr>
            </a:lvl3pPr>
            <a:lvl4pPr>
              <a:defRPr sz="2325" b="0">
                <a:solidFill>
                  <a:srgbClr val="111111"/>
                </a:solidFill>
                <a:latin typeface="Noto Sans"/>
                <a:ea typeface="Noto Sans"/>
                <a:cs typeface="Noto Sans"/>
              </a:defRPr>
            </a:lvl4pPr>
            <a:lvl5pPr>
              <a:defRPr sz="2325" b="0">
                <a:solidFill>
                  <a:srgbClr val="111111"/>
                </a:solidFill>
                <a:latin typeface="Noto Sans"/>
                <a:ea typeface="Noto Sans"/>
                <a:cs typeface="Noto Sans"/>
              </a:defRPr>
            </a:lvl5pPr>
            <a:lvl6pPr>
              <a:defRPr sz="2325" b="0">
                <a:solidFill>
                  <a:srgbClr val="111111"/>
                </a:solidFill>
                <a:latin typeface="Noto Sans"/>
                <a:ea typeface="Noto Sans"/>
                <a:cs typeface="Noto Sans"/>
              </a:defRPr>
            </a:lvl6pPr>
            <a:lvl7pPr>
              <a:defRPr sz="2325" b="0">
                <a:solidFill>
                  <a:srgbClr val="111111"/>
                </a:solidFill>
                <a:latin typeface="Noto Sans"/>
                <a:ea typeface="Noto Sans"/>
                <a:cs typeface="Noto Sans"/>
              </a:defRPr>
            </a:lvl7pPr>
            <a:lvl8pPr>
              <a:defRPr sz="2325" b="0">
                <a:solidFill>
                  <a:srgbClr val="111111"/>
                </a:solidFill>
                <a:latin typeface="Noto Sans"/>
                <a:ea typeface="Noto Sans"/>
                <a:cs typeface="Noto Sans"/>
              </a:defRPr>
            </a:lvl8pPr>
            <a:lvl9pPr>
              <a:defRPr sz="2325" b="0">
                <a:solidFill>
                  <a:srgbClr val="111111"/>
                </a:solidFill>
                <a:latin typeface="Noto Sans"/>
                <a:ea typeface="Noto Sans"/>
                <a:cs typeface="Noto Sans"/>
              </a:defRPr>
            </a:lvl9pPr>
          </a:lstStyle>
          <a:p xmlns:a="http://schemas.openxmlformats.org/drawingml/2006/main">
            <a:pPr>
              <a:defRPr sz="2325" b="0">
                <a:solidFill>
                  <a:srgbClr val="111111"/>
                </a:solidFill>
                <a:latin typeface="Noto Sans"/>
                <a:ea typeface="Noto Sans"/>
                <a:cs typeface="Noto Sans"/>
              </a:defRPr>
            </a:pPr>
            <a:r>
              <a:rPr sz="2325" b="0">
                <a:solidFill>
                  <a:srgbClr val="111111"/>
                </a:solidFill>
                <a:latin typeface="Noto Sans"/>
                <a:ea typeface="Noto Sans"/>
                <a:cs typeface="Noto Sans"/>
              </a:rPr>
              <a:t>Accesses             Demand line operands</a:t>
            </a:r>
          </a:p>
          <a:p xmlns:a="http://schemas.openxmlformats.org/drawingml/2006/main">
            <a:r>
              <a:t/>
            </a:r>
          </a:p>
          <a:p xmlns:a="http://schemas.openxmlformats.org/drawingml/2006/main">
            <a:pPr>
              <a:defRPr sz="2325" b="0">
                <a:solidFill>
                  <a:srgbClr val="111111"/>
                </a:solidFill>
                <a:latin typeface="Noto Sans"/>
                <a:ea typeface="Noto Sans"/>
                <a:cs typeface="Noto Sans"/>
              </a:defRPr>
            </a:pPr>
            <a:r>
              <a:rPr sz="2325" b="0">
                <a:solidFill>
                  <a:srgbClr val="111111"/>
                </a:solidFill>
                <a:latin typeface="Noto Sans"/>
                <a:ea typeface="Noto Sans"/>
                <a:cs typeface="Noto Sans"/>
              </a:rPr>
              <a:t>Fills / misses       Demand misses through all cache levels</a:t>
            </a:r>
          </a:p>
          <a:p xmlns:a="http://schemas.openxmlformats.org/drawingml/2006/main">
            <a:r>
              <a:t/>
            </a:r>
          </a:p>
          <a:p xmlns:a="http://schemas.openxmlformats.org/drawingml/2006/main">
            <a:pPr>
              <a:defRPr sz="2325" b="0">
                <a:solidFill>
                  <a:srgbClr val="111111"/>
                </a:solidFill>
                <a:latin typeface="Noto Sans"/>
                <a:ea typeface="Noto Sans"/>
                <a:cs typeface="Noto Sans"/>
              </a:defRPr>
            </a:pPr>
            <a:r>
              <a:rPr sz="2325" b="0">
                <a:solidFill>
                  <a:srgbClr val="111111"/>
                </a:solidFill>
                <a:latin typeface="Noto Sans"/>
                <a:ea typeface="Noto Sans"/>
                <a:cs typeface="Noto Sans"/>
              </a:rPr>
              <a:t>Total traffic         Fills + dirty LLC writebacks</a:t>
            </a:r>
          </a:p>
          <a:p xmlns:a="http://schemas.openxmlformats.org/drawingml/2006/main">
            <a:r>
              <a:t/>
            </a:r>
          </a:p>
          <a:p xmlns:a="http://schemas.openxmlformats.org/drawingml/2006/main">
            <a:pPr>
              <a:defRPr sz="2325" b="0">
                <a:solidFill>
                  <a:srgbClr val="111111"/>
                </a:solidFill>
                <a:latin typeface="Noto Sans"/>
                <a:ea typeface="Noto Sans"/>
                <a:cs typeface="Noto Sans"/>
              </a:defRPr>
            </a:pPr>
            <a:r>
              <a:rPr sz="2325" b="0">
                <a:solidFill>
                  <a:srgbClr val="111111"/>
                </a:solidFill>
                <a:latin typeface="Noto Sans"/>
                <a:ea typeface="Noto Sans"/>
                <a:cs typeface="Noto Sans"/>
              </a:rPr>
              <a:t>Shared 10M-event windows. Whole ROI reported separately.</a:t>
            </a:r>
          </a:p>
        </p:txBody>
      </p:sp>
    </p:spTree>
    <p:extLst>
      <p:ext uri="{BB962C8B-B14F-4D97-AF65-F5344CB8AC3E}">
        <p14:creationId xmlns:p14="http://schemas.microsoft.com/office/powerpoint/2010/main" val="1967873556"/>
      </p:ext>
    </p:extLst>
  </p:cSld>
</p:sld>
</file>

<file path=ppt/slides/slide7.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4857BD6-9D4F-4AC1-879E-0759B33399E4}"/>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DCD98CB1-89B3-4533-AADA-C72510B69688}"/>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Common baseline: M5 / accesses / misses</a:t>
            </a:r>
          </a:p>
        </p:txBody>
      </p:sp>
      <p:sp>
        <p:nvSpPr>
          <p:cNvPr id="3" name="">
            <a:extLst xmlns:a="http://schemas.openxmlformats.org/drawingml/2006/main">
              <a:ext uri="{FF2B5EF4-FFF2-40B4-BE49-F238E27FC236}">
                <a16:creationId xmlns:a16="http://schemas.microsoft.com/office/drawing/2014/main" id="{E9C7336B-F592-47E7-B32A-2A373F3F551A}"/>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90546886-133C-4F62-A754-213879B78698}"/>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Iason Zakynthinos / Advanced Computer Architecture                                      07 / 15</a:t>
            </a:r>
          </a:p>
        </p:txBody>
      </p:sp>
      <p:pic>
        <p:nvPicPr>
          <p:cNvPr id="5" name="">
            <a:extLst xmlns:a="http://schemas.openxmlformats.org/drawingml/2006/main">
              <a:ext uri="{FF2B5EF4-FFF2-40B4-BE49-F238E27FC236}">
                <a16:creationId xmlns:a16="http://schemas.microsoft.com/office/drawing/2014/main" id="{03DF180A-11FE-4B21-AB93-5C8005ABB467}"/>
              </a:ext>
            </a:extLst>
          </p:cNvPr>
          <p:cNvPicPr>
            <a:picLocks xmlns:a="http://schemas.openxmlformats.org/drawingml/2006/main" noChangeAspect="1"/>
          </p:cNvPicPr>
          <p:nvPr/>
        </p:nvPicPr>
        <p:blipFill>
          <a:blip xmlns:r="http://schemas.openxmlformats.org/officeDocument/2006/relationships" xmlns:a="http://schemas.openxmlformats.org/drawingml/2006/main" r:embed="Rbb4e8be59d704d4a"/>
          <a:stretch xmlns:a="http://schemas.openxmlformats.org/drawingml/2006/main"/>
        </p:blipFill>
        <p:spPr>
          <a:xfrm xmlns:a="http://schemas.openxmlformats.org/drawingml/2006/main">
            <a:off x="2454088" y="1428750"/>
            <a:ext cx="7283824" cy="476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2163B40-A718-428C-92AC-497D9B04FAC0}"/>
              </a:ext>
            </a:extLst>
          </p:cNvPr>
          <p:cNvSpPr>
            <a:spLocks xmlns:a="http://schemas.openxmlformats.org/drawingml/2006/main" noGrp="1"/>
          </p:cNvSpPr>
          <p:nvPr/>
        </p:nvSpPr>
        <p:spPr>
          <a:xfrm xmlns:a="http://schemas.openxmlformats.org/drawingml/2006/main">
            <a:off x="571500" y="61531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44444"/>
                </a:solidFill>
                <a:latin typeface="Noto Sans"/>
                <a:ea typeface="Noto Sans"/>
                <a:cs typeface="Noto Sans"/>
              </a:defRPr>
            </a:defPPr>
            <a:lvl1pPr>
              <a:defRPr sz="1125" b="0">
                <a:solidFill>
                  <a:srgbClr val="444444"/>
                </a:solidFill>
                <a:latin typeface="Noto Sans"/>
                <a:ea typeface="Noto Sans"/>
                <a:cs typeface="Noto Sans"/>
              </a:defRPr>
            </a:lvl1pPr>
            <a:lvl2pPr>
              <a:defRPr sz="1125" b="0">
                <a:solidFill>
                  <a:srgbClr val="444444"/>
                </a:solidFill>
                <a:latin typeface="Noto Sans"/>
                <a:ea typeface="Noto Sans"/>
                <a:cs typeface="Noto Sans"/>
              </a:defRPr>
            </a:lvl2pPr>
            <a:lvl3pPr>
              <a:defRPr sz="1125" b="0">
                <a:solidFill>
                  <a:srgbClr val="444444"/>
                </a:solidFill>
                <a:latin typeface="Noto Sans"/>
                <a:ea typeface="Noto Sans"/>
                <a:cs typeface="Noto Sans"/>
              </a:defRPr>
            </a:lvl3pPr>
            <a:lvl4pPr>
              <a:defRPr sz="1125" b="0">
                <a:solidFill>
                  <a:srgbClr val="444444"/>
                </a:solidFill>
                <a:latin typeface="Noto Sans"/>
                <a:ea typeface="Noto Sans"/>
                <a:cs typeface="Noto Sans"/>
              </a:defRPr>
            </a:lvl4pPr>
            <a:lvl5pPr>
              <a:defRPr sz="1125" b="0">
                <a:solidFill>
                  <a:srgbClr val="444444"/>
                </a:solidFill>
                <a:latin typeface="Noto Sans"/>
                <a:ea typeface="Noto Sans"/>
                <a:cs typeface="Noto Sans"/>
              </a:defRPr>
            </a:lvl5pPr>
            <a:lvl6pPr>
              <a:defRPr sz="1125" b="0">
                <a:solidFill>
                  <a:srgbClr val="444444"/>
                </a:solidFill>
                <a:latin typeface="Noto Sans"/>
                <a:ea typeface="Noto Sans"/>
                <a:cs typeface="Noto Sans"/>
              </a:defRPr>
            </a:lvl6pPr>
            <a:lvl7pPr>
              <a:defRPr sz="1125" b="0">
                <a:solidFill>
                  <a:srgbClr val="444444"/>
                </a:solidFill>
                <a:latin typeface="Noto Sans"/>
                <a:ea typeface="Noto Sans"/>
                <a:cs typeface="Noto Sans"/>
              </a:defRPr>
            </a:lvl7pPr>
            <a:lvl8pPr>
              <a:defRPr sz="1125" b="0">
                <a:solidFill>
                  <a:srgbClr val="444444"/>
                </a:solidFill>
                <a:latin typeface="Noto Sans"/>
                <a:ea typeface="Noto Sans"/>
                <a:cs typeface="Noto Sans"/>
              </a:defRPr>
            </a:lvl8pPr>
            <a:lvl9pPr>
              <a:defRPr sz="1125" b="0">
                <a:solidFill>
                  <a:srgbClr val="444444"/>
                </a:solidFill>
                <a:latin typeface="Noto Sans"/>
                <a:ea typeface="Noto Sans"/>
                <a:cs typeface="Noto Sans"/>
              </a:defRPr>
            </a:lvl9pPr>
          </a:lstStyle>
          <a:p xmlns:a="http://schemas.openxmlformats.org/drawingml/2006/main">
            <a:pPr>
              <a:defRPr sz="1125" b="0">
                <a:solidFill>
                  <a:srgbClr val="444444"/>
                </a:solidFill>
                <a:latin typeface="Noto Sans"/>
                <a:ea typeface="Noto Sans"/>
                <a:cs typeface="Noto Sans"/>
              </a:defRPr>
            </a:pPr>
            <a:r>
              <a:rPr sz="1125" b="0">
                <a:solidFill>
                  <a:srgbClr val="444444"/>
                </a:solidFill>
                <a:latin typeface="Noto Sans"/>
                <a:ea typeface="Noto Sans"/>
                <a:cs typeface="Noto Sans"/>
              </a:rPr>
              <a:t>Baseline: kron-23; Google+ snapshot 1 for BC/SSSP; 1 thread/trial; digitized M5.</a:t>
            </a:r>
          </a:p>
        </p:txBody>
      </p:sp>
    </p:spTree>
    <p:extLst>
      <p:ext uri="{BB962C8B-B14F-4D97-AF65-F5344CB8AC3E}">
        <p14:creationId xmlns:p14="http://schemas.microsoft.com/office/powerpoint/2010/main" val="244667777"/>
      </p:ext>
    </p:extLst>
  </p:cSld>
</p:sld>
</file>

<file path=ppt/slides/slide8.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1134934-5F0E-4E77-B4FF-7B40CBA8E9CE}"/>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35281148-7FDD-4978-985A-6CEDF69728A5}"/>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New inputs, unchanged measurement protocol</a:t>
            </a:r>
          </a:p>
        </p:txBody>
      </p:sp>
      <p:sp>
        <p:nvSpPr>
          <p:cNvPr id="3" name="">
            <a:extLst xmlns:a="http://schemas.openxmlformats.org/drawingml/2006/main">
              <a:ext uri="{FF2B5EF4-FFF2-40B4-BE49-F238E27FC236}">
                <a16:creationId xmlns:a16="http://schemas.microsoft.com/office/drawing/2014/main" id="{16EFE7E1-6BD8-43AC-90E1-8F958E3C816D}"/>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7E3450F3-4FBC-4F9A-8C5A-77B20A601838}"/>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Iason Zakynthinos / Advanced Computer Architecture                                      08 / 15</a:t>
            </a:r>
          </a:p>
        </p:txBody>
      </p:sp>
      <p:pic>
        <p:nvPicPr>
          <p:cNvPr id="5" name="">
            <a:extLst xmlns:a="http://schemas.openxmlformats.org/drawingml/2006/main">
              <a:ext uri="{FF2B5EF4-FFF2-40B4-BE49-F238E27FC236}">
                <a16:creationId xmlns:a16="http://schemas.microsoft.com/office/drawing/2014/main" id="{DF1F1829-1A46-4292-8AC5-CE76C5AEF275}"/>
              </a:ext>
            </a:extLst>
          </p:cNvPr>
          <p:cNvPicPr>
            <a:picLocks xmlns:a="http://schemas.openxmlformats.org/drawingml/2006/main" noChangeAspect="1"/>
          </p:cNvPicPr>
          <p:nvPr/>
        </p:nvPicPr>
        <p:blipFill>
          <a:blip xmlns:r="http://schemas.openxmlformats.org/officeDocument/2006/relationships" xmlns:a="http://schemas.openxmlformats.org/drawingml/2006/main" r:embed="Rbfb590dbc9ec4166"/>
          <a:stretch xmlns:a="http://schemas.openxmlformats.org/drawingml/2006/main"/>
        </p:blipFill>
        <p:spPr>
          <a:xfrm xmlns:a="http://schemas.openxmlformats.org/drawingml/2006/main">
            <a:off x="2454088" y="1428750"/>
            <a:ext cx="7283824" cy="476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18A7C92-C4FC-4F9F-995D-FD83831DA967}"/>
              </a:ext>
            </a:extLst>
          </p:cNvPr>
          <p:cNvSpPr>
            <a:spLocks xmlns:a="http://schemas.openxmlformats.org/drawingml/2006/main" noGrp="1"/>
          </p:cNvSpPr>
          <p:nvPr/>
        </p:nvSpPr>
        <p:spPr>
          <a:xfrm xmlns:a="http://schemas.openxmlformats.org/drawingml/2006/main">
            <a:off x="571500" y="61531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44444"/>
                </a:solidFill>
                <a:latin typeface="Noto Sans"/>
                <a:ea typeface="Noto Sans"/>
                <a:cs typeface="Noto Sans"/>
              </a:defRPr>
            </a:defPPr>
            <a:lvl1pPr>
              <a:defRPr sz="1125" b="0">
                <a:solidFill>
                  <a:srgbClr val="444444"/>
                </a:solidFill>
                <a:latin typeface="Noto Sans"/>
                <a:ea typeface="Noto Sans"/>
                <a:cs typeface="Noto Sans"/>
              </a:defRPr>
            </a:lvl1pPr>
            <a:lvl2pPr>
              <a:defRPr sz="1125" b="0">
                <a:solidFill>
                  <a:srgbClr val="444444"/>
                </a:solidFill>
                <a:latin typeface="Noto Sans"/>
                <a:ea typeface="Noto Sans"/>
                <a:cs typeface="Noto Sans"/>
              </a:defRPr>
            </a:lvl2pPr>
            <a:lvl3pPr>
              <a:defRPr sz="1125" b="0">
                <a:solidFill>
                  <a:srgbClr val="444444"/>
                </a:solidFill>
                <a:latin typeface="Noto Sans"/>
                <a:ea typeface="Noto Sans"/>
                <a:cs typeface="Noto Sans"/>
              </a:defRPr>
            </a:lvl3pPr>
            <a:lvl4pPr>
              <a:defRPr sz="1125" b="0">
                <a:solidFill>
                  <a:srgbClr val="444444"/>
                </a:solidFill>
                <a:latin typeface="Noto Sans"/>
                <a:ea typeface="Noto Sans"/>
                <a:cs typeface="Noto Sans"/>
              </a:defRPr>
            </a:lvl4pPr>
            <a:lvl5pPr>
              <a:defRPr sz="1125" b="0">
                <a:solidFill>
                  <a:srgbClr val="444444"/>
                </a:solidFill>
                <a:latin typeface="Noto Sans"/>
                <a:ea typeface="Noto Sans"/>
                <a:cs typeface="Noto Sans"/>
              </a:defRPr>
            </a:lvl5pPr>
            <a:lvl6pPr>
              <a:defRPr sz="1125" b="0">
                <a:solidFill>
                  <a:srgbClr val="444444"/>
                </a:solidFill>
                <a:latin typeface="Noto Sans"/>
                <a:ea typeface="Noto Sans"/>
                <a:cs typeface="Noto Sans"/>
              </a:defRPr>
            </a:lvl6pPr>
            <a:lvl7pPr>
              <a:defRPr sz="1125" b="0">
                <a:solidFill>
                  <a:srgbClr val="444444"/>
                </a:solidFill>
                <a:latin typeface="Noto Sans"/>
                <a:ea typeface="Noto Sans"/>
                <a:cs typeface="Noto Sans"/>
              </a:defRPr>
            </a:lvl7pPr>
            <a:lvl8pPr>
              <a:defRPr sz="1125" b="0">
                <a:solidFill>
                  <a:srgbClr val="444444"/>
                </a:solidFill>
                <a:latin typeface="Noto Sans"/>
                <a:ea typeface="Noto Sans"/>
                <a:cs typeface="Noto Sans"/>
              </a:defRPr>
            </a:lvl8pPr>
            <a:lvl9pPr>
              <a:defRPr sz="1125" b="0">
                <a:solidFill>
                  <a:srgbClr val="444444"/>
                </a:solidFill>
                <a:latin typeface="Noto Sans"/>
                <a:ea typeface="Noto Sans"/>
                <a:cs typeface="Noto Sans"/>
              </a:defRPr>
            </a:lvl9pPr>
          </a:lstStyle>
          <a:p xmlns:a="http://schemas.openxmlformats.org/drawingml/2006/main">
            <a:pPr>
              <a:defRPr sz="1125" b="0">
                <a:solidFill>
                  <a:srgbClr val="444444"/>
                </a:solidFill>
                <a:latin typeface="Noto Sans"/>
                <a:ea typeface="Noto Sans"/>
                <a:cs typeface="Noto Sans"/>
              </a:defRPr>
            </a:pPr>
            <a:r>
              <a:rPr sz="1125" b="0">
                <a:solidFill>
                  <a:srgbClr val="444444"/>
                </a:solidFill>
                <a:latin typeface="Noto Sans"/>
                <a:ea typeface="Noto Sans"/>
                <a:cs typeface="Noto Sans"/>
              </a:rPr>
              <a:t>Twitter induced reductions; Google+ 4/2; exact M5 inputs and Figure 4 schedule remain unavailable.</a:t>
            </a:r>
          </a:p>
        </p:txBody>
      </p:sp>
    </p:spTree>
    <p:extLst>
      <p:ext uri="{BB962C8B-B14F-4D97-AF65-F5344CB8AC3E}">
        <p14:creationId xmlns:p14="http://schemas.microsoft.com/office/powerpoint/2010/main" val="86697981"/>
      </p:ext>
    </p:extLst>
  </p:cSld>
</p:sld>
</file>

<file path=ppt/slides/slide9.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371BC77-94E2-4366-9EDE-20CC34370436}"/>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FFAAD962-6C7C-4823-93FC-26A7328053B9}"/>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Agreement did not improve everywhere</a:t>
            </a:r>
          </a:p>
        </p:txBody>
      </p:sp>
      <p:sp>
        <p:nvSpPr>
          <p:cNvPr id="3" name="">
            <a:extLst xmlns:a="http://schemas.openxmlformats.org/drawingml/2006/main">
              <a:ext uri="{FF2B5EF4-FFF2-40B4-BE49-F238E27FC236}">
                <a16:creationId xmlns:a16="http://schemas.microsoft.com/office/drawing/2014/main" id="{DFAB9C2D-EC34-46FB-B278-00166A36F66D}"/>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AB6BE870-EB52-4FDD-B2EC-E1AD2E4C28DB}"/>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Iason Zakynthinos / Advanced Computer Architecture                                      09 / 15</a:t>
            </a:r>
          </a:p>
        </p:txBody>
      </p:sp>
      <p:graphicFrame>
        <p:nvGraphicFramePr>
          <p:cNvPr id="5" name="">
            <a:extLst xmlns:a="http://schemas.openxmlformats.org/drawingml/2006/main">
              <a:ext uri="{FF2B5EF4-FFF2-40B4-BE49-F238E27FC236}">
                <a16:creationId xmlns:a16="http://schemas.microsoft.com/office/drawing/2014/main" id="{C4C147A4-5265-4296-A6B6-756C7899CDBE}"/>
              </a:ext>
            </a:extLst>
          </p:cNvPr>
          <p:cNvGraphicFramePr/>
          <p:nvPr/>
        </p:nvGraphicFramePr>
        <p:xfrm>
          <a:off xmlns:a="http://schemas.openxmlformats.org/drawingml/2006/main" x="571500" y="1571625"/>
          <a:ext xmlns:a="http://schemas.openxmlformats.org/drawingml/2006/main" cx="10858500" cy="3905250"/>
        </p:xfrm>
        <a:graphic xmlns:a="http://schemas.openxmlformats.org/drawingml/2006/main">
          <a:graphicData uri="http://schemas.openxmlformats.org/drawingml/2006/table">
            <a:tbl>
              <a:tblPr/>
              <a:tblGrid>
                <a:gridCol w="3619500"/>
                <a:gridCol w="3619500"/>
                <a:gridCol w="3619500"/>
              </a:tblGrid>
              <a:tr h="557893">
                <a:tc>
                  <a:txBody>
                    <a:bodyPr/>
                    <a:lstStyle/>
                    <a:p>
                      <a:r>
                        <a:rPr sz="1950" b="1">
                          <a:solidFill>
                            <a:srgbClr val="FFFFFF"/>
                          </a:solidFill>
                          <a:latin typeface="Noto Sans"/>
                          <a:ea typeface="Noto Sans"/>
                          <a:cs typeface="Noto Sans"/>
                        </a:rPr>
                        <a:t>Workload</a:t>
                      </a:r>
                    </a:p>
                  </a:txBody>
                  <a:tcPr marL="91440" marR="91440" marT="45720" marB="45720">
                    <a:lnL w="9525">
                      <a:solidFill>
                        <a:srgbClr val="CCCCCC"/>
                      </a:solidFill>
                      <a:prstDash val="solid"/>
                    </a:lnL>
                    <a:lnR w="9525">
                      <a:solidFill>
                        <a:srgbClr val="CCCCCC"/>
                      </a:solidFill>
                      <a:prstDash val="solid"/>
                    </a:lnR>
                    <a:lnT w="9525">
                      <a:solidFill>
                        <a:srgbClr val="CCCCCC"/>
                      </a:solidFill>
                      <a:prstDash val="solid"/>
                    </a:lnT>
                    <a:lnB w="9525">
                      <a:solidFill>
                        <a:srgbClr val="CCCCCC"/>
                      </a:solidFill>
                      <a:prstDash val="solid"/>
                    </a:lnB>
                    <a:solidFill>
                      <a:srgbClr val="111111"/>
                    </a:solidFill>
                  </a:tcPr>
                </a:tc>
                <a:tc>
                  <a:txBody>
                    <a:bodyPr/>
                    <a:lstStyle/>
                    <a:p>
                      <a:r>
                        <a:rPr sz="1950" b="1">
                          <a:solidFill>
                            <a:srgbClr val="FFFFFF"/>
                          </a:solidFill>
                          <a:latin typeface="Noto Sans"/>
                          <a:ea typeface="Noto Sans"/>
                          <a:cs typeface="Noto Sans"/>
                        </a:rPr>
                        <a:t>Baseline / pp</a:t>
                      </a:r>
                    </a:p>
                  </a:txBody>
                  <a:tcPr marL="91440" marR="91440" marT="45720" marB="45720">
                    <a:lnR w="9525">
                      <a:solidFill>
                        <a:srgbClr val="CCCCCC"/>
                      </a:solidFill>
                      <a:prstDash val="solid"/>
                    </a:lnR>
                    <a:lnT w="9525">
                      <a:solidFill>
                        <a:srgbClr val="CCCCCC"/>
                      </a:solidFill>
                      <a:prstDash val="solid"/>
                    </a:lnT>
                    <a:lnB w="9525">
                      <a:solidFill>
                        <a:srgbClr val="CCCCCC"/>
                      </a:solidFill>
                      <a:prstDash val="solid"/>
                    </a:lnB>
                    <a:solidFill>
                      <a:srgbClr val="111111"/>
                    </a:solidFill>
                  </a:tcPr>
                </a:tc>
                <a:tc>
                  <a:txBody>
                    <a:bodyPr/>
                    <a:lstStyle/>
                    <a:p>
                      <a:r>
                        <a:rPr sz="1950" b="1">
                          <a:solidFill>
                            <a:srgbClr val="FFFFFF"/>
                          </a:solidFill>
                          <a:latin typeface="Noto Sans"/>
                          <a:ea typeface="Noto Sans"/>
                          <a:cs typeface="Noto Sans"/>
                        </a:rPr>
                        <a:t>New inputs / pp</a:t>
                      </a:r>
                    </a:p>
                  </a:txBody>
                  <a:tcPr marL="91440" marR="91440" marT="45720" marB="45720">
                    <a:lnR w="9525">
                      <a:solidFill>
                        <a:srgbClr val="CCCCCC"/>
                      </a:solidFill>
                      <a:prstDash val="solid"/>
                    </a:lnR>
                    <a:lnT w="9525">
                      <a:solidFill>
                        <a:srgbClr val="CCCCCC"/>
                      </a:solidFill>
                      <a:prstDash val="solid"/>
                    </a:lnT>
                    <a:lnB w="9525">
                      <a:solidFill>
                        <a:srgbClr val="CCCCCC"/>
                      </a:solidFill>
                      <a:prstDash val="solid"/>
                    </a:lnB>
                    <a:solidFill>
                      <a:srgbClr val="111111"/>
                    </a:solidFill>
                  </a:tcPr>
                </a:tc>
              </a:tr>
              <a:tr h="557893">
                <a:tc>
                  <a:txBody>
                    <a:bodyPr/>
                    <a:lstStyle/>
                    <a:p>
                      <a:r>
                        <a:rPr sz="1950" b="0">
                          <a:solidFill>
                            <a:srgbClr val="111111"/>
                          </a:solidFill>
                          <a:latin typeface="Noto Sans"/>
                          <a:ea typeface="Noto Sans"/>
                          <a:cs typeface="Noto Sans"/>
                        </a:rPr>
                        <a:t>BFS</a:t>
                      </a:r>
                    </a:p>
                  </a:txBody>
                  <a:tcPr marL="91440" marR="91440" marT="45720" marB="45720">
                    <a:lnL w="9525">
                      <a:solidFill>
                        <a:srgbClr val="CCCCCC"/>
                      </a:solidFill>
                      <a:prstDash val="solid"/>
                    </a:lnL>
                    <a:lnR w="9525">
                      <a:solidFill>
                        <a:srgbClr val="CCCCCC"/>
                      </a:solidFill>
                      <a:prstDash val="solid"/>
                    </a:lnR>
                    <a:lnB w="9525">
                      <a:solidFill>
                        <a:srgbClr val="CCCCCC"/>
                      </a:solidFill>
                      <a:prstDash val="solid"/>
                    </a:lnB>
                    <a:solidFill>
                      <a:srgbClr val="F4F2EE"/>
                    </a:solidFill>
                  </a:tcPr>
                </a:tc>
                <a:tc>
                  <a:txBody>
                    <a:bodyPr/>
                    <a:lstStyle/>
                    <a:p>
                      <a:r>
                        <a:rPr sz="1950" b="0">
                          <a:solidFill>
                            <a:srgbClr val="111111"/>
                          </a:solidFill>
                          <a:latin typeface="Noto Sans"/>
                          <a:ea typeface="Noto Sans"/>
                          <a:cs typeface="Noto Sans"/>
                        </a:rPr>
                        <a:t>59.1</a:t>
                      </a:r>
                    </a:p>
                  </a:txBody>
                  <a:tcPr marL="91440" marR="91440" marT="45720" marB="45720">
                    <a:lnR w="9525">
                      <a:solidFill>
                        <a:srgbClr val="CCCCCC"/>
                      </a:solidFill>
                      <a:prstDash val="solid"/>
                    </a:lnR>
                    <a:lnB w="9525">
                      <a:solidFill>
                        <a:srgbClr val="CCCCCC"/>
                      </a:solidFill>
                      <a:prstDash val="solid"/>
                    </a:lnB>
                    <a:solidFill>
                      <a:srgbClr val="F4F2EE"/>
                    </a:solidFill>
                  </a:tcPr>
                </a:tc>
                <a:tc>
                  <a:txBody>
                    <a:bodyPr/>
                    <a:lstStyle/>
                    <a:p>
                      <a:r>
                        <a:rPr sz="1950" b="0">
                          <a:solidFill>
                            <a:srgbClr val="111111"/>
                          </a:solidFill>
                          <a:latin typeface="Noto Sans"/>
                          <a:ea typeface="Noto Sans"/>
                          <a:cs typeface="Noto Sans"/>
                        </a:rPr>
                        <a:t>55.6</a:t>
                      </a:r>
                    </a:p>
                  </a:txBody>
                  <a:tcPr marL="91440" marR="91440" marT="45720" marB="45720">
                    <a:lnR w="9525">
                      <a:solidFill>
                        <a:srgbClr val="CCCCCC"/>
                      </a:solidFill>
                      <a:prstDash val="solid"/>
                    </a:lnR>
                    <a:lnB w="9525">
                      <a:solidFill>
                        <a:srgbClr val="CCCCCC"/>
                      </a:solidFill>
                      <a:prstDash val="solid"/>
                    </a:lnB>
                    <a:solidFill>
                      <a:srgbClr val="F4F2EE"/>
                    </a:solidFill>
                  </a:tcPr>
                </a:tc>
              </a:tr>
              <a:tr h="557893">
                <a:tc>
                  <a:txBody>
                    <a:bodyPr/>
                    <a:lstStyle/>
                    <a:p>
                      <a:r>
                        <a:rPr sz="1950" b="0">
                          <a:solidFill>
                            <a:srgbClr val="111111"/>
                          </a:solidFill>
                          <a:latin typeface="Noto Sans"/>
                          <a:ea typeface="Noto Sans"/>
                          <a:cs typeface="Noto Sans"/>
                        </a:rPr>
                        <a:t>CC</a:t>
                      </a:r>
                    </a:p>
                  </a:txBody>
                  <a:tcPr marL="91440" marR="91440" marT="45720" marB="45720">
                    <a:lnL w="9525">
                      <a:solidFill>
                        <a:srgbClr val="CCCCCC"/>
                      </a:solidFill>
                      <a:prstDash val="solid"/>
                    </a:lnL>
                    <a:lnR w="9525">
                      <a:solidFill>
                        <a:srgbClr val="CCCCCC"/>
                      </a:solidFill>
                      <a:prstDash val="solid"/>
                    </a:lnR>
                    <a:lnB w="9525">
                      <a:solidFill>
                        <a:srgbClr val="CCCCCC"/>
                      </a:solidFill>
                      <a:prstDash val="solid"/>
                    </a:lnB>
                    <a:solidFill>
                      <a:srgbClr val="F4F2EE"/>
                    </a:solidFill>
                  </a:tcPr>
                </a:tc>
                <a:tc>
                  <a:txBody>
                    <a:bodyPr/>
                    <a:lstStyle/>
                    <a:p>
                      <a:r>
                        <a:rPr sz="1950" b="0">
                          <a:solidFill>
                            <a:srgbClr val="111111"/>
                          </a:solidFill>
                          <a:latin typeface="Noto Sans"/>
                          <a:ea typeface="Noto Sans"/>
                          <a:cs typeface="Noto Sans"/>
                        </a:rPr>
                        <a:t>50.5</a:t>
                      </a:r>
                    </a:p>
                  </a:txBody>
                  <a:tcPr marL="91440" marR="91440" marT="45720" marB="45720">
                    <a:lnR w="9525">
                      <a:solidFill>
                        <a:srgbClr val="CCCCCC"/>
                      </a:solidFill>
                      <a:prstDash val="solid"/>
                    </a:lnR>
                    <a:lnB w="9525">
                      <a:solidFill>
                        <a:srgbClr val="CCCCCC"/>
                      </a:solidFill>
                      <a:prstDash val="solid"/>
                    </a:lnB>
                    <a:solidFill>
                      <a:srgbClr val="F4F2EE"/>
                    </a:solidFill>
                  </a:tcPr>
                </a:tc>
                <a:tc>
                  <a:txBody>
                    <a:bodyPr/>
                    <a:lstStyle/>
                    <a:p>
                      <a:r>
                        <a:rPr sz="1950" b="0">
                          <a:solidFill>
                            <a:srgbClr val="111111"/>
                          </a:solidFill>
                          <a:latin typeface="Noto Sans"/>
                          <a:ea typeface="Noto Sans"/>
                          <a:cs typeface="Noto Sans"/>
                        </a:rPr>
                        <a:t>49.2</a:t>
                      </a:r>
                    </a:p>
                  </a:txBody>
                  <a:tcPr marL="91440" marR="91440" marT="45720" marB="45720">
                    <a:lnR w="9525">
                      <a:solidFill>
                        <a:srgbClr val="CCCCCC"/>
                      </a:solidFill>
                      <a:prstDash val="solid"/>
                    </a:lnR>
                    <a:lnB w="9525">
                      <a:solidFill>
                        <a:srgbClr val="CCCCCC"/>
                      </a:solidFill>
                      <a:prstDash val="solid"/>
                    </a:lnB>
                    <a:solidFill>
                      <a:srgbClr val="F4F2EE"/>
                    </a:solidFill>
                  </a:tcPr>
                </a:tc>
              </a:tr>
              <a:tr h="557893">
                <a:tc>
                  <a:txBody>
                    <a:bodyPr/>
                    <a:lstStyle/>
                    <a:p>
                      <a:r>
                        <a:rPr sz="1950" b="0">
                          <a:solidFill>
                            <a:srgbClr val="111111"/>
                          </a:solidFill>
                          <a:latin typeface="Noto Sans"/>
                          <a:ea typeface="Noto Sans"/>
                          <a:cs typeface="Noto Sans"/>
                        </a:rPr>
                        <a:t>PR</a:t>
                      </a:r>
                    </a:p>
                  </a:txBody>
                  <a:tcPr marL="91440" marR="91440" marT="45720" marB="45720">
                    <a:lnL w="9525">
                      <a:solidFill>
                        <a:srgbClr val="CCCCCC"/>
                      </a:solidFill>
                      <a:prstDash val="solid"/>
                    </a:lnL>
                    <a:lnR w="9525">
                      <a:solidFill>
                        <a:srgbClr val="CCCCCC"/>
                      </a:solidFill>
                      <a:prstDash val="solid"/>
                    </a:lnR>
                    <a:lnB w="9525">
                      <a:solidFill>
                        <a:srgbClr val="CCCCCC"/>
                      </a:solidFill>
                      <a:prstDash val="solid"/>
                    </a:lnB>
                    <a:solidFill>
                      <a:srgbClr val="F4F2EE"/>
                    </a:solidFill>
                  </a:tcPr>
                </a:tc>
                <a:tc>
                  <a:txBody>
                    <a:bodyPr/>
                    <a:lstStyle/>
                    <a:p>
                      <a:r>
                        <a:rPr sz="1950" b="0">
                          <a:solidFill>
                            <a:srgbClr val="111111"/>
                          </a:solidFill>
                          <a:latin typeface="Noto Sans"/>
                          <a:ea typeface="Noto Sans"/>
                          <a:cs typeface="Noto Sans"/>
                        </a:rPr>
                        <a:t>1.1</a:t>
                      </a:r>
                    </a:p>
                  </a:txBody>
                  <a:tcPr marL="91440" marR="91440" marT="45720" marB="45720">
                    <a:lnR w="9525">
                      <a:solidFill>
                        <a:srgbClr val="CCCCCC"/>
                      </a:solidFill>
                      <a:prstDash val="solid"/>
                    </a:lnR>
                    <a:lnB w="9525">
                      <a:solidFill>
                        <a:srgbClr val="CCCCCC"/>
                      </a:solidFill>
                      <a:prstDash val="solid"/>
                    </a:lnB>
                    <a:solidFill>
                      <a:srgbClr val="F4F2EE"/>
                    </a:solidFill>
                  </a:tcPr>
                </a:tc>
                <a:tc>
                  <a:txBody>
                    <a:bodyPr/>
                    <a:lstStyle/>
                    <a:p>
                      <a:r>
                        <a:rPr sz="1950" b="0">
                          <a:solidFill>
                            <a:srgbClr val="111111"/>
                          </a:solidFill>
                          <a:latin typeface="Noto Sans"/>
                          <a:ea typeface="Noto Sans"/>
                          <a:cs typeface="Noto Sans"/>
                        </a:rPr>
                        <a:t>1.5</a:t>
                      </a:r>
                    </a:p>
                  </a:txBody>
                  <a:tcPr marL="91440" marR="91440" marT="45720" marB="45720">
                    <a:lnR w="9525">
                      <a:solidFill>
                        <a:srgbClr val="CCCCCC"/>
                      </a:solidFill>
                      <a:prstDash val="solid"/>
                    </a:lnR>
                    <a:lnB w="9525">
                      <a:solidFill>
                        <a:srgbClr val="CCCCCC"/>
                      </a:solidFill>
                      <a:prstDash val="solid"/>
                    </a:lnB>
                    <a:solidFill>
                      <a:srgbClr val="F4F2EE"/>
                    </a:solidFill>
                  </a:tcPr>
                </a:tc>
              </a:tr>
              <a:tr h="557893">
                <a:tc>
                  <a:txBody>
                    <a:bodyPr/>
                    <a:lstStyle/>
                    <a:p>
                      <a:r>
                        <a:rPr sz="1950" b="0">
                          <a:solidFill>
                            <a:srgbClr val="111111"/>
                          </a:solidFill>
                          <a:latin typeface="Noto Sans"/>
                          <a:ea typeface="Noto Sans"/>
                          <a:cs typeface="Noto Sans"/>
                        </a:rPr>
                        <a:t>TC</a:t>
                      </a:r>
                    </a:p>
                  </a:txBody>
                  <a:tcPr marL="91440" marR="91440" marT="45720" marB="45720">
                    <a:lnL w="9525">
                      <a:solidFill>
                        <a:srgbClr val="CCCCCC"/>
                      </a:solidFill>
                      <a:prstDash val="solid"/>
                    </a:lnL>
                    <a:lnR w="9525">
                      <a:solidFill>
                        <a:srgbClr val="CCCCCC"/>
                      </a:solidFill>
                      <a:prstDash val="solid"/>
                    </a:lnR>
                    <a:lnB w="9525">
                      <a:solidFill>
                        <a:srgbClr val="CCCCCC"/>
                      </a:solidFill>
                      <a:prstDash val="solid"/>
                    </a:lnB>
                    <a:solidFill>
                      <a:srgbClr val="F4F2EE"/>
                    </a:solidFill>
                  </a:tcPr>
                </a:tc>
                <a:tc>
                  <a:txBody>
                    <a:bodyPr/>
                    <a:lstStyle/>
                    <a:p>
                      <a:r>
                        <a:rPr sz="1950" b="0">
                          <a:solidFill>
                            <a:srgbClr val="111111"/>
                          </a:solidFill>
                          <a:latin typeface="Noto Sans"/>
                          <a:ea typeface="Noto Sans"/>
                          <a:cs typeface="Noto Sans"/>
                        </a:rPr>
                        <a:t>41.6</a:t>
                      </a:r>
                    </a:p>
                  </a:txBody>
                  <a:tcPr marL="91440" marR="91440" marT="45720" marB="45720">
                    <a:lnR w="9525">
                      <a:solidFill>
                        <a:srgbClr val="CCCCCC"/>
                      </a:solidFill>
                      <a:prstDash val="solid"/>
                    </a:lnR>
                    <a:lnB w="9525">
                      <a:solidFill>
                        <a:srgbClr val="CCCCCC"/>
                      </a:solidFill>
                      <a:prstDash val="solid"/>
                    </a:lnB>
                    <a:solidFill>
                      <a:srgbClr val="F4F2EE"/>
                    </a:solidFill>
                  </a:tcPr>
                </a:tc>
                <a:tc>
                  <a:txBody>
                    <a:bodyPr/>
                    <a:lstStyle/>
                    <a:p>
                      <a:r>
                        <a:rPr sz="1950" b="0">
                          <a:solidFill>
                            <a:srgbClr val="111111"/>
                          </a:solidFill>
                          <a:latin typeface="Noto Sans"/>
                          <a:ea typeface="Noto Sans"/>
                          <a:cs typeface="Noto Sans"/>
                        </a:rPr>
                        <a:t>34.9</a:t>
                      </a:r>
                    </a:p>
                  </a:txBody>
                  <a:tcPr marL="91440" marR="91440" marT="45720" marB="45720">
                    <a:lnR w="9525">
                      <a:solidFill>
                        <a:srgbClr val="CCCCCC"/>
                      </a:solidFill>
                      <a:prstDash val="solid"/>
                    </a:lnR>
                    <a:lnB w="9525">
                      <a:solidFill>
                        <a:srgbClr val="CCCCCC"/>
                      </a:solidFill>
                      <a:prstDash val="solid"/>
                    </a:lnB>
                    <a:solidFill>
                      <a:srgbClr val="F4F2EE"/>
                    </a:solidFill>
                  </a:tcPr>
                </a:tc>
              </a:tr>
              <a:tr h="557893">
                <a:tc>
                  <a:txBody>
                    <a:bodyPr/>
                    <a:lstStyle/>
                    <a:p>
                      <a:r>
                        <a:rPr sz="1950" b="0">
                          <a:solidFill>
                            <a:srgbClr val="111111"/>
                          </a:solidFill>
                          <a:latin typeface="Noto Sans"/>
                          <a:ea typeface="Noto Sans"/>
                          <a:cs typeface="Noto Sans"/>
                        </a:rPr>
                        <a:t>BC</a:t>
                      </a:r>
                    </a:p>
                  </a:txBody>
                  <a:tcPr marL="91440" marR="91440" marT="45720" marB="45720">
                    <a:lnL w="9525">
                      <a:solidFill>
                        <a:srgbClr val="CCCCCC"/>
                      </a:solidFill>
                      <a:prstDash val="solid"/>
                    </a:lnL>
                    <a:lnR w="9525">
                      <a:solidFill>
                        <a:srgbClr val="CCCCCC"/>
                      </a:solidFill>
                      <a:prstDash val="solid"/>
                    </a:lnR>
                    <a:lnB w="9525">
                      <a:solidFill>
                        <a:srgbClr val="CCCCCC"/>
                      </a:solidFill>
                      <a:prstDash val="solid"/>
                    </a:lnB>
                    <a:solidFill>
                      <a:srgbClr val="F4F2EE"/>
                    </a:solidFill>
                  </a:tcPr>
                </a:tc>
                <a:tc>
                  <a:txBody>
                    <a:bodyPr/>
                    <a:lstStyle/>
                    <a:p>
                      <a:r>
                        <a:rPr sz="1950" b="0">
                          <a:solidFill>
                            <a:srgbClr val="111111"/>
                          </a:solidFill>
                          <a:latin typeface="Noto Sans"/>
                          <a:ea typeface="Noto Sans"/>
                          <a:cs typeface="Noto Sans"/>
                        </a:rPr>
                        <a:t>30.7</a:t>
                      </a:r>
                    </a:p>
                  </a:txBody>
                  <a:tcPr marL="91440" marR="91440" marT="45720" marB="45720">
                    <a:lnR w="9525">
                      <a:solidFill>
                        <a:srgbClr val="CCCCCC"/>
                      </a:solidFill>
                      <a:prstDash val="solid"/>
                    </a:lnR>
                    <a:lnB w="9525">
                      <a:solidFill>
                        <a:srgbClr val="CCCCCC"/>
                      </a:solidFill>
                      <a:prstDash val="solid"/>
                    </a:lnB>
                    <a:solidFill>
                      <a:srgbClr val="F4F2EE"/>
                    </a:solidFill>
                  </a:tcPr>
                </a:tc>
                <a:tc>
                  <a:txBody>
                    <a:bodyPr/>
                    <a:lstStyle/>
                    <a:p>
                      <a:r>
                        <a:rPr sz="1950" b="0">
                          <a:solidFill>
                            <a:srgbClr val="111111"/>
                          </a:solidFill>
                          <a:latin typeface="Noto Sans"/>
                          <a:ea typeface="Noto Sans"/>
                          <a:cs typeface="Noto Sans"/>
                        </a:rPr>
                        <a:t>77.6</a:t>
                      </a:r>
                    </a:p>
                  </a:txBody>
                  <a:tcPr marL="91440" marR="91440" marT="45720" marB="45720">
                    <a:lnR w="9525">
                      <a:solidFill>
                        <a:srgbClr val="CCCCCC"/>
                      </a:solidFill>
                      <a:prstDash val="solid"/>
                    </a:lnR>
                    <a:lnB w="9525">
                      <a:solidFill>
                        <a:srgbClr val="CCCCCC"/>
                      </a:solidFill>
                      <a:prstDash val="solid"/>
                    </a:lnB>
                    <a:solidFill>
                      <a:srgbClr val="F4F2EE"/>
                    </a:solidFill>
                  </a:tcPr>
                </a:tc>
              </a:tr>
              <a:tr h="557893">
                <a:tc>
                  <a:txBody>
                    <a:bodyPr/>
                    <a:lstStyle/>
                    <a:p>
                      <a:r>
                        <a:rPr sz="1950" b="0">
                          <a:solidFill>
                            <a:srgbClr val="111111"/>
                          </a:solidFill>
                          <a:latin typeface="Noto Sans"/>
                          <a:ea typeface="Noto Sans"/>
                          <a:cs typeface="Noto Sans"/>
                        </a:rPr>
                        <a:t>SSSP</a:t>
                      </a:r>
                    </a:p>
                  </a:txBody>
                  <a:tcPr marL="91440" marR="91440" marT="45720" marB="45720">
                    <a:lnL w="9525">
                      <a:solidFill>
                        <a:srgbClr val="CCCCCC"/>
                      </a:solidFill>
                      <a:prstDash val="solid"/>
                    </a:lnL>
                    <a:lnR w="9525">
                      <a:solidFill>
                        <a:srgbClr val="CCCCCC"/>
                      </a:solidFill>
                      <a:prstDash val="solid"/>
                    </a:lnR>
                    <a:lnB w="9525">
                      <a:solidFill>
                        <a:srgbClr val="CCCCCC"/>
                      </a:solidFill>
                      <a:prstDash val="solid"/>
                    </a:lnB>
                    <a:solidFill>
                      <a:srgbClr val="F4F2EE"/>
                    </a:solidFill>
                  </a:tcPr>
                </a:tc>
                <a:tc>
                  <a:txBody>
                    <a:bodyPr/>
                    <a:lstStyle/>
                    <a:p>
                      <a:r>
                        <a:rPr sz="1950" b="0">
                          <a:solidFill>
                            <a:srgbClr val="111111"/>
                          </a:solidFill>
                          <a:latin typeface="Noto Sans"/>
                          <a:ea typeface="Noto Sans"/>
                          <a:cs typeface="Noto Sans"/>
                        </a:rPr>
                        <a:t>34.0</a:t>
                      </a:r>
                    </a:p>
                  </a:txBody>
                  <a:tcPr marL="91440" marR="91440" marT="45720" marB="45720">
                    <a:lnR w="9525">
                      <a:solidFill>
                        <a:srgbClr val="CCCCCC"/>
                      </a:solidFill>
                      <a:prstDash val="solid"/>
                    </a:lnR>
                    <a:lnB w="9525">
                      <a:solidFill>
                        <a:srgbClr val="CCCCCC"/>
                      </a:solidFill>
                      <a:prstDash val="solid"/>
                    </a:lnB>
                    <a:solidFill>
                      <a:srgbClr val="F4F2EE"/>
                    </a:solidFill>
                  </a:tcPr>
                </a:tc>
                <a:tc>
                  <a:txBody>
                    <a:bodyPr/>
                    <a:lstStyle/>
                    <a:p>
                      <a:r>
                        <a:rPr sz="1950" b="0">
                          <a:solidFill>
                            <a:srgbClr val="111111"/>
                          </a:solidFill>
                          <a:latin typeface="Noto Sans"/>
                          <a:ea typeface="Noto Sans"/>
                          <a:cs typeface="Noto Sans"/>
                        </a:rPr>
                        <a:t>79.6</a:t>
                      </a:r>
                    </a:p>
                  </a:txBody>
                  <a:tcPr marL="91440" marR="91440" marT="45720" marB="45720">
                    <a:lnR w="9525">
                      <a:solidFill>
                        <a:srgbClr val="CCCCCC"/>
                      </a:solidFill>
                      <a:prstDash val="solid"/>
                    </a:lnR>
                    <a:lnB w="9525">
                      <a:solidFill>
                        <a:srgbClr val="CCCCCC"/>
                      </a:solidFill>
                      <a:prstDash val="solid"/>
                    </a:lnB>
                    <a:solidFill>
                      <a:srgbClr val="F4F2EE"/>
                    </a:solidFill>
                  </a:tcPr>
                </a:tc>
              </a:tr>
            </a:tbl>
          </a:graphicData>
        </a:graphic>
      </p:graphicFrame>
      <p:sp>
        <p:nvSpPr>
          <p:cNvPr id="6" name="">
            <a:extLst xmlns:a="http://schemas.openxmlformats.org/drawingml/2006/main">
              <a:ext uri="{FF2B5EF4-FFF2-40B4-BE49-F238E27FC236}">
                <a16:creationId xmlns:a16="http://schemas.microsoft.com/office/drawing/2014/main" id="{53A44D39-BACB-4036-929E-B5A38EC69D99}"/>
              </a:ext>
            </a:extLst>
          </p:cNvPr>
          <p:cNvSpPr>
            <a:spLocks xmlns:a="http://schemas.openxmlformats.org/drawingml/2006/main" noGrp="1"/>
          </p:cNvSpPr>
          <p:nvPr/>
        </p:nvSpPr>
        <p:spPr>
          <a:xfrm xmlns:a="http://schemas.openxmlformats.org/drawingml/2006/main">
            <a:off x="571500" y="61531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44444"/>
                </a:solidFill>
                <a:latin typeface="Noto Sans"/>
                <a:ea typeface="Noto Sans"/>
                <a:cs typeface="Noto Sans"/>
              </a:defRPr>
            </a:defPPr>
            <a:lvl1pPr>
              <a:defRPr sz="1125" b="0">
                <a:solidFill>
                  <a:srgbClr val="444444"/>
                </a:solidFill>
                <a:latin typeface="Noto Sans"/>
                <a:ea typeface="Noto Sans"/>
                <a:cs typeface="Noto Sans"/>
              </a:defRPr>
            </a:lvl1pPr>
            <a:lvl2pPr>
              <a:defRPr sz="1125" b="0">
                <a:solidFill>
                  <a:srgbClr val="444444"/>
                </a:solidFill>
                <a:latin typeface="Noto Sans"/>
                <a:ea typeface="Noto Sans"/>
                <a:cs typeface="Noto Sans"/>
              </a:defRPr>
            </a:lvl2pPr>
            <a:lvl3pPr>
              <a:defRPr sz="1125" b="0">
                <a:solidFill>
                  <a:srgbClr val="444444"/>
                </a:solidFill>
                <a:latin typeface="Noto Sans"/>
                <a:ea typeface="Noto Sans"/>
                <a:cs typeface="Noto Sans"/>
              </a:defRPr>
            </a:lvl3pPr>
            <a:lvl4pPr>
              <a:defRPr sz="1125" b="0">
                <a:solidFill>
                  <a:srgbClr val="444444"/>
                </a:solidFill>
                <a:latin typeface="Noto Sans"/>
                <a:ea typeface="Noto Sans"/>
                <a:cs typeface="Noto Sans"/>
              </a:defRPr>
            </a:lvl4pPr>
            <a:lvl5pPr>
              <a:defRPr sz="1125" b="0">
                <a:solidFill>
                  <a:srgbClr val="444444"/>
                </a:solidFill>
                <a:latin typeface="Noto Sans"/>
                <a:ea typeface="Noto Sans"/>
                <a:cs typeface="Noto Sans"/>
              </a:defRPr>
            </a:lvl5pPr>
            <a:lvl6pPr>
              <a:defRPr sz="1125" b="0">
                <a:solidFill>
                  <a:srgbClr val="444444"/>
                </a:solidFill>
                <a:latin typeface="Noto Sans"/>
                <a:ea typeface="Noto Sans"/>
                <a:cs typeface="Noto Sans"/>
              </a:defRPr>
            </a:lvl6pPr>
            <a:lvl7pPr>
              <a:defRPr sz="1125" b="0">
                <a:solidFill>
                  <a:srgbClr val="444444"/>
                </a:solidFill>
                <a:latin typeface="Noto Sans"/>
                <a:ea typeface="Noto Sans"/>
                <a:cs typeface="Noto Sans"/>
              </a:defRPr>
            </a:lvl7pPr>
            <a:lvl8pPr>
              <a:defRPr sz="1125" b="0">
                <a:solidFill>
                  <a:srgbClr val="444444"/>
                </a:solidFill>
                <a:latin typeface="Noto Sans"/>
                <a:ea typeface="Noto Sans"/>
                <a:cs typeface="Noto Sans"/>
              </a:defRPr>
            </a:lvl8pPr>
            <a:lvl9pPr>
              <a:defRPr sz="1125" b="0">
                <a:solidFill>
                  <a:srgbClr val="444444"/>
                </a:solidFill>
                <a:latin typeface="Noto Sans"/>
                <a:ea typeface="Noto Sans"/>
                <a:cs typeface="Noto Sans"/>
              </a:defRPr>
            </a:lvl9pPr>
          </a:lstStyle>
          <a:p xmlns:a="http://schemas.openxmlformats.org/drawingml/2006/main">
            <a:pPr>
              <a:defRPr sz="1125" b="0">
                <a:solidFill>
                  <a:srgbClr val="444444"/>
                </a:solidFill>
                <a:latin typeface="Noto Sans"/>
                <a:ea typeface="Noto Sans"/>
                <a:cs typeface="Noto Sans"/>
              </a:defRPr>
            </a:pPr>
            <a:r>
              <a:rPr sz="1125" b="0">
                <a:solidFill>
                  <a:srgbClr val="444444"/>
                </a:solidFill>
                <a:latin typeface="Noto Sans"/>
                <a:ea typeface="Noto Sans"/>
                <a:cs typeface="Noto Sans"/>
              </a:rPr>
              <a:t>Pooled demand-fill CDF. Lower means closer, not proof of an equivalent experiment.</a:t>
            </a:r>
          </a:p>
        </p:txBody>
      </p:sp>
    </p:spTree>
    <p:extLst>
      <p:ext uri="{BB962C8B-B14F-4D97-AF65-F5344CB8AC3E}">
        <p14:creationId xmlns:p14="http://schemas.microsoft.com/office/powerpoint/2010/main" val="1528204192"/>
      </p:ext>
    </p:extLst>
  </p:cSld>
</p:sld>
</file>

<file path=ppt/slides/slide10.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0883A41-3D39-48D7-9F3E-3A4C9F0E57F2}"/>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9DB02B60-9028-4690-A43B-C534F7B1881B}"/>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Why do accesses and misses look alike?</a:t>
            </a:r>
          </a:p>
        </p:txBody>
      </p:sp>
      <p:sp>
        <p:nvSpPr>
          <p:cNvPr id="3" name="">
            <a:extLst xmlns:a="http://schemas.openxmlformats.org/drawingml/2006/main">
              <a:ext uri="{FF2B5EF4-FFF2-40B4-BE49-F238E27FC236}">
                <a16:creationId xmlns:a16="http://schemas.microsoft.com/office/drawing/2014/main" id="{6BD86281-10AB-48A2-99D8-5ACAC5ACBBD3}"/>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015065C9-41A5-4387-A48D-81838FD1FA4E}"/>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Iason Zakynthinos / Advanced Computer Architecture                                      10 / 15</a:t>
            </a:r>
          </a:p>
        </p:txBody>
      </p:sp>
      <p:sp>
        <p:nvSpPr>
          <p:cNvPr id="5" name="">
            <a:extLst xmlns:a="http://schemas.openxmlformats.org/drawingml/2006/main">
              <a:ext uri="{FF2B5EF4-FFF2-40B4-BE49-F238E27FC236}">
                <a16:creationId xmlns:a16="http://schemas.microsoft.com/office/drawing/2014/main" id="{E592A03C-72A0-4B18-8656-42E2AB1C5845}"/>
              </a:ext>
            </a:extLst>
          </p:cNvPr>
          <p:cNvSpPr>
            <a:spLocks xmlns:a="http://schemas.openxmlformats.org/drawingml/2006/main" noGrp="1"/>
          </p:cNvSpPr>
          <p:nvPr/>
        </p:nvSpPr>
        <p:spPr>
          <a:xfrm xmlns:a="http://schemas.openxmlformats.org/drawingml/2006/main">
            <a:off x="571500" y="1762125"/>
            <a:ext cx="10953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75" b="1">
                <a:solidFill>
                  <a:srgbClr val="111111"/>
                </a:solidFill>
                <a:latin typeface="Noto Sans"/>
                <a:ea typeface="Noto Sans"/>
                <a:cs typeface="Noto Sans"/>
              </a:defRPr>
            </a:defPPr>
            <a:lvl1pPr>
              <a:defRPr sz="4875" b="1">
                <a:solidFill>
                  <a:srgbClr val="111111"/>
                </a:solidFill>
                <a:latin typeface="Noto Sans"/>
                <a:ea typeface="Noto Sans"/>
                <a:cs typeface="Noto Sans"/>
              </a:defRPr>
            </a:lvl1pPr>
            <a:lvl2pPr>
              <a:defRPr sz="4875" b="1">
                <a:solidFill>
                  <a:srgbClr val="111111"/>
                </a:solidFill>
                <a:latin typeface="Noto Sans"/>
                <a:ea typeface="Noto Sans"/>
                <a:cs typeface="Noto Sans"/>
              </a:defRPr>
            </a:lvl2pPr>
            <a:lvl3pPr>
              <a:defRPr sz="4875" b="1">
                <a:solidFill>
                  <a:srgbClr val="111111"/>
                </a:solidFill>
                <a:latin typeface="Noto Sans"/>
                <a:ea typeface="Noto Sans"/>
                <a:cs typeface="Noto Sans"/>
              </a:defRPr>
            </a:lvl3pPr>
            <a:lvl4pPr>
              <a:defRPr sz="4875" b="1">
                <a:solidFill>
                  <a:srgbClr val="111111"/>
                </a:solidFill>
                <a:latin typeface="Noto Sans"/>
                <a:ea typeface="Noto Sans"/>
                <a:cs typeface="Noto Sans"/>
              </a:defRPr>
            </a:lvl4pPr>
            <a:lvl5pPr>
              <a:defRPr sz="4875" b="1">
                <a:solidFill>
                  <a:srgbClr val="111111"/>
                </a:solidFill>
                <a:latin typeface="Noto Sans"/>
                <a:ea typeface="Noto Sans"/>
                <a:cs typeface="Noto Sans"/>
              </a:defRPr>
            </a:lvl5pPr>
            <a:lvl6pPr>
              <a:defRPr sz="4875" b="1">
                <a:solidFill>
                  <a:srgbClr val="111111"/>
                </a:solidFill>
                <a:latin typeface="Noto Sans"/>
                <a:ea typeface="Noto Sans"/>
                <a:cs typeface="Noto Sans"/>
              </a:defRPr>
            </a:lvl6pPr>
            <a:lvl7pPr>
              <a:defRPr sz="4875" b="1">
                <a:solidFill>
                  <a:srgbClr val="111111"/>
                </a:solidFill>
                <a:latin typeface="Noto Sans"/>
                <a:ea typeface="Noto Sans"/>
                <a:cs typeface="Noto Sans"/>
              </a:defRPr>
            </a:lvl7pPr>
            <a:lvl8pPr>
              <a:defRPr sz="4875" b="1">
                <a:solidFill>
                  <a:srgbClr val="111111"/>
                </a:solidFill>
                <a:latin typeface="Noto Sans"/>
                <a:ea typeface="Noto Sans"/>
                <a:cs typeface="Noto Sans"/>
              </a:defRPr>
            </a:lvl8pPr>
            <a:lvl9pPr>
              <a:defRPr sz="4875" b="1">
                <a:solidFill>
                  <a:srgbClr val="111111"/>
                </a:solidFill>
                <a:latin typeface="Noto Sans"/>
                <a:ea typeface="Noto Sans"/>
                <a:cs typeface="Noto Sans"/>
              </a:defRPr>
            </a:lvl9pPr>
          </a:lstStyle>
          <a:p xmlns:a="http://schemas.openxmlformats.org/drawingml/2006/main">
            <a:pPr>
              <a:defRPr sz="4875" b="1">
                <a:solidFill>
                  <a:srgbClr val="111111"/>
                </a:solidFill>
                <a:latin typeface="Noto Sans"/>
                <a:ea typeface="Noto Sans"/>
                <a:cs typeface="Noto Sans"/>
              </a:defRPr>
            </a:pPr>
            <a:r>
              <a:rPr sz="4875" b="1">
                <a:solidFill>
                  <a:srgbClr val="111111"/>
                </a:solidFill>
                <a:latin typeface="Noto Sans"/>
                <a:ea typeface="Noto Sans"/>
                <a:cs typeface="Noto Sans"/>
              </a:rPr>
              <a:t>168.8M accesses</a:t>
            </a:r>
          </a:p>
          <a:p xmlns:a="http://schemas.openxmlformats.org/drawingml/2006/main">
            <a:pPr>
              <a:defRPr sz="4875" b="1">
                <a:solidFill>
                  <a:srgbClr val="111111"/>
                </a:solidFill>
                <a:latin typeface="Noto Sans"/>
                <a:ea typeface="Noto Sans"/>
                <a:cs typeface="Noto Sans"/>
              </a:defRPr>
            </a:pPr>
            <a:r>
              <a:rPr sz="4875" b="1">
                <a:solidFill>
                  <a:srgbClr val="111111"/>
                </a:solidFill>
                <a:latin typeface="Noto Sans"/>
                <a:ea typeface="Noto Sans"/>
                <a:cs typeface="Noto Sans"/>
              </a:rPr>
              <a:t>7.9M fills</a:t>
            </a:r>
          </a:p>
        </p:txBody>
      </p:sp>
      <p:sp>
        <p:nvSpPr>
          <p:cNvPr id="6" name="">
            <a:extLst xmlns:a="http://schemas.openxmlformats.org/drawingml/2006/main">
              <a:ext uri="{FF2B5EF4-FFF2-40B4-BE49-F238E27FC236}">
                <a16:creationId xmlns:a16="http://schemas.microsoft.com/office/drawing/2014/main" id="{3D03F466-03A8-4629-A550-D450C172A9BA}"/>
              </a:ext>
            </a:extLst>
          </p:cNvPr>
          <p:cNvSpPr>
            <a:spLocks xmlns:a="http://schemas.openxmlformats.org/drawingml/2006/main" noGrp="1"/>
          </p:cNvSpPr>
          <p:nvPr/>
        </p:nvSpPr>
        <p:spPr>
          <a:xfrm xmlns:a="http://schemas.openxmlformats.org/drawingml/2006/main">
            <a:off x="571500" y="4000500"/>
            <a:ext cx="1085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11111"/>
                </a:solidFill>
                <a:latin typeface="Noto Sans"/>
                <a:ea typeface="Noto Sans"/>
                <a:cs typeface="Noto Sans"/>
              </a:defRPr>
            </a:defPPr>
            <a:lvl1pPr>
              <a:defRPr sz="2250" b="0">
                <a:solidFill>
                  <a:srgbClr val="111111"/>
                </a:solidFill>
                <a:latin typeface="Noto Sans"/>
                <a:ea typeface="Noto Sans"/>
                <a:cs typeface="Noto Sans"/>
              </a:defRPr>
            </a:lvl1pPr>
            <a:lvl2pPr>
              <a:defRPr sz="2250" b="0">
                <a:solidFill>
                  <a:srgbClr val="111111"/>
                </a:solidFill>
                <a:latin typeface="Noto Sans"/>
                <a:ea typeface="Noto Sans"/>
                <a:cs typeface="Noto Sans"/>
              </a:defRPr>
            </a:lvl2pPr>
            <a:lvl3pPr>
              <a:defRPr sz="2250" b="0">
                <a:solidFill>
                  <a:srgbClr val="111111"/>
                </a:solidFill>
                <a:latin typeface="Noto Sans"/>
                <a:ea typeface="Noto Sans"/>
                <a:cs typeface="Noto Sans"/>
              </a:defRPr>
            </a:lvl3pPr>
            <a:lvl4pPr>
              <a:defRPr sz="2250" b="0">
                <a:solidFill>
                  <a:srgbClr val="111111"/>
                </a:solidFill>
                <a:latin typeface="Noto Sans"/>
                <a:ea typeface="Noto Sans"/>
                <a:cs typeface="Noto Sans"/>
              </a:defRPr>
            </a:lvl4pPr>
            <a:lvl5pPr>
              <a:defRPr sz="2250" b="0">
                <a:solidFill>
                  <a:srgbClr val="111111"/>
                </a:solidFill>
                <a:latin typeface="Noto Sans"/>
                <a:ea typeface="Noto Sans"/>
                <a:cs typeface="Noto Sans"/>
              </a:defRPr>
            </a:lvl5pPr>
            <a:lvl6pPr>
              <a:defRPr sz="2250" b="0">
                <a:solidFill>
                  <a:srgbClr val="111111"/>
                </a:solidFill>
                <a:latin typeface="Noto Sans"/>
                <a:ea typeface="Noto Sans"/>
                <a:cs typeface="Noto Sans"/>
              </a:defRPr>
            </a:lvl6pPr>
            <a:lvl7pPr>
              <a:defRPr sz="2250" b="0">
                <a:solidFill>
                  <a:srgbClr val="111111"/>
                </a:solidFill>
                <a:latin typeface="Noto Sans"/>
                <a:ea typeface="Noto Sans"/>
                <a:cs typeface="Noto Sans"/>
              </a:defRPr>
            </a:lvl7pPr>
            <a:lvl8pPr>
              <a:defRPr sz="2250" b="0">
                <a:solidFill>
                  <a:srgbClr val="111111"/>
                </a:solidFill>
                <a:latin typeface="Noto Sans"/>
                <a:ea typeface="Noto Sans"/>
                <a:cs typeface="Noto Sans"/>
              </a:defRPr>
            </a:lvl8pPr>
            <a:lvl9pPr>
              <a:defRPr sz="2250" b="0">
                <a:solidFill>
                  <a:srgbClr val="111111"/>
                </a:solidFill>
                <a:latin typeface="Noto Sans"/>
                <a:ea typeface="Noto Sans"/>
                <a:cs typeface="Noto Sans"/>
              </a:defRPr>
            </a:lvl9pPr>
          </a:lstStyle>
          <a:p xmlns:a="http://schemas.openxmlformats.org/drawingml/2006/main">
            <a:pPr>
              <a:defRPr sz="2250" b="0">
                <a:solidFill>
                  <a:srgbClr val="111111"/>
                </a:solidFill>
                <a:latin typeface="Noto Sans"/>
                <a:ea typeface="Noto Sans"/>
                <a:cs typeface="Noto Sans"/>
              </a:defRPr>
            </a:pPr>
            <a:r>
              <a:rPr sz="2250" b="0">
                <a:solidFill>
                  <a:srgbClr val="111111"/>
                </a:solidFill>
                <a:latin typeface="Noto Sans"/>
                <a:ea typeface="Noto Sans"/>
                <a:cs typeface="Noto Sans"/>
              </a:rPr>
              <a:t>Equal line coverage does not mean equal request counts.</a:t>
            </a:r>
          </a:p>
          <a:p xmlns:a="http://schemas.openxmlformats.org/drawingml/2006/main">
            <a:r>
              <a:t/>
            </a:r>
          </a:p>
          <a:p xmlns:a="http://schemas.openxmlformats.org/drawingml/2006/main">
            <a:pPr>
              <a:defRPr sz="2250" b="0">
                <a:solidFill>
                  <a:srgbClr val="111111"/>
                </a:solidFill>
                <a:latin typeface="Noto Sans"/>
                <a:ea typeface="Noto Sans"/>
                <a:cs typeface="Noto Sans"/>
              </a:defRPr>
            </a:pPr>
            <a:r>
              <a:rPr sz="2250" b="0">
                <a:solidFill>
                  <a:srgbClr val="111111"/>
                </a:solidFill>
                <a:latin typeface="Noto Sans"/>
                <a:ea typeface="Noto Sans"/>
                <a:cs typeface="Noto Sans"/>
              </a:rPr>
              <a:t>The CDF measures distinct lines, not miss rate.</a:t>
            </a:r>
          </a:p>
        </p:txBody>
      </p:sp>
    </p:spTree>
    <p:extLst>
      <p:ext uri="{BB962C8B-B14F-4D97-AF65-F5344CB8AC3E}">
        <p14:creationId xmlns:p14="http://schemas.microsoft.com/office/powerpoint/2010/main" val="115010225"/>
      </p:ext>
    </p:extLst>
  </p:cSld>
</p:sld>
</file>

<file path=ppt/slides/slide11.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81C5438-7FA4-41C1-ADBA-A26E89AFBB32}"/>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8714A1C1-C124-4F20-BB6B-FACAF4979C23}"/>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Declared controls and exploratory results</a:t>
            </a:r>
          </a:p>
        </p:txBody>
      </p:sp>
      <p:sp>
        <p:nvSpPr>
          <p:cNvPr id="3" name="">
            <a:extLst xmlns:a="http://schemas.openxmlformats.org/drawingml/2006/main">
              <a:ext uri="{FF2B5EF4-FFF2-40B4-BE49-F238E27FC236}">
                <a16:creationId xmlns:a16="http://schemas.microsoft.com/office/drawing/2014/main" id="{9CDEE6B0-1637-4904-BA6A-B83ECA21C8C1}"/>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16D8E5F0-3210-40E0-9E0F-4100FC8ADFE4}"/>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Iason Zakynthinos / Advanced Computer Architecture                                      11 / 15</a:t>
            </a:r>
          </a:p>
        </p:txBody>
      </p:sp>
      <p:pic>
        <p:nvPicPr>
          <p:cNvPr id="5" name="">
            <a:extLst xmlns:a="http://schemas.openxmlformats.org/drawingml/2006/main">
              <a:ext uri="{FF2B5EF4-FFF2-40B4-BE49-F238E27FC236}">
                <a16:creationId xmlns:a16="http://schemas.microsoft.com/office/drawing/2014/main" id="{9C98373D-18A0-4F04-B491-213E4DB97163}"/>
              </a:ext>
            </a:extLst>
          </p:cNvPr>
          <p:cNvPicPr>
            <a:picLocks xmlns:a="http://schemas.openxmlformats.org/drawingml/2006/main" noChangeAspect="1"/>
          </p:cNvPicPr>
          <p:nvPr/>
        </p:nvPicPr>
        <p:blipFill>
          <a:blip xmlns:r="http://schemas.openxmlformats.org/officeDocument/2006/relationships" xmlns:a="http://schemas.openxmlformats.org/drawingml/2006/main" r:embed="R4fed282c456c4597"/>
          <a:stretch xmlns:a="http://schemas.openxmlformats.org/drawingml/2006/main"/>
        </p:blipFill>
        <p:spPr>
          <a:xfrm xmlns:a="http://schemas.openxmlformats.org/drawingml/2006/main">
            <a:off x="2391833" y="1428750"/>
            <a:ext cx="7408333" cy="476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42C5A28-DCB1-4C95-B0D2-28A57A0D78DE}"/>
              </a:ext>
            </a:extLst>
          </p:cNvPr>
          <p:cNvSpPr>
            <a:spLocks xmlns:a="http://schemas.openxmlformats.org/drawingml/2006/main" noGrp="1"/>
          </p:cNvSpPr>
          <p:nvPr/>
        </p:nvSpPr>
        <p:spPr>
          <a:xfrm xmlns:a="http://schemas.openxmlformats.org/drawingml/2006/main">
            <a:off x="571500" y="61531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44444"/>
                </a:solidFill>
                <a:latin typeface="Noto Sans"/>
                <a:ea typeface="Noto Sans"/>
                <a:cs typeface="Noto Sans"/>
              </a:defRPr>
            </a:defPPr>
            <a:lvl1pPr>
              <a:defRPr sz="1125" b="0">
                <a:solidFill>
                  <a:srgbClr val="444444"/>
                </a:solidFill>
                <a:latin typeface="Noto Sans"/>
                <a:ea typeface="Noto Sans"/>
                <a:cs typeface="Noto Sans"/>
              </a:defRPr>
            </a:lvl1pPr>
            <a:lvl2pPr>
              <a:defRPr sz="1125" b="0">
                <a:solidFill>
                  <a:srgbClr val="444444"/>
                </a:solidFill>
                <a:latin typeface="Noto Sans"/>
                <a:ea typeface="Noto Sans"/>
                <a:cs typeface="Noto Sans"/>
              </a:defRPr>
            </a:lvl2pPr>
            <a:lvl3pPr>
              <a:defRPr sz="1125" b="0">
                <a:solidFill>
                  <a:srgbClr val="444444"/>
                </a:solidFill>
                <a:latin typeface="Noto Sans"/>
                <a:ea typeface="Noto Sans"/>
                <a:cs typeface="Noto Sans"/>
              </a:defRPr>
            </a:lvl3pPr>
            <a:lvl4pPr>
              <a:defRPr sz="1125" b="0">
                <a:solidFill>
                  <a:srgbClr val="444444"/>
                </a:solidFill>
                <a:latin typeface="Noto Sans"/>
                <a:ea typeface="Noto Sans"/>
                <a:cs typeface="Noto Sans"/>
              </a:defRPr>
            </a:lvl4pPr>
            <a:lvl5pPr>
              <a:defRPr sz="1125" b="0">
                <a:solidFill>
                  <a:srgbClr val="444444"/>
                </a:solidFill>
                <a:latin typeface="Noto Sans"/>
                <a:ea typeface="Noto Sans"/>
                <a:cs typeface="Noto Sans"/>
              </a:defRPr>
            </a:lvl5pPr>
            <a:lvl6pPr>
              <a:defRPr sz="1125" b="0">
                <a:solidFill>
                  <a:srgbClr val="444444"/>
                </a:solidFill>
                <a:latin typeface="Noto Sans"/>
                <a:ea typeface="Noto Sans"/>
                <a:cs typeface="Noto Sans"/>
              </a:defRPr>
            </a:lvl6pPr>
            <a:lvl7pPr>
              <a:defRPr sz="1125" b="0">
                <a:solidFill>
                  <a:srgbClr val="444444"/>
                </a:solidFill>
                <a:latin typeface="Noto Sans"/>
                <a:ea typeface="Noto Sans"/>
                <a:cs typeface="Noto Sans"/>
              </a:defRPr>
            </a:lvl7pPr>
            <a:lvl8pPr>
              <a:defRPr sz="1125" b="0">
                <a:solidFill>
                  <a:srgbClr val="444444"/>
                </a:solidFill>
                <a:latin typeface="Noto Sans"/>
                <a:ea typeface="Noto Sans"/>
                <a:cs typeface="Noto Sans"/>
              </a:defRPr>
            </a:lvl8pPr>
            <a:lvl9pPr>
              <a:defRPr sz="1125" b="0">
                <a:solidFill>
                  <a:srgbClr val="444444"/>
                </a:solidFill>
                <a:latin typeface="Noto Sans"/>
                <a:ea typeface="Noto Sans"/>
                <a:cs typeface="Noto Sans"/>
              </a:defRPr>
            </a:lvl9pPr>
          </a:lstStyle>
          <a:p xmlns:a="http://schemas.openxmlformats.org/drawingml/2006/main">
            <a:pPr>
              <a:defRPr sz="1125" b="0">
                <a:solidFill>
                  <a:srgbClr val="444444"/>
                </a:solidFill>
                <a:latin typeface="Noto Sans"/>
                <a:ea typeface="Noto Sans"/>
                <a:cs typeface="Noto Sans"/>
              </a:defRPr>
            </a:pPr>
            <a:r>
              <a:rPr sz="1125" b="0">
                <a:solidFill>
                  <a:srgbClr val="444444"/>
                </a:solidFill>
                <a:latin typeface="Noto Sans"/>
                <a:ea typeface="Noto Sans"/>
                <a:cs typeface="Noto Sans"/>
              </a:rPr>
              <a:t>Reference-selected, not independent replication. Steps: 14 / 21. All outcomes retained.</a:t>
            </a:r>
          </a:p>
        </p:txBody>
      </p:sp>
    </p:spTree>
    <p:extLst>
      <p:ext uri="{BB962C8B-B14F-4D97-AF65-F5344CB8AC3E}">
        <p14:creationId xmlns:p14="http://schemas.microsoft.com/office/powerpoint/2010/main" val="532593284"/>
      </p:ext>
    </p:extLst>
  </p:cSld>
</p:sld>
</file>

<file path=ppt/slides/slide12.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52109C7-3706-401E-B999-833458C9030D}"/>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724CC078-CB72-4656-8279-629D92CE418A}"/>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The same comparison in SimCXL</a:t>
            </a:r>
          </a:p>
        </p:txBody>
      </p:sp>
      <p:sp>
        <p:nvSpPr>
          <p:cNvPr id="3" name="">
            <a:extLst xmlns:a="http://schemas.openxmlformats.org/drawingml/2006/main">
              <a:ext uri="{FF2B5EF4-FFF2-40B4-BE49-F238E27FC236}">
                <a16:creationId xmlns:a16="http://schemas.microsoft.com/office/drawing/2014/main" id="{8128776C-5B81-4CE7-BA26-1A89D5476372}"/>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95690F8C-82E8-4FBE-B69D-DB801545BA1C}"/>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Iason Zakynthinos / Advanced Computer Architecture                                      12 / 15</a:t>
            </a:r>
          </a:p>
        </p:txBody>
      </p:sp>
      <p:pic>
        <p:nvPicPr>
          <p:cNvPr id="5" name="">
            <a:extLst xmlns:a="http://schemas.openxmlformats.org/drawingml/2006/main">
              <a:ext uri="{FF2B5EF4-FFF2-40B4-BE49-F238E27FC236}">
                <a16:creationId xmlns:a16="http://schemas.microsoft.com/office/drawing/2014/main" id="{04EAC0A6-45E8-4D9D-9F64-E43E6310A706}"/>
              </a:ext>
            </a:extLst>
          </p:cNvPr>
          <p:cNvPicPr>
            <a:picLocks xmlns:a="http://schemas.openxmlformats.org/drawingml/2006/main" noChangeAspect="1"/>
          </p:cNvPicPr>
          <p:nvPr/>
        </p:nvPicPr>
        <p:blipFill>
          <a:blip xmlns:r="http://schemas.openxmlformats.org/officeDocument/2006/relationships" xmlns:a="http://schemas.openxmlformats.org/drawingml/2006/main" r:embed="R3cd8574766a34868"/>
          <a:stretch xmlns:a="http://schemas.openxmlformats.org/drawingml/2006/main"/>
        </p:blipFill>
        <p:spPr>
          <a:xfrm xmlns:a="http://schemas.openxmlformats.org/drawingml/2006/main">
            <a:off x="2391833" y="1428750"/>
            <a:ext cx="7408333" cy="4762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047BE46-2012-4B7D-B863-9975F1291AD4}"/>
              </a:ext>
            </a:extLst>
          </p:cNvPr>
          <p:cNvSpPr>
            <a:spLocks xmlns:a="http://schemas.openxmlformats.org/drawingml/2006/main" noGrp="1"/>
          </p:cNvSpPr>
          <p:nvPr/>
        </p:nvSpPr>
        <p:spPr>
          <a:xfrm xmlns:a="http://schemas.openxmlformats.org/drawingml/2006/main">
            <a:off x="571500" y="615315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44444"/>
                </a:solidFill>
                <a:latin typeface="Noto Sans"/>
                <a:ea typeface="Noto Sans"/>
                <a:cs typeface="Noto Sans"/>
              </a:defRPr>
            </a:defPPr>
            <a:lvl1pPr>
              <a:defRPr sz="1125" b="0">
                <a:solidFill>
                  <a:srgbClr val="444444"/>
                </a:solidFill>
                <a:latin typeface="Noto Sans"/>
                <a:ea typeface="Noto Sans"/>
                <a:cs typeface="Noto Sans"/>
              </a:defRPr>
            </a:lvl1pPr>
            <a:lvl2pPr>
              <a:defRPr sz="1125" b="0">
                <a:solidFill>
                  <a:srgbClr val="444444"/>
                </a:solidFill>
                <a:latin typeface="Noto Sans"/>
                <a:ea typeface="Noto Sans"/>
                <a:cs typeface="Noto Sans"/>
              </a:defRPr>
            </a:lvl2pPr>
            <a:lvl3pPr>
              <a:defRPr sz="1125" b="0">
                <a:solidFill>
                  <a:srgbClr val="444444"/>
                </a:solidFill>
                <a:latin typeface="Noto Sans"/>
                <a:ea typeface="Noto Sans"/>
                <a:cs typeface="Noto Sans"/>
              </a:defRPr>
            </a:lvl3pPr>
            <a:lvl4pPr>
              <a:defRPr sz="1125" b="0">
                <a:solidFill>
                  <a:srgbClr val="444444"/>
                </a:solidFill>
                <a:latin typeface="Noto Sans"/>
                <a:ea typeface="Noto Sans"/>
                <a:cs typeface="Noto Sans"/>
              </a:defRPr>
            </a:lvl4pPr>
            <a:lvl5pPr>
              <a:defRPr sz="1125" b="0">
                <a:solidFill>
                  <a:srgbClr val="444444"/>
                </a:solidFill>
                <a:latin typeface="Noto Sans"/>
                <a:ea typeface="Noto Sans"/>
                <a:cs typeface="Noto Sans"/>
              </a:defRPr>
            </a:lvl5pPr>
            <a:lvl6pPr>
              <a:defRPr sz="1125" b="0">
                <a:solidFill>
                  <a:srgbClr val="444444"/>
                </a:solidFill>
                <a:latin typeface="Noto Sans"/>
                <a:ea typeface="Noto Sans"/>
                <a:cs typeface="Noto Sans"/>
              </a:defRPr>
            </a:lvl6pPr>
            <a:lvl7pPr>
              <a:defRPr sz="1125" b="0">
                <a:solidFill>
                  <a:srgbClr val="444444"/>
                </a:solidFill>
                <a:latin typeface="Noto Sans"/>
                <a:ea typeface="Noto Sans"/>
                <a:cs typeface="Noto Sans"/>
              </a:defRPr>
            </a:lvl7pPr>
            <a:lvl8pPr>
              <a:defRPr sz="1125" b="0">
                <a:solidFill>
                  <a:srgbClr val="444444"/>
                </a:solidFill>
                <a:latin typeface="Noto Sans"/>
                <a:ea typeface="Noto Sans"/>
                <a:cs typeface="Noto Sans"/>
              </a:defRPr>
            </a:lvl8pPr>
            <a:lvl9pPr>
              <a:defRPr sz="1125" b="0">
                <a:solidFill>
                  <a:srgbClr val="444444"/>
                </a:solidFill>
                <a:latin typeface="Noto Sans"/>
                <a:ea typeface="Noto Sans"/>
                <a:cs typeface="Noto Sans"/>
              </a:defRPr>
            </a:lvl9pPr>
          </a:lstStyle>
          <a:p xmlns:a="http://schemas.openxmlformats.org/drawingml/2006/main">
            <a:pPr>
              <a:defRPr sz="1125" b="0">
                <a:solidFill>
                  <a:srgbClr val="444444"/>
                </a:solidFill>
                <a:latin typeface="Noto Sans"/>
                <a:ea typeface="Noto Sans"/>
                <a:cs typeface="Noto Sans"/>
              </a:defRPr>
            </a:pPr>
            <a:r>
              <a:rPr sz="1125" b="0">
                <a:solidFill>
                  <a:srgbClr val="444444"/>
                </a:solidFill>
                <a:latin typeface="Noto Sans"/>
                <a:ea typeface="Noto Sans"/>
                <a:cs typeface="Noto Sans"/>
              </a:rPr>
              <a:t>PR: complete · TC: complete · Snapshot resume: bounded validation passed, reboot untested.</a:t>
            </a:r>
          </a:p>
        </p:txBody>
      </p:sp>
    </p:spTree>
    <p:extLst>
      <p:ext uri="{BB962C8B-B14F-4D97-AF65-F5344CB8AC3E}">
        <p14:creationId xmlns:p14="http://schemas.microsoft.com/office/powerpoint/2010/main" val="659085180"/>
      </p:ext>
    </p:extLst>
  </p:cSld>
</p:sld>
</file>

<file path=ppt/slides/slide13.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C1F6050-9E70-42BB-BFFD-0E663C5AD61A}"/>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1010E64C-097D-43B7-A541-61AC432AE1E2}"/>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PAC / WAC and bounded trackers</a:t>
            </a:r>
          </a:p>
        </p:txBody>
      </p:sp>
      <p:sp>
        <p:nvSpPr>
          <p:cNvPr id="3" name="">
            <a:extLst xmlns:a="http://schemas.openxmlformats.org/drawingml/2006/main">
              <a:ext uri="{FF2B5EF4-FFF2-40B4-BE49-F238E27FC236}">
                <a16:creationId xmlns:a16="http://schemas.microsoft.com/office/drawing/2014/main" id="{3807466C-DC2B-4313-833A-F12C087B69B7}"/>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21CF81B9-35DC-4A8A-AB23-82010216AAB3}"/>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Iason Zakynthinos / Advanced Computer Architecture                                      13 / 15</a:t>
            </a:r>
          </a:p>
        </p:txBody>
      </p:sp>
      <p:pic>
        <p:nvPicPr>
          <p:cNvPr id="5" name="">
            <a:extLst xmlns:a="http://schemas.openxmlformats.org/drawingml/2006/main">
              <a:ext uri="{FF2B5EF4-FFF2-40B4-BE49-F238E27FC236}">
                <a16:creationId xmlns:a16="http://schemas.microsoft.com/office/drawing/2014/main" id="{A664C51A-52FB-4D5B-A1D9-63A44B124A91}"/>
              </a:ext>
            </a:extLst>
          </p:cNvPr>
          <p:cNvPicPr>
            <a:picLocks xmlns:a="http://schemas.openxmlformats.org/drawingml/2006/main" noChangeAspect="1"/>
          </p:cNvPicPr>
          <p:nvPr/>
        </p:nvPicPr>
        <p:blipFill>
          <a:blip xmlns:r="http://schemas.openxmlformats.org/officeDocument/2006/relationships" xmlns:a="http://schemas.openxmlformats.org/drawingml/2006/main" r:embed="R4f76e8e4cd6d4d71"/>
          <a:stretch xmlns:a="http://schemas.openxmlformats.org/drawingml/2006/main"/>
        </p:blipFill>
        <p:spPr>
          <a:xfrm xmlns:a="http://schemas.openxmlformats.org/drawingml/2006/main">
            <a:off x="523875" y="1576917"/>
            <a:ext cx="7524750" cy="418041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318270D-8052-4DEB-B4A1-6FEF37AE56BC}"/>
              </a:ext>
            </a:extLst>
          </p:cNvPr>
          <p:cNvSpPr>
            <a:spLocks xmlns:a="http://schemas.openxmlformats.org/drawingml/2006/main" noGrp="1"/>
          </p:cNvSpPr>
          <p:nvPr/>
        </p:nvSpPr>
        <p:spPr>
          <a:xfrm xmlns:a="http://schemas.openxmlformats.org/drawingml/2006/main">
            <a:off x="8286750" y="1809750"/>
            <a:ext cx="3286125"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11111"/>
                </a:solidFill>
                <a:latin typeface="Noto Sans"/>
                <a:ea typeface="Noto Sans"/>
                <a:cs typeface="Noto Sans"/>
              </a:defRPr>
            </a:defPPr>
            <a:lvl1pPr>
              <a:defRPr sz="1875" b="0">
                <a:solidFill>
                  <a:srgbClr val="111111"/>
                </a:solidFill>
                <a:latin typeface="Noto Sans"/>
                <a:ea typeface="Noto Sans"/>
                <a:cs typeface="Noto Sans"/>
              </a:defRPr>
            </a:lvl1pPr>
            <a:lvl2pPr>
              <a:defRPr sz="1875" b="0">
                <a:solidFill>
                  <a:srgbClr val="111111"/>
                </a:solidFill>
                <a:latin typeface="Noto Sans"/>
                <a:ea typeface="Noto Sans"/>
                <a:cs typeface="Noto Sans"/>
              </a:defRPr>
            </a:lvl2pPr>
            <a:lvl3pPr>
              <a:defRPr sz="1875" b="0">
                <a:solidFill>
                  <a:srgbClr val="111111"/>
                </a:solidFill>
                <a:latin typeface="Noto Sans"/>
                <a:ea typeface="Noto Sans"/>
                <a:cs typeface="Noto Sans"/>
              </a:defRPr>
            </a:lvl3pPr>
            <a:lvl4pPr>
              <a:defRPr sz="1875" b="0">
                <a:solidFill>
                  <a:srgbClr val="111111"/>
                </a:solidFill>
                <a:latin typeface="Noto Sans"/>
                <a:ea typeface="Noto Sans"/>
                <a:cs typeface="Noto Sans"/>
              </a:defRPr>
            </a:lvl4pPr>
            <a:lvl5pPr>
              <a:defRPr sz="1875" b="0">
                <a:solidFill>
                  <a:srgbClr val="111111"/>
                </a:solidFill>
                <a:latin typeface="Noto Sans"/>
                <a:ea typeface="Noto Sans"/>
                <a:cs typeface="Noto Sans"/>
              </a:defRPr>
            </a:lvl5pPr>
            <a:lvl6pPr>
              <a:defRPr sz="1875" b="0">
                <a:solidFill>
                  <a:srgbClr val="111111"/>
                </a:solidFill>
                <a:latin typeface="Noto Sans"/>
                <a:ea typeface="Noto Sans"/>
                <a:cs typeface="Noto Sans"/>
              </a:defRPr>
            </a:lvl6pPr>
            <a:lvl7pPr>
              <a:defRPr sz="1875" b="0">
                <a:solidFill>
                  <a:srgbClr val="111111"/>
                </a:solidFill>
                <a:latin typeface="Noto Sans"/>
                <a:ea typeface="Noto Sans"/>
                <a:cs typeface="Noto Sans"/>
              </a:defRPr>
            </a:lvl7pPr>
            <a:lvl8pPr>
              <a:defRPr sz="1875" b="0">
                <a:solidFill>
                  <a:srgbClr val="111111"/>
                </a:solidFill>
                <a:latin typeface="Noto Sans"/>
                <a:ea typeface="Noto Sans"/>
                <a:cs typeface="Noto Sans"/>
              </a:defRPr>
            </a:lvl8pPr>
            <a:lvl9pPr>
              <a:defRPr sz="1875" b="0">
                <a:solidFill>
                  <a:srgbClr val="111111"/>
                </a:solidFill>
                <a:latin typeface="Noto Sans"/>
                <a:ea typeface="Noto Sans"/>
                <a:cs typeface="Noto Sans"/>
              </a:defRPr>
            </a:lvl9pPr>
          </a:lstStyle>
          <a:p xmlns:a="http://schemas.openxmlformats.org/drawingml/2006/main">
            <a:pPr>
              <a:defRPr sz="1875" b="0">
                <a:solidFill>
                  <a:srgbClr val="111111"/>
                </a:solidFill>
                <a:latin typeface="Noto Sans"/>
                <a:ea typeface="Noto Sans"/>
                <a:cs typeface="Noto Sans"/>
              </a:defRPr>
            </a:pPr>
            <a:r>
              <a:rPr sz="1875" b="0">
                <a:solidFill>
                  <a:srgbClr val="111111"/>
                </a:solidFill>
                <a:latin typeface="Noto Sans"/>
                <a:ea typeface="Noto Sans"/>
                <a:cs typeface="Noto Sans"/>
              </a:rPr>
              <a:t>Exact counters:</a:t>
            </a:r>
          </a:p>
          <a:p xmlns:a="http://schemas.openxmlformats.org/drawingml/2006/main">
            <a:pPr>
              <a:defRPr sz="1875" b="0">
                <a:solidFill>
                  <a:srgbClr val="111111"/>
                </a:solidFill>
                <a:latin typeface="Noto Sans"/>
                <a:ea typeface="Noto Sans"/>
                <a:cs typeface="Noto Sans"/>
              </a:defRPr>
            </a:pPr>
            <a:r>
              <a:rPr sz="1875" b="0">
                <a:solidFill>
                  <a:srgbClr val="111111"/>
                </a:solidFill>
                <a:latin typeface="Noto Sans"/>
                <a:ea typeface="Noto Sans"/>
                <a:cs typeface="Noto Sans"/>
              </a:rPr>
              <a:t>PAC / WAC</a:t>
            </a:r>
          </a:p>
          <a:p xmlns:a="http://schemas.openxmlformats.org/drawingml/2006/main">
            <a:r>
              <a:t/>
            </a:r>
          </a:p>
          <a:p xmlns:a="http://schemas.openxmlformats.org/drawingml/2006/main">
            <a:pPr>
              <a:defRPr sz="1875" b="0">
                <a:solidFill>
                  <a:srgbClr val="111111"/>
                </a:solidFill>
                <a:latin typeface="Noto Sans"/>
                <a:ea typeface="Noto Sans"/>
                <a:cs typeface="Noto Sans"/>
              </a:defRPr>
            </a:pPr>
            <a:r>
              <a:rPr sz="1875" b="0">
                <a:solidFill>
                  <a:srgbClr val="111111"/>
                </a:solidFill>
                <a:latin typeface="Noto Sans"/>
                <a:ea typeface="Noto Sans"/>
                <a:cs typeface="Noto Sans"/>
              </a:rPr>
              <a:t>Bounded trackers:</a:t>
            </a:r>
          </a:p>
          <a:p xmlns:a="http://schemas.openxmlformats.org/drawingml/2006/main">
            <a:pPr>
              <a:defRPr sz="1875" b="0">
                <a:solidFill>
                  <a:srgbClr val="111111"/>
                </a:solidFill>
                <a:latin typeface="Noto Sans"/>
                <a:ea typeface="Noto Sans"/>
                <a:cs typeface="Noto Sans"/>
              </a:defRPr>
            </a:pPr>
            <a:r>
              <a:rPr sz="1875" b="0">
                <a:solidFill>
                  <a:srgbClr val="111111"/>
                </a:solidFill>
                <a:latin typeface="Noto Sans"/>
                <a:ea typeface="Noto Sans"/>
                <a:cs typeface="Noto Sans"/>
              </a:rPr>
              <a:t>HPT / HWT</a:t>
            </a:r>
          </a:p>
          <a:p xmlns:a="http://schemas.openxmlformats.org/drawingml/2006/main">
            <a:r>
              <a:t/>
            </a:r>
          </a:p>
          <a:p xmlns:a="http://schemas.openxmlformats.org/drawingml/2006/main">
            <a:pPr>
              <a:defRPr sz="1875" b="0">
                <a:solidFill>
                  <a:srgbClr val="111111"/>
                </a:solidFill>
                <a:latin typeface="Noto Sans"/>
                <a:ea typeface="Noto Sans"/>
                <a:cs typeface="Noto Sans"/>
              </a:defRPr>
            </a:pPr>
            <a:r>
              <a:rPr sz="1875" b="0">
                <a:solidFill>
                  <a:srgbClr val="111111"/>
                </a:solidFill>
                <a:latin typeface="Noto Sans"/>
                <a:ea typeface="Noto Sans"/>
                <a:cs typeface="Noto Sans"/>
              </a:rPr>
              <a:t>Space-Saving</a:t>
            </a:r>
          </a:p>
          <a:p xmlns:a="http://schemas.openxmlformats.org/drawingml/2006/main">
            <a:pPr>
              <a:defRPr sz="1875" b="0">
                <a:solidFill>
                  <a:srgbClr val="111111"/>
                </a:solidFill>
                <a:latin typeface="Noto Sans"/>
                <a:ea typeface="Noto Sans"/>
                <a:cs typeface="Noto Sans"/>
              </a:defRPr>
            </a:pPr>
            <a:r>
              <a:rPr sz="1875" b="0">
                <a:solidFill>
                  <a:srgbClr val="111111"/>
                </a:solidFill>
                <a:latin typeface="Noto Sans"/>
                <a:ea typeface="Noto Sans"/>
                <a:cs typeface="Noto Sans"/>
              </a:rPr>
              <a:t>Count-Min + top-K</a:t>
            </a:r>
          </a:p>
        </p:txBody>
      </p:sp>
    </p:spTree>
    <p:extLst>
      <p:ext uri="{BB962C8B-B14F-4D97-AF65-F5344CB8AC3E}">
        <p14:creationId xmlns:p14="http://schemas.microsoft.com/office/powerpoint/2010/main" val="125089662"/>
      </p:ext>
    </p:extLst>
  </p:cSld>
</p:sld>
</file>

<file path=ppt/slides/slide14.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07A28B6-C18F-4D84-BBD0-A32D0F087639}"/>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BDDE29D5-5E8D-429C-9744-6C157F67DF27}"/>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Beyond the original figure</a:t>
            </a:r>
          </a:p>
        </p:txBody>
      </p:sp>
      <p:sp>
        <p:nvSpPr>
          <p:cNvPr id="3" name="">
            <a:extLst xmlns:a="http://schemas.openxmlformats.org/drawingml/2006/main">
              <a:ext uri="{FF2B5EF4-FFF2-40B4-BE49-F238E27FC236}">
                <a16:creationId xmlns:a16="http://schemas.microsoft.com/office/drawing/2014/main" id="{606CC20A-9715-4406-AFC8-4CA01B617266}"/>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7275EFA1-B2B6-4B0B-8E40-3E4051498CFE}"/>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Iason Zakynthinos / Advanced Computer Architecture                                      14 / 15</a:t>
            </a:r>
          </a:p>
        </p:txBody>
      </p:sp>
      <p:pic>
        <p:nvPicPr>
          <p:cNvPr id="5" name="">
            <a:extLst xmlns:a="http://schemas.openxmlformats.org/drawingml/2006/main">
              <a:ext uri="{FF2B5EF4-FFF2-40B4-BE49-F238E27FC236}">
                <a16:creationId xmlns:a16="http://schemas.microsoft.com/office/drawing/2014/main" id="{65F0B4E8-3892-42F0-AE99-F797DB8657FB}"/>
              </a:ext>
            </a:extLst>
          </p:cNvPr>
          <p:cNvPicPr>
            <a:picLocks xmlns:a="http://schemas.openxmlformats.org/drawingml/2006/main" noChangeAspect="1"/>
          </p:cNvPicPr>
          <p:nvPr/>
        </p:nvPicPr>
        <p:blipFill>
          <a:blip xmlns:r="http://schemas.openxmlformats.org/officeDocument/2006/relationships" xmlns:a="http://schemas.openxmlformats.org/drawingml/2006/main" r:embed="R927e887991f942e0"/>
          <a:stretch xmlns:a="http://schemas.openxmlformats.org/drawingml/2006/main"/>
        </p:blipFill>
        <p:spPr>
          <a:xfrm xmlns:a="http://schemas.openxmlformats.org/drawingml/2006/main">
            <a:off x="523875" y="1660525"/>
            <a:ext cx="7524750" cy="40132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9717D82-CCCF-4951-A21D-B51FBBECE7FB}"/>
              </a:ext>
            </a:extLst>
          </p:cNvPr>
          <p:cNvSpPr>
            <a:spLocks xmlns:a="http://schemas.openxmlformats.org/drawingml/2006/main" noGrp="1"/>
          </p:cNvSpPr>
          <p:nvPr/>
        </p:nvSpPr>
        <p:spPr>
          <a:xfrm xmlns:a="http://schemas.openxmlformats.org/drawingml/2006/main">
            <a:off x="8286750" y="1809750"/>
            <a:ext cx="3286125"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11111"/>
                </a:solidFill>
                <a:latin typeface="Noto Sans"/>
                <a:ea typeface="Noto Sans"/>
                <a:cs typeface="Noto Sans"/>
              </a:defRPr>
            </a:defPPr>
            <a:lvl1pPr>
              <a:defRPr sz="1875" b="0">
                <a:solidFill>
                  <a:srgbClr val="111111"/>
                </a:solidFill>
                <a:latin typeface="Noto Sans"/>
                <a:ea typeface="Noto Sans"/>
                <a:cs typeface="Noto Sans"/>
              </a:defRPr>
            </a:lvl1pPr>
            <a:lvl2pPr>
              <a:defRPr sz="1875" b="0">
                <a:solidFill>
                  <a:srgbClr val="111111"/>
                </a:solidFill>
                <a:latin typeface="Noto Sans"/>
                <a:ea typeface="Noto Sans"/>
                <a:cs typeface="Noto Sans"/>
              </a:defRPr>
            </a:lvl2pPr>
            <a:lvl3pPr>
              <a:defRPr sz="1875" b="0">
                <a:solidFill>
                  <a:srgbClr val="111111"/>
                </a:solidFill>
                <a:latin typeface="Noto Sans"/>
                <a:ea typeface="Noto Sans"/>
                <a:cs typeface="Noto Sans"/>
              </a:defRPr>
            </a:lvl3pPr>
            <a:lvl4pPr>
              <a:defRPr sz="1875" b="0">
                <a:solidFill>
                  <a:srgbClr val="111111"/>
                </a:solidFill>
                <a:latin typeface="Noto Sans"/>
                <a:ea typeface="Noto Sans"/>
                <a:cs typeface="Noto Sans"/>
              </a:defRPr>
            </a:lvl4pPr>
            <a:lvl5pPr>
              <a:defRPr sz="1875" b="0">
                <a:solidFill>
                  <a:srgbClr val="111111"/>
                </a:solidFill>
                <a:latin typeface="Noto Sans"/>
                <a:ea typeface="Noto Sans"/>
                <a:cs typeface="Noto Sans"/>
              </a:defRPr>
            </a:lvl5pPr>
            <a:lvl6pPr>
              <a:defRPr sz="1875" b="0">
                <a:solidFill>
                  <a:srgbClr val="111111"/>
                </a:solidFill>
                <a:latin typeface="Noto Sans"/>
                <a:ea typeface="Noto Sans"/>
                <a:cs typeface="Noto Sans"/>
              </a:defRPr>
            </a:lvl6pPr>
            <a:lvl7pPr>
              <a:defRPr sz="1875" b="0">
                <a:solidFill>
                  <a:srgbClr val="111111"/>
                </a:solidFill>
                <a:latin typeface="Noto Sans"/>
                <a:ea typeface="Noto Sans"/>
                <a:cs typeface="Noto Sans"/>
              </a:defRPr>
            </a:lvl7pPr>
            <a:lvl8pPr>
              <a:defRPr sz="1875" b="0">
                <a:solidFill>
                  <a:srgbClr val="111111"/>
                </a:solidFill>
                <a:latin typeface="Noto Sans"/>
                <a:ea typeface="Noto Sans"/>
                <a:cs typeface="Noto Sans"/>
              </a:defRPr>
            </a:lvl8pPr>
            <a:lvl9pPr>
              <a:defRPr sz="1875" b="0">
                <a:solidFill>
                  <a:srgbClr val="111111"/>
                </a:solidFill>
                <a:latin typeface="Noto Sans"/>
                <a:ea typeface="Noto Sans"/>
                <a:cs typeface="Noto Sans"/>
              </a:defRPr>
            </a:lvl9pPr>
          </a:lstStyle>
          <a:p xmlns:a="http://schemas.openxmlformats.org/drawingml/2006/main">
            <a:pPr>
              <a:defRPr sz="1875" b="0">
                <a:solidFill>
                  <a:srgbClr val="111111"/>
                </a:solidFill>
                <a:latin typeface="Noto Sans"/>
                <a:ea typeface="Noto Sans"/>
                <a:cs typeface="Noto Sans"/>
              </a:defRPr>
            </a:pPr>
            <a:r>
              <a:rPr sz="1875" b="0">
                <a:solidFill>
                  <a:srgbClr val="111111"/>
                </a:solidFill>
                <a:latin typeface="Noto Sans"/>
                <a:ea typeface="Noto Sans"/>
                <a:cs typeface="Noto Sans"/>
              </a:rPr>
              <a:t>Granularity sweeps</a:t>
            </a:r>
          </a:p>
          <a:p xmlns:a="http://schemas.openxmlformats.org/drawingml/2006/main">
            <a:r>
              <a:t/>
            </a:r>
          </a:p>
          <a:p xmlns:a="http://schemas.openxmlformats.org/drawingml/2006/main">
            <a:pPr>
              <a:defRPr sz="1875" b="0">
                <a:solidFill>
                  <a:srgbClr val="111111"/>
                </a:solidFill>
                <a:latin typeface="Noto Sans"/>
                <a:ea typeface="Noto Sans"/>
                <a:cs typeface="Noto Sans"/>
              </a:defRPr>
            </a:pPr>
            <a:r>
              <a:rPr sz="1875" b="0">
                <a:solidFill>
                  <a:srgbClr val="111111"/>
                </a:solidFill>
                <a:latin typeface="Noto Sans"/>
                <a:ea typeface="Noto Sans"/>
                <a:cs typeface="Noto Sans"/>
              </a:rPr>
              <a:t>Hot-set turnover</a:t>
            </a:r>
          </a:p>
          <a:p xmlns:a="http://schemas.openxmlformats.org/drawingml/2006/main">
            <a:r>
              <a:t/>
            </a:r>
          </a:p>
          <a:p xmlns:a="http://schemas.openxmlformats.org/drawingml/2006/main">
            <a:pPr>
              <a:defRPr sz="1875" b="0">
                <a:solidFill>
                  <a:srgbClr val="111111"/>
                </a:solidFill>
                <a:latin typeface="Noto Sans"/>
                <a:ea typeface="Noto Sans"/>
                <a:cs typeface="Noto Sans"/>
              </a:defRPr>
            </a:pPr>
            <a:r>
              <a:rPr sz="1875" b="0">
                <a:solidFill>
                  <a:srgbClr val="111111"/>
                </a:solidFill>
                <a:latin typeface="Noto Sans"/>
                <a:ea typeface="Noto Sans"/>
                <a:cs typeface="Noto Sans"/>
              </a:rPr>
              <a:t>Previous-window placement</a:t>
            </a:r>
          </a:p>
          <a:p xmlns:a="http://schemas.openxmlformats.org/drawingml/2006/main">
            <a:r>
              <a:t/>
            </a:r>
          </a:p>
          <a:p xmlns:a="http://schemas.openxmlformats.org/drawingml/2006/main">
            <a:pPr>
              <a:defRPr sz="1875" b="0">
                <a:solidFill>
                  <a:srgbClr val="111111"/>
                </a:solidFill>
                <a:latin typeface="Noto Sans"/>
                <a:ea typeface="Noto Sans"/>
                <a:cs typeface="Noto Sans"/>
              </a:defRPr>
            </a:pPr>
            <a:r>
              <a:rPr sz="1875" b="0">
                <a:solidFill>
                  <a:srgbClr val="111111"/>
                </a:solidFill>
                <a:latin typeface="Noto Sans"/>
                <a:ea typeface="Noto Sans"/>
                <a:cs typeface="Noto Sans"/>
              </a:rPr>
              <a:t>Serial cost sensitivity</a:t>
            </a:r>
          </a:p>
          <a:p xmlns:a="http://schemas.openxmlformats.org/drawingml/2006/main">
            <a:pPr>
              <a:defRPr sz="1875" b="0">
                <a:solidFill>
                  <a:srgbClr val="111111"/>
                </a:solidFill>
                <a:latin typeface="Noto Sans"/>
                <a:ea typeface="Noto Sans"/>
                <a:cs typeface="Noto Sans"/>
              </a:defRPr>
            </a:pPr>
            <a:r>
              <a:rPr sz="1875" b="0">
                <a:solidFill>
                  <a:srgbClr val="111111"/>
                </a:solidFill>
                <a:latin typeface="Noto Sans"/>
                <a:ea typeface="Noto Sans"/>
                <a:cs typeface="Noto Sans"/>
              </a:rPr>
              <a:t>not measured</a:t>
            </a:r>
          </a:p>
          <a:p xmlns:a="http://schemas.openxmlformats.org/drawingml/2006/main">
            <a:pPr>
              <a:defRPr sz="1875" b="0">
                <a:solidFill>
                  <a:srgbClr val="111111"/>
                </a:solidFill>
                <a:latin typeface="Noto Sans"/>
                <a:ea typeface="Noto Sans"/>
                <a:cs typeface="Noto Sans"/>
              </a:defRPr>
            </a:pPr>
            <a:r>
              <a:rPr sz="1875" b="0">
                <a:solidFill>
                  <a:srgbClr val="111111"/>
                </a:solidFill>
                <a:latin typeface="Noto Sans"/>
                <a:ea typeface="Noto Sans"/>
                <a:cs typeface="Noto Sans"/>
              </a:rPr>
              <a:t>application speedup</a:t>
            </a:r>
          </a:p>
        </p:txBody>
      </p:sp>
    </p:spTree>
    <p:extLst>
      <p:ext uri="{BB962C8B-B14F-4D97-AF65-F5344CB8AC3E}">
        <p14:creationId xmlns:p14="http://schemas.microsoft.com/office/powerpoint/2010/main" val="1247161556"/>
      </p:ext>
    </p:extLst>
  </p:cSld>
</p:sld>
</file>

<file path=ppt/slides/slide15.xml><?xml version="1.0" encoding="utf-8"?>
<p:sld xmlns:p="http://schemas.openxmlformats.org/presentationml/2006/main">
  <p:cSld>
    <p:bg>
      <p:bgPr>
        <a:solidFill xmlns:a="http://schemas.openxmlformats.org/drawingml/2006/main">
          <a:srgbClr val="F4F2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89A7870-84BE-4A2D-94ED-436FB0C108E2}"/>
              </a:ext>
            </a:extLst>
          </p:cNvPr>
          <p:cNvSpPr>
            <a:spLocks xmlns:a="http://schemas.openxmlformats.org/drawingml/2006/main" noGrp="1"/>
          </p:cNvSpPr>
          <p:nvPr/>
        </p:nvSpPr>
        <p:spPr>
          <a:xfrm xmlns:a="http://schemas.openxmlformats.org/drawingml/2006/main">
            <a:off x="523875" y="2286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 b="1">
                <a:solidFill>
                  <a:srgbClr val="E1251B"/>
                </a:solidFill>
                <a:latin typeface="Noto Sans"/>
                <a:ea typeface="Noto Sans"/>
                <a:cs typeface="Noto Sans"/>
              </a:defRPr>
            </a:defPPr>
            <a:lvl1pPr>
              <a:defRPr sz="975" b="1">
                <a:solidFill>
                  <a:srgbClr val="E1251B"/>
                </a:solidFill>
                <a:latin typeface="Noto Sans"/>
                <a:ea typeface="Noto Sans"/>
                <a:cs typeface="Noto Sans"/>
              </a:defRPr>
            </a:lvl1pPr>
            <a:lvl2pPr>
              <a:defRPr sz="975" b="1">
                <a:solidFill>
                  <a:srgbClr val="E1251B"/>
                </a:solidFill>
                <a:latin typeface="Noto Sans"/>
                <a:ea typeface="Noto Sans"/>
                <a:cs typeface="Noto Sans"/>
              </a:defRPr>
            </a:lvl2pPr>
            <a:lvl3pPr>
              <a:defRPr sz="975" b="1">
                <a:solidFill>
                  <a:srgbClr val="E1251B"/>
                </a:solidFill>
                <a:latin typeface="Noto Sans"/>
                <a:ea typeface="Noto Sans"/>
                <a:cs typeface="Noto Sans"/>
              </a:defRPr>
            </a:lvl3pPr>
            <a:lvl4pPr>
              <a:defRPr sz="975" b="1">
                <a:solidFill>
                  <a:srgbClr val="E1251B"/>
                </a:solidFill>
                <a:latin typeface="Noto Sans"/>
                <a:ea typeface="Noto Sans"/>
                <a:cs typeface="Noto Sans"/>
              </a:defRPr>
            </a:lvl4pPr>
            <a:lvl5pPr>
              <a:defRPr sz="975" b="1">
                <a:solidFill>
                  <a:srgbClr val="E1251B"/>
                </a:solidFill>
                <a:latin typeface="Noto Sans"/>
                <a:ea typeface="Noto Sans"/>
                <a:cs typeface="Noto Sans"/>
              </a:defRPr>
            </a:lvl5pPr>
            <a:lvl6pPr>
              <a:defRPr sz="975" b="1">
                <a:solidFill>
                  <a:srgbClr val="E1251B"/>
                </a:solidFill>
                <a:latin typeface="Noto Sans"/>
                <a:ea typeface="Noto Sans"/>
                <a:cs typeface="Noto Sans"/>
              </a:defRPr>
            </a:lvl6pPr>
            <a:lvl7pPr>
              <a:defRPr sz="975" b="1">
                <a:solidFill>
                  <a:srgbClr val="E1251B"/>
                </a:solidFill>
                <a:latin typeface="Noto Sans"/>
                <a:ea typeface="Noto Sans"/>
                <a:cs typeface="Noto Sans"/>
              </a:defRPr>
            </a:lvl7pPr>
            <a:lvl8pPr>
              <a:defRPr sz="975" b="1">
                <a:solidFill>
                  <a:srgbClr val="E1251B"/>
                </a:solidFill>
                <a:latin typeface="Noto Sans"/>
                <a:ea typeface="Noto Sans"/>
                <a:cs typeface="Noto Sans"/>
              </a:defRPr>
            </a:lvl8pPr>
            <a:lvl9pPr>
              <a:defRPr sz="975" b="1">
                <a:solidFill>
                  <a:srgbClr val="E1251B"/>
                </a:solidFill>
                <a:latin typeface="Noto Sans"/>
                <a:ea typeface="Noto Sans"/>
                <a:cs typeface="Noto Sans"/>
              </a:defRPr>
            </a:lvl9pPr>
          </a:lstStyle>
          <a:p xmlns:a="http://schemas.openxmlformats.org/drawingml/2006/main">
            <a:pPr>
              <a:defRPr sz="975" b="1">
                <a:solidFill>
                  <a:srgbClr val="E1251B"/>
                </a:solidFill>
                <a:latin typeface="Noto Sans"/>
                <a:ea typeface="Noto Sans"/>
                <a:cs typeface="Noto Sans"/>
              </a:defRPr>
            </a:pPr>
            <a:r>
              <a:rPr sz="975" b="1">
                <a:solidFill>
                  <a:srgbClr val="E1251B"/>
                </a:solidFill>
                <a:latin typeface="Noto Sans"/>
                <a:ea typeface="Noto Sans"/>
                <a:cs typeface="Noto Sans"/>
              </a:rPr>
              <a:t>MEMORY TIERING / CSLab</a:t>
            </a:r>
          </a:p>
        </p:txBody>
      </p:sp>
      <p:sp>
        <p:nvSpPr>
          <p:cNvPr id="2" name="">
            <a:extLst xmlns:a="http://schemas.openxmlformats.org/drawingml/2006/main">
              <a:ext uri="{FF2B5EF4-FFF2-40B4-BE49-F238E27FC236}">
                <a16:creationId xmlns:a16="http://schemas.microsoft.com/office/drawing/2014/main" id="{283A5C5E-FC23-4B2E-81F3-4FB97E365F5A}"/>
              </a:ext>
            </a:extLst>
          </p:cNvPr>
          <p:cNvSpPr>
            <a:spLocks xmlns:a="http://schemas.openxmlformats.org/drawingml/2006/main" noGrp="1"/>
          </p:cNvSpPr>
          <p:nvPr/>
        </p:nvSpPr>
        <p:spPr>
          <a:xfrm xmlns:a="http://schemas.openxmlformats.org/drawingml/2006/main">
            <a:off x="523875" y="666750"/>
            <a:ext cx="11144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11111"/>
                </a:solidFill>
                <a:latin typeface="Noto Sans"/>
                <a:ea typeface="Noto Sans"/>
                <a:cs typeface="Noto Sans"/>
              </a:defRPr>
            </a:defPPr>
            <a:lvl1pPr>
              <a:defRPr sz="3225" b="1">
                <a:solidFill>
                  <a:srgbClr val="111111"/>
                </a:solidFill>
                <a:latin typeface="Noto Sans"/>
                <a:ea typeface="Noto Sans"/>
                <a:cs typeface="Noto Sans"/>
              </a:defRPr>
            </a:lvl1pPr>
            <a:lvl2pPr>
              <a:defRPr sz="3225" b="1">
                <a:solidFill>
                  <a:srgbClr val="111111"/>
                </a:solidFill>
                <a:latin typeface="Noto Sans"/>
                <a:ea typeface="Noto Sans"/>
                <a:cs typeface="Noto Sans"/>
              </a:defRPr>
            </a:lvl2pPr>
            <a:lvl3pPr>
              <a:defRPr sz="3225" b="1">
                <a:solidFill>
                  <a:srgbClr val="111111"/>
                </a:solidFill>
                <a:latin typeface="Noto Sans"/>
                <a:ea typeface="Noto Sans"/>
                <a:cs typeface="Noto Sans"/>
              </a:defRPr>
            </a:lvl3pPr>
            <a:lvl4pPr>
              <a:defRPr sz="3225" b="1">
                <a:solidFill>
                  <a:srgbClr val="111111"/>
                </a:solidFill>
                <a:latin typeface="Noto Sans"/>
                <a:ea typeface="Noto Sans"/>
                <a:cs typeface="Noto Sans"/>
              </a:defRPr>
            </a:lvl4pPr>
            <a:lvl5pPr>
              <a:defRPr sz="3225" b="1">
                <a:solidFill>
                  <a:srgbClr val="111111"/>
                </a:solidFill>
                <a:latin typeface="Noto Sans"/>
                <a:ea typeface="Noto Sans"/>
                <a:cs typeface="Noto Sans"/>
              </a:defRPr>
            </a:lvl5pPr>
            <a:lvl6pPr>
              <a:defRPr sz="3225" b="1">
                <a:solidFill>
                  <a:srgbClr val="111111"/>
                </a:solidFill>
                <a:latin typeface="Noto Sans"/>
                <a:ea typeface="Noto Sans"/>
                <a:cs typeface="Noto Sans"/>
              </a:defRPr>
            </a:lvl6pPr>
            <a:lvl7pPr>
              <a:defRPr sz="3225" b="1">
                <a:solidFill>
                  <a:srgbClr val="111111"/>
                </a:solidFill>
                <a:latin typeface="Noto Sans"/>
                <a:ea typeface="Noto Sans"/>
                <a:cs typeface="Noto Sans"/>
              </a:defRPr>
            </a:lvl7pPr>
            <a:lvl8pPr>
              <a:defRPr sz="3225" b="1">
                <a:solidFill>
                  <a:srgbClr val="111111"/>
                </a:solidFill>
                <a:latin typeface="Noto Sans"/>
                <a:ea typeface="Noto Sans"/>
                <a:cs typeface="Noto Sans"/>
              </a:defRPr>
            </a:lvl8pPr>
            <a:lvl9pPr>
              <a:defRPr sz="3225" b="1">
                <a:solidFill>
                  <a:srgbClr val="111111"/>
                </a:solidFill>
                <a:latin typeface="Noto Sans"/>
                <a:ea typeface="Noto Sans"/>
                <a:cs typeface="Noto Sans"/>
              </a:defRPr>
            </a:lvl9pPr>
          </a:lstStyle>
          <a:p xmlns:a="http://schemas.openxmlformats.org/drawingml/2006/main">
            <a:pPr>
              <a:defRPr sz="3225" b="1">
                <a:solidFill>
                  <a:srgbClr val="111111"/>
                </a:solidFill>
                <a:latin typeface="Noto Sans"/>
                <a:ea typeface="Noto Sans"/>
                <a:cs typeface="Noto Sans"/>
              </a:defRPr>
            </a:pPr>
            <a:r>
              <a:rPr sz="3225" b="1">
                <a:solidFill>
                  <a:srgbClr val="111111"/>
                </a:solidFill>
                <a:latin typeface="Noto Sans"/>
                <a:ea typeface="Noto Sans"/>
                <a:cs typeface="Noto Sans"/>
              </a:rPr>
              <a:t>What exact reproduction still requires</a:t>
            </a:r>
          </a:p>
        </p:txBody>
      </p:sp>
      <p:sp>
        <p:nvSpPr>
          <p:cNvPr id="3" name="">
            <a:extLst xmlns:a="http://schemas.openxmlformats.org/drawingml/2006/main">
              <a:ext uri="{FF2B5EF4-FFF2-40B4-BE49-F238E27FC236}">
                <a16:creationId xmlns:a16="http://schemas.microsoft.com/office/drawing/2014/main" id="{F3290383-B6AA-4CF0-BCEB-EED73EAAD8DF}"/>
              </a:ext>
            </a:extLst>
          </p:cNvPr>
          <p:cNvSpPr>
            <a:spLocks xmlns:a="http://schemas.openxmlformats.org/drawingml/2006/main" noGrp="1"/>
          </p:cNvSpPr>
          <p:nvPr/>
        </p:nvSpPr>
        <p:spPr>
          <a:xfrm xmlns:a="http://schemas.openxmlformats.org/drawingml/2006/main">
            <a:off x="0" y="6524625"/>
            <a:ext cx="12192000" cy="333375"/>
          </a:xfrm>
          <a:prstGeom xmlns:a="http://schemas.openxmlformats.org/drawingml/2006/main" prst="rect">
            <a:avLst/>
          </a:prstGeom>
          <a:solidFill xmlns:a="http://schemas.openxmlformats.org/drawingml/2006/main">
            <a:srgbClr val="111111"/>
          </a:solidFill>
          <a:ln xmlns:a="http://schemas.openxmlformats.org/drawingml/2006/main" w="0">
            <a:noFill/>
          </a:ln>
        </p:spPr>
        <p:txBody>
          <a:bodyPr xmlns:a="http://schemas.openxmlformats.org/drawingml/2006/main"/>
          <a:lstStyle xmlns:a="http://schemas.openxmlformats.org/drawingml/2006/main">
            <a:defPPr>
              <a:defRPr sz="975" b="0">
                <a:solidFill>
                  <a:srgbClr val="FFFFFF"/>
                </a:solidFill>
                <a:latin typeface="Noto Sans"/>
                <a:ea typeface="Noto Sans"/>
                <a:cs typeface="Noto Sans"/>
              </a:defRPr>
            </a:defPPr>
            <a:lvl1pPr>
              <a:defRPr sz="975" b="0">
                <a:solidFill>
                  <a:srgbClr val="FFFFFF"/>
                </a:solidFill>
                <a:latin typeface="Noto Sans"/>
                <a:ea typeface="Noto Sans"/>
                <a:cs typeface="Noto Sans"/>
              </a:defRPr>
            </a:lvl1pPr>
            <a:lvl2pPr>
              <a:defRPr sz="975" b="0">
                <a:solidFill>
                  <a:srgbClr val="FFFFFF"/>
                </a:solidFill>
                <a:latin typeface="Noto Sans"/>
                <a:ea typeface="Noto Sans"/>
                <a:cs typeface="Noto Sans"/>
              </a:defRPr>
            </a:lvl2pPr>
            <a:lvl3pPr>
              <a:defRPr sz="975" b="0">
                <a:solidFill>
                  <a:srgbClr val="FFFFFF"/>
                </a:solidFill>
                <a:latin typeface="Noto Sans"/>
                <a:ea typeface="Noto Sans"/>
                <a:cs typeface="Noto Sans"/>
              </a:defRPr>
            </a:lvl3pPr>
            <a:lvl4pPr>
              <a:defRPr sz="975" b="0">
                <a:solidFill>
                  <a:srgbClr val="FFFFFF"/>
                </a:solidFill>
                <a:latin typeface="Noto Sans"/>
                <a:ea typeface="Noto Sans"/>
                <a:cs typeface="Noto Sans"/>
              </a:defRPr>
            </a:lvl4pPr>
            <a:lvl5pPr>
              <a:defRPr sz="975" b="0">
                <a:solidFill>
                  <a:srgbClr val="FFFFFF"/>
                </a:solidFill>
                <a:latin typeface="Noto Sans"/>
                <a:ea typeface="Noto Sans"/>
                <a:cs typeface="Noto Sans"/>
              </a:defRPr>
            </a:lvl5pPr>
            <a:lvl6pPr>
              <a:defRPr sz="975" b="0">
                <a:solidFill>
                  <a:srgbClr val="FFFFFF"/>
                </a:solidFill>
                <a:latin typeface="Noto Sans"/>
                <a:ea typeface="Noto Sans"/>
                <a:cs typeface="Noto Sans"/>
              </a:defRPr>
            </a:lvl6pPr>
            <a:lvl7pPr>
              <a:defRPr sz="975" b="0">
                <a:solidFill>
                  <a:srgbClr val="FFFFFF"/>
                </a:solidFill>
                <a:latin typeface="Noto Sans"/>
                <a:ea typeface="Noto Sans"/>
                <a:cs typeface="Noto Sans"/>
              </a:defRPr>
            </a:lvl7pPr>
            <a:lvl8pPr>
              <a:defRPr sz="975" b="0">
                <a:solidFill>
                  <a:srgbClr val="FFFFFF"/>
                </a:solidFill>
                <a:latin typeface="Noto Sans"/>
                <a:ea typeface="Noto Sans"/>
                <a:cs typeface="Noto Sans"/>
              </a:defRPr>
            </a:lvl8pPr>
            <a:lvl9pPr>
              <a:defRPr sz="975" b="0">
                <a:solidFill>
                  <a:srgbClr val="FFFFFF"/>
                </a:solidFill>
                <a:latin typeface="Noto Sans"/>
                <a:ea typeface="Noto Sans"/>
                <a:cs typeface="Noto Sans"/>
              </a:defRPr>
            </a:lvl9pPr>
          </a:lstStyle>
          <a:p xmlns:a="http://schemas.openxmlformats.org/drawingml/2006/main">
            <a:r>
              <a:t/>
            </a:r>
          </a:p>
        </p:txBody>
      </p:sp>
      <p:sp>
        <p:nvSpPr>
          <p:cNvPr id="4" name="">
            <a:extLst xmlns:a="http://schemas.openxmlformats.org/drawingml/2006/main">
              <a:ext uri="{FF2B5EF4-FFF2-40B4-BE49-F238E27FC236}">
                <a16:creationId xmlns:a16="http://schemas.microsoft.com/office/drawing/2014/main" id="{439BB370-EBA0-4B1D-99A0-005A23A61EAD}"/>
              </a:ext>
            </a:extLst>
          </p:cNvPr>
          <p:cNvSpPr>
            <a:spLocks xmlns:a="http://schemas.openxmlformats.org/drawingml/2006/main" noGrp="1"/>
          </p:cNvSpPr>
          <p:nvPr/>
        </p:nvSpPr>
        <p:spPr>
          <a:xfrm xmlns:a="http://schemas.openxmlformats.org/drawingml/2006/main">
            <a:off x="523875" y="6572250"/>
            <a:ext cx="11144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b="0">
                <a:solidFill>
                  <a:srgbClr val="FFFFFF"/>
                </a:solidFill>
                <a:latin typeface="Noto Sans"/>
                <a:ea typeface="Noto Sans"/>
                <a:cs typeface="Noto Sans"/>
              </a:defRPr>
            </a:defPPr>
            <a:lvl1pPr>
              <a:defRPr sz="900" b="0">
                <a:solidFill>
                  <a:srgbClr val="FFFFFF"/>
                </a:solidFill>
                <a:latin typeface="Noto Sans"/>
                <a:ea typeface="Noto Sans"/>
                <a:cs typeface="Noto Sans"/>
              </a:defRPr>
            </a:lvl1pPr>
            <a:lvl2pPr>
              <a:defRPr sz="900" b="0">
                <a:solidFill>
                  <a:srgbClr val="FFFFFF"/>
                </a:solidFill>
                <a:latin typeface="Noto Sans"/>
                <a:ea typeface="Noto Sans"/>
                <a:cs typeface="Noto Sans"/>
              </a:defRPr>
            </a:lvl2pPr>
            <a:lvl3pPr>
              <a:defRPr sz="900" b="0">
                <a:solidFill>
                  <a:srgbClr val="FFFFFF"/>
                </a:solidFill>
                <a:latin typeface="Noto Sans"/>
                <a:ea typeface="Noto Sans"/>
                <a:cs typeface="Noto Sans"/>
              </a:defRPr>
            </a:lvl3pPr>
            <a:lvl4pPr>
              <a:defRPr sz="900" b="0">
                <a:solidFill>
                  <a:srgbClr val="FFFFFF"/>
                </a:solidFill>
                <a:latin typeface="Noto Sans"/>
                <a:ea typeface="Noto Sans"/>
                <a:cs typeface="Noto Sans"/>
              </a:defRPr>
            </a:lvl4pPr>
            <a:lvl5pPr>
              <a:defRPr sz="900" b="0">
                <a:solidFill>
                  <a:srgbClr val="FFFFFF"/>
                </a:solidFill>
                <a:latin typeface="Noto Sans"/>
                <a:ea typeface="Noto Sans"/>
                <a:cs typeface="Noto Sans"/>
              </a:defRPr>
            </a:lvl5pPr>
            <a:lvl6pPr>
              <a:defRPr sz="900" b="0">
                <a:solidFill>
                  <a:srgbClr val="FFFFFF"/>
                </a:solidFill>
                <a:latin typeface="Noto Sans"/>
                <a:ea typeface="Noto Sans"/>
                <a:cs typeface="Noto Sans"/>
              </a:defRPr>
            </a:lvl6pPr>
            <a:lvl7pPr>
              <a:defRPr sz="900" b="0">
                <a:solidFill>
                  <a:srgbClr val="FFFFFF"/>
                </a:solidFill>
                <a:latin typeface="Noto Sans"/>
                <a:ea typeface="Noto Sans"/>
                <a:cs typeface="Noto Sans"/>
              </a:defRPr>
            </a:lvl7pPr>
            <a:lvl8pPr>
              <a:defRPr sz="900" b="0">
                <a:solidFill>
                  <a:srgbClr val="FFFFFF"/>
                </a:solidFill>
                <a:latin typeface="Noto Sans"/>
                <a:ea typeface="Noto Sans"/>
                <a:cs typeface="Noto Sans"/>
              </a:defRPr>
            </a:lvl8pPr>
            <a:lvl9pPr>
              <a:defRPr sz="900" b="0">
                <a:solidFill>
                  <a:srgbClr val="FFFFFF"/>
                </a:solidFill>
                <a:latin typeface="Noto Sans"/>
                <a:ea typeface="Noto Sans"/>
                <a:cs typeface="Noto Sans"/>
              </a:defRPr>
            </a:lvl9pPr>
          </a:lstStyle>
          <a:p xmlns:a="http://schemas.openxmlformats.org/drawingml/2006/main">
            <a:pPr>
              <a:defRPr sz="900" b="0">
                <a:solidFill>
                  <a:srgbClr val="FFFFFF"/>
                </a:solidFill>
                <a:latin typeface="Noto Sans"/>
                <a:ea typeface="Noto Sans"/>
                <a:cs typeface="Noto Sans"/>
              </a:defRPr>
            </a:pPr>
            <a:r>
              <a:rPr sz="900" b="0">
                <a:solidFill>
                  <a:srgbClr val="FFFFFF"/>
                </a:solidFill>
                <a:latin typeface="Noto Sans"/>
                <a:ea typeface="Noto Sans"/>
                <a:cs typeface="Noto Sans"/>
              </a:rPr>
              <a:t>Iason Zakynthinos / Advanced Computer Architecture                                      15 / 15</a:t>
            </a:r>
          </a:p>
        </p:txBody>
      </p:sp>
      <p:sp>
        <p:nvSpPr>
          <p:cNvPr id="5" name="">
            <a:extLst xmlns:a="http://schemas.openxmlformats.org/drawingml/2006/main">
              <a:ext uri="{FF2B5EF4-FFF2-40B4-BE49-F238E27FC236}">
                <a16:creationId xmlns:a16="http://schemas.microsoft.com/office/drawing/2014/main" id="{D8E4F87D-6B39-485C-9B29-6EA910F1A2CE}"/>
              </a:ext>
            </a:extLst>
          </p:cNvPr>
          <p:cNvSpPr>
            <a:spLocks xmlns:a="http://schemas.openxmlformats.org/drawingml/2006/main" noGrp="1"/>
          </p:cNvSpPr>
          <p:nvPr/>
        </p:nvSpPr>
        <p:spPr>
          <a:xfrm xmlns:a="http://schemas.openxmlformats.org/drawingml/2006/main">
            <a:off x="571500" y="1666875"/>
            <a:ext cx="108585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11111"/>
                </a:solidFill>
                <a:latin typeface="Noto Sans"/>
                <a:ea typeface="Noto Sans"/>
                <a:cs typeface="Noto Sans"/>
              </a:defRPr>
            </a:defPPr>
            <a:lvl1pPr>
              <a:defRPr sz="2250" b="0">
                <a:solidFill>
                  <a:srgbClr val="111111"/>
                </a:solidFill>
                <a:latin typeface="Noto Sans"/>
                <a:ea typeface="Noto Sans"/>
                <a:cs typeface="Noto Sans"/>
              </a:defRPr>
            </a:lvl1pPr>
            <a:lvl2pPr>
              <a:defRPr sz="2250" b="0">
                <a:solidFill>
                  <a:srgbClr val="111111"/>
                </a:solidFill>
                <a:latin typeface="Noto Sans"/>
                <a:ea typeface="Noto Sans"/>
                <a:cs typeface="Noto Sans"/>
              </a:defRPr>
            </a:lvl2pPr>
            <a:lvl3pPr>
              <a:defRPr sz="2250" b="0">
                <a:solidFill>
                  <a:srgbClr val="111111"/>
                </a:solidFill>
                <a:latin typeface="Noto Sans"/>
                <a:ea typeface="Noto Sans"/>
                <a:cs typeface="Noto Sans"/>
              </a:defRPr>
            </a:lvl3pPr>
            <a:lvl4pPr>
              <a:defRPr sz="2250" b="0">
                <a:solidFill>
                  <a:srgbClr val="111111"/>
                </a:solidFill>
                <a:latin typeface="Noto Sans"/>
                <a:ea typeface="Noto Sans"/>
                <a:cs typeface="Noto Sans"/>
              </a:defRPr>
            </a:lvl4pPr>
            <a:lvl5pPr>
              <a:defRPr sz="2250" b="0">
                <a:solidFill>
                  <a:srgbClr val="111111"/>
                </a:solidFill>
                <a:latin typeface="Noto Sans"/>
                <a:ea typeface="Noto Sans"/>
                <a:cs typeface="Noto Sans"/>
              </a:defRPr>
            </a:lvl5pPr>
            <a:lvl6pPr>
              <a:defRPr sz="2250" b="0">
                <a:solidFill>
                  <a:srgbClr val="111111"/>
                </a:solidFill>
                <a:latin typeface="Noto Sans"/>
                <a:ea typeface="Noto Sans"/>
                <a:cs typeface="Noto Sans"/>
              </a:defRPr>
            </a:lvl6pPr>
            <a:lvl7pPr>
              <a:defRPr sz="2250" b="0">
                <a:solidFill>
                  <a:srgbClr val="111111"/>
                </a:solidFill>
                <a:latin typeface="Noto Sans"/>
                <a:ea typeface="Noto Sans"/>
                <a:cs typeface="Noto Sans"/>
              </a:defRPr>
            </a:lvl7pPr>
            <a:lvl8pPr>
              <a:defRPr sz="2250" b="0">
                <a:solidFill>
                  <a:srgbClr val="111111"/>
                </a:solidFill>
                <a:latin typeface="Noto Sans"/>
                <a:ea typeface="Noto Sans"/>
                <a:cs typeface="Noto Sans"/>
              </a:defRPr>
            </a:lvl8pPr>
            <a:lvl9pPr>
              <a:defRPr sz="2250" b="0">
                <a:solidFill>
                  <a:srgbClr val="111111"/>
                </a:solidFill>
                <a:latin typeface="Noto Sans"/>
                <a:ea typeface="Noto Sans"/>
                <a:cs typeface="Noto Sans"/>
              </a:defRPr>
            </a:lvl9pPr>
          </a:lstStyle>
          <a:p xmlns:a="http://schemas.openxmlformats.org/drawingml/2006/main">
            <a:pPr>
              <a:defRPr sz="2250" b="0">
                <a:solidFill>
                  <a:srgbClr val="111111"/>
                </a:solidFill>
                <a:latin typeface="Noto Sans"/>
                <a:ea typeface="Noto Sans"/>
                <a:cs typeface="Noto Sans"/>
              </a:defRPr>
            </a:pPr>
            <a:r>
              <a:rPr sz="2250" b="0">
                <a:solidFill>
                  <a:srgbClr val="111111"/>
                </a:solidFill>
                <a:latin typeface="Noto Sans"/>
                <a:ea typeface="Noto Sans"/>
                <a:cs typeface="Noto Sans"/>
              </a:rPr>
              <a:t>Exact reduced graphs, weights and vertex ordering.</a:t>
            </a:r>
          </a:p>
          <a:p xmlns:a="http://schemas.openxmlformats.org/drawingml/2006/main">
            <a:r>
              <a:t/>
            </a:r>
          </a:p>
          <a:p xmlns:a="http://schemas.openxmlformats.org/drawingml/2006/main">
            <a:pPr>
              <a:defRPr sz="2250" b="0">
                <a:solidFill>
                  <a:srgbClr val="111111"/>
                </a:solidFill>
                <a:latin typeface="Noto Sans"/>
                <a:ea typeface="Noto Sans"/>
                <a:cs typeface="Noto Sans"/>
              </a:defRPr>
            </a:pPr>
            <a:r>
              <a:rPr sz="2250" b="0">
                <a:solidFill>
                  <a:srgbClr val="111111"/>
                </a:solidFill>
                <a:latin typeface="Noto Sans"/>
                <a:ea typeface="Noto Sans"/>
                <a:cs typeface="Noto Sans"/>
              </a:rPr>
              <a:t>WAC resets, region collection and aggregation.</a:t>
            </a:r>
          </a:p>
          <a:p xmlns:a="http://schemas.openxmlformats.org/drawingml/2006/main">
            <a:r>
              <a:t/>
            </a:r>
          </a:p>
          <a:p xmlns:a="http://schemas.openxmlformats.org/drawingml/2006/main">
            <a:pPr>
              <a:defRPr sz="2250" b="0">
                <a:solidFill>
                  <a:srgbClr val="111111"/>
                </a:solidFill>
                <a:latin typeface="Noto Sans"/>
                <a:ea typeface="Noto Sans"/>
                <a:cs typeface="Noto Sans"/>
              </a:defRPr>
            </a:pPr>
            <a:r>
              <a:rPr sz="2250" b="0">
                <a:solidFill>
                  <a:srgbClr val="111111"/>
                </a:solidFill>
                <a:latin typeface="Noto Sans"/>
                <a:ea typeface="Noto Sans"/>
                <a:cs typeface="Noto Sans"/>
              </a:rPr>
              <a:t>Comparable scope and page population.</a:t>
            </a:r>
          </a:p>
          <a:p xmlns:a="http://schemas.openxmlformats.org/drawingml/2006/main">
            <a:r>
              <a:t/>
            </a:r>
          </a:p>
          <a:p xmlns:a="http://schemas.openxmlformats.org/drawingml/2006/main">
            <a:pPr>
              <a:defRPr sz="2250" b="0">
                <a:solidFill>
                  <a:srgbClr val="111111"/>
                </a:solidFill>
                <a:latin typeface="Noto Sans"/>
                <a:ea typeface="Noto Sans"/>
                <a:cs typeface="Noto Sans"/>
              </a:defRPr>
            </a:pPr>
            <a:r>
              <a:rPr sz="2250" b="0">
                <a:solidFill>
                  <a:srgbClr val="111111"/>
                </a:solidFill>
                <a:latin typeface="Noto Sans"/>
                <a:ea typeface="Noto Sans"/>
                <a:cs typeface="Noto Sans"/>
              </a:rPr>
              <a:t>Retain improvements alongside negative results</a:t>
            </a:r>
          </a:p>
          <a:p xmlns:a="http://schemas.openxmlformats.org/drawingml/2006/main">
            <a:pPr>
              <a:defRPr sz="2250" b="0">
                <a:solidFill>
                  <a:srgbClr val="111111"/>
                </a:solidFill>
                <a:latin typeface="Noto Sans"/>
                <a:ea typeface="Noto Sans"/>
                <a:cs typeface="Noto Sans"/>
              </a:defRPr>
            </a:pPr>
            <a:r>
              <a:rPr sz="2250" b="0">
                <a:solidFill>
                  <a:srgbClr val="111111"/>
                </a:solidFill>
                <a:latin typeface="Noto Sans"/>
                <a:ea typeface="Noto Sans"/>
                <a:cs typeface="Noto Sans"/>
              </a:rPr>
              <a:t>and unresolved limitations.</a:t>
            </a:r>
          </a:p>
        </p:txBody>
      </p:sp>
    </p:spTree>
    <p:extLst>
      <p:ext uri="{BB962C8B-B14F-4D97-AF65-F5344CB8AC3E}">
        <p14:creationId xmlns:p14="http://schemas.microsoft.com/office/powerpoint/2010/main" val="1631049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a:ea typeface=""/>
        <a:cs typeface=""/>
      </a:majorFont>
      <a:minorFont>
        <a:latin typeface="Noto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2026-10-30T20:21:54.8610000Z</dcterms:created>
  <dcterms:modified xsi:type="dcterms:W3CDTF">2026-10-30T20:21:54.8610000Z</dcterms:modified>
</coreProperties>
</file>