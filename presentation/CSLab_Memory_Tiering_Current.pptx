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fff5ae9882c4f06" /><Relationship Type="http://schemas.openxmlformats.org/officeDocument/2006/relationships/extended-properties" Target="/docProps/app.xml" Id="R64a1ea13734646cc" /><Relationship Type="http://schemas.openxmlformats.org/officeDocument/2006/relationships/officeDocument" Target="/ppt/presentation.xml" Id="R8dfbb0d2152b47ae" /></Relationships>
</file>

<file path=ppt/presentation.xml><?xml version="1.0" encoding="utf-8"?>
<p:presentation xmlns:p="http://schemas.openxmlformats.org/presentationml/2006/main">
  <p:sldMasterIdLst>
    <p:sldMasterId xmlns:r="http://schemas.openxmlformats.org/officeDocument/2006/relationships" id="2147483648" r:id="Re6ab124052894470"/>
  </p:sldMasterIdLst>
  <p:notesMasterIdLst>
    <p:notesMasterId xmlns:r="http://schemas.openxmlformats.org/officeDocument/2006/relationships" r:id="Re100d411bde0457d"/>
  </p:notesMasterIdLst>
  <p:sldIdLst>
    <p:sldId xmlns:r="http://schemas.openxmlformats.org/officeDocument/2006/relationships" id="256" r:id="Rb6a2429fa422421d"/>
    <p:sldId xmlns:r="http://schemas.openxmlformats.org/officeDocument/2006/relationships" id="257" r:id="R554ed57260ba4b58"/>
    <p:sldId xmlns:r="http://schemas.openxmlformats.org/officeDocument/2006/relationships" id="258" r:id="Rd53a51ea34974291"/>
    <p:sldId xmlns:r="http://schemas.openxmlformats.org/officeDocument/2006/relationships" id="259" r:id="Rc9584846d6454007"/>
    <p:sldId xmlns:r="http://schemas.openxmlformats.org/officeDocument/2006/relationships" id="260" r:id="R38fa596dd0bd4f9e"/>
    <p:sldId xmlns:r="http://schemas.openxmlformats.org/officeDocument/2006/relationships" id="261" r:id="R7716ea40a44c492e"/>
    <p:sldId xmlns:r="http://schemas.openxmlformats.org/officeDocument/2006/relationships" id="262" r:id="R5af0fbb864944341"/>
    <p:sldId xmlns:r="http://schemas.openxmlformats.org/officeDocument/2006/relationships" id="263" r:id="R2bfe5882ce204b09"/>
    <p:sldId xmlns:r="http://schemas.openxmlformats.org/officeDocument/2006/relationships" id="264" r:id="R54193606f5f04262"/>
    <p:sldId xmlns:r="http://schemas.openxmlformats.org/officeDocument/2006/relationships" id="265" r:id="R44d7de11cc58439e"/>
    <p:sldId xmlns:r="http://schemas.openxmlformats.org/officeDocument/2006/relationships" id="266" r:id="Rc8d5000d8de043e6"/>
    <p:sldId xmlns:r="http://schemas.openxmlformats.org/officeDocument/2006/relationships" id="267" r:id="Rdf06048fc3bf4b44"/>
    <p:sldId xmlns:r="http://schemas.openxmlformats.org/officeDocument/2006/relationships" id="268" r:id="Rbff3653f53624e46"/>
    <p:sldId xmlns:r="http://schemas.openxmlformats.org/officeDocument/2006/relationships" id="269" r:id="Ra7e65f5f927a4057"/>
    <p:sldId xmlns:r="http://schemas.openxmlformats.org/officeDocument/2006/relationships" id="270" r:id="R60c47481288944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9f5a3b9cc114006" /><Relationship Type="http://schemas.openxmlformats.org/officeDocument/2006/relationships/slideMaster" Target="/ppt/slideMasters/slideMaster1.xml" Id="Re6ab124052894470" /><Relationship Type="http://schemas.openxmlformats.org/officeDocument/2006/relationships/notesMaster" Target="/ppt/notesMasters/notesMaster1.xml" Id="Re100d411bde0457d" /><Relationship Type="http://schemas.openxmlformats.org/officeDocument/2006/relationships/presProps" Target="/ppt/presProps.xml" Id="Ra25f46694c094b25" /><Relationship Type="http://schemas.openxmlformats.org/officeDocument/2006/relationships/tableStyles" Target="/ppt/tableStyles.xml" Id="R54cbc7acb339449f" /><Relationship Type="http://schemas.openxmlformats.org/officeDocument/2006/relationships/slide" Target="/ppt/slides/slide1.xml" Id="Rb6a2429fa422421d" /><Relationship Type="http://schemas.openxmlformats.org/officeDocument/2006/relationships/slide" Target="/ppt/slides/slide2.xml" Id="R554ed57260ba4b58" /><Relationship Type="http://schemas.openxmlformats.org/officeDocument/2006/relationships/slide" Target="/ppt/slides/slide3.xml" Id="Rd53a51ea34974291" /><Relationship Type="http://schemas.openxmlformats.org/officeDocument/2006/relationships/slide" Target="/ppt/slides/slide4.xml" Id="Rc9584846d6454007" /><Relationship Type="http://schemas.openxmlformats.org/officeDocument/2006/relationships/slide" Target="/ppt/slides/slide5.xml" Id="R38fa596dd0bd4f9e" /><Relationship Type="http://schemas.openxmlformats.org/officeDocument/2006/relationships/slide" Target="/ppt/slides/slide6.xml" Id="R7716ea40a44c492e" /><Relationship Type="http://schemas.openxmlformats.org/officeDocument/2006/relationships/slide" Target="/ppt/slides/slide7.xml" Id="R5af0fbb864944341" /><Relationship Type="http://schemas.openxmlformats.org/officeDocument/2006/relationships/slide" Target="/ppt/slides/slide8.xml" Id="R2bfe5882ce204b09" /><Relationship Type="http://schemas.openxmlformats.org/officeDocument/2006/relationships/slide" Target="/ppt/slides/slide9.xml" Id="R54193606f5f04262" /><Relationship Type="http://schemas.openxmlformats.org/officeDocument/2006/relationships/slide" Target="/ppt/slides/slide10.xml" Id="R44d7de11cc58439e" /><Relationship Type="http://schemas.openxmlformats.org/officeDocument/2006/relationships/slide" Target="/ppt/slides/slide11.xml" Id="Rc8d5000d8de043e6" /><Relationship Type="http://schemas.openxmlformats.org/officeDocument/2006/relationships/slide" Target="/ppt/slides/slide12.xml" Id="Rdf06048fc3bf4b44" /><Relationship Type="http://schemas.openxmlformats.org/officeDocument/2006/relationships/slide" Target="/ppt/slides/slide13.xml" Id="Rbff3653f53624e46" /><Relationship Type="http://schemas.openxmlformats.org/officeDocument/2006/relationships/slide" Target="/ppt/slides/slide14.xml" Id="Ra7e65f5f927a4057" /><Relationship Type="http://schemas.openxmlformats.org/officeDocument/2006/relationships/slide" Target="/ppt/slides/slide15.xml" Id="R60c47481288944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a5918feafb4e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e2247a1fa2430f" /><Relationship Type="http://schemas.openxmlformats.org/officeDocument/2006/relationships/notesMaster" Target="/ppt/notesMasters/notesMaster1.xml" Id="R91bf878838ef46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2ea56cc346485d" /><Relationship Type="http://schemas.openxmlformats.org/officeDocument/2006/relationships/notesMaster" Target="/ppt/notesMasters/notesMaster1.xml" Id="Rf35138443272467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f407e59d56d4fe3" /><Relationship Type="http://schemas.openxmlformats.org/officeDocument/2006/relationships/notesMaster" Target="/ppt/notesMasters/notesMaster1.xml" Id="Rfb5959e17a4443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adebf7159ea34a3c" /><Relationship Type="http://schemas.openxmlformats.org/officeDocument/2006/relationships/notesMaster" Target="/ppt/notesMasters/notesMaster1.xml" Id="R57f64c3a8e424e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afb76b386c45ed" /><Relationship Type="http://schemas.openxmlformats.org/officeDocument/2006/relationships/notesMaster" Target="/ppt/notesMasters/notesMaster1.xml" Id="R0c1bb152502f47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c336d0ba77d4b51" /><Relationship Type="http://schemas.openxmlformats.org/officeDocument/2006/relationships/notesMaster" Target="/ppt/notesMasters/notesMaster1.xml" Id="R6b9d96488bdc4b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bb80c81e42944f8" /><Relationship Type="http://schemas.openxmlformats.org/officeDocument/2006/relationships/notesMaster" Target="/ppt/notesMasters/notesMaster1.xml" Id="R4696416bf9414d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6a08cdf4b442aa" /><Relationship Type="http://schemas.openxmlformats.org/officeDocument/2006/relationships/notesMaster" Target="/ppt/notesMasters/notesMaster1.xml" Id="Re569accb9c8842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212555692bb4359" /><Relationship Type="http://schemas.openxmlformats.org/officeDocument/2006/relationships/notesMaster" Target="/ppt/notesMasters/notesMaster1.xml" Id="Rad8035d0685740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4608e7aa65745b2" /><Relationship Type="http://schemas.openxmlformats.org/officeDocument/2006/relationships/notesMaster" Target="/ppt/notesMasters/notesMaster1.xml" Id="R3307d1d4c6534b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7dae27c04a4f12" /><Relationship Type="http://schemas.openxmlformats.org/officeDocument/2006/relationships/notesMaster" Target="/ppt/notesMasters/notesMaster1.xml" Id="Ra96ed4b1ea88497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c42403e1d8b4960" /><Relationship Type="http://schemas.openxmlformats.org/officeDocument/2006/relationships/notesMaster" Target="/ppt/notesMasters/notesMaster1.xml" Id="Rdb790291927b40c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1c521f46ae4c30" /><Relationship Type="http://schemas.openxmlformats.org/officeDocument/2006/relationships/notesMaster" Target="/ppt/notesMasters/notesMaster1.xml" Id="R20529fdcc7d4422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74809f7d6d6487c" /><Relationship Type="http://schemas.openxmlformats.org/officeDocument/2006/relationships/notesMaster" Target="/ppt/notesMasters/notesMaster1.xml" Id="R000c50ef76f048f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013dede67764b8a" /><Relationship Type="http://schemas.openxmlformats.org/officeDocument/2006/relationships/notesMaster" Target="/ppt/notesMasters/notesMaster1.xml" Id="R8314956c259d490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δευτερόλεπτα. Η ερευνητική εργασία έγινε στο μάθημα Προηγμένη Αρχιτεκτονική Υπολογιστών με το CSLab. Κύριο ζητούμενο είναι το Figure 4 του M5, όχι πλήρης υλοποίηση του συστήματος. Θα παρουσιάσω τη μέτρηση, την απόκλιση και τις ελεγχόμενες επεκτάσεις.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Καταγραφή memory references, χρήση artifact benchmarks, αναπαραγωγή του γραφήματος και επέκταση για accesses. Memstrata και NeoMem αποτέλεσαν επίσης το πλαίσιο μελέτης. Το γράφημα αφορά χωρική κάλυψη, όχι ακρίβεια hot-page selection του Figure 3.</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Για κάθε σελίδα και παράθυρο κρατάμε διαφορετικές γραμμές. Η CDF στο N δείχνει το ποσοστό των παρατηρήσεων με έως N γραμμές. Η κάλυψη δεν μετρά συχνότητα. Κάθε page-window έχει ίσο βάρος, όχι κάθε epoch ανεξάρτητα από το μέγεθός του.</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Intel παρέχει το framework Pin. Η δική μας C++ υλοποίηση κάνει instrumentation των memory operands, διαχωρισμό σε γραμμές, cache filtering και bitmasks/counters. Δεν αποθηκεύει πλήρες trace. ROI hooks, κοινά epochs και manifests επιτρέπουν έλεγχο και επανάληψη.</a:t>
            </a:r>
          </a:p>
          <a:p xmlns:a="http://schemas.openxmlformats.org/drawingml/2006/main">
            <a:r>
              <a:t/>
            </a:r>
          </a:p>
          <a:p xmlns:a="http://schemas.openxmlformats.org/drawingml/2006/main">
            <a:r>
              <a:t>Πηγές: src/profiler/pintool/hotskew.cpp; counter_table.hpp; paired_observer.hpp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Χρειάζεται μοντέλο cache ως φίλτρο. Το μοντέλο έχει private L1/L2, shared LLC, writeback/write-allocate, LRU και non-inclusive συμπεριφορά. Δεν είναι ακριβής Sapphire Rapids simulator. Οι αιτήσεις είναι virtual user-space operands. Δεν παρατηρούνται kernel copies ή hardware prefetches.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Accesses είναι τα demand operands ανά γραμμή. Fills είναι demand misses σε όλα τα επίπεδα. Traffic προσθέτει dirty LLC writebacks. Τα όρια είναι κοινά στην ίδια εκτέλεση. Το αρχικό πρωτόκολλο έχει 10M memory events, final partial window και χωριστή whole-ROI union. Η νέα καμπάνια αλλάζει μόνο δηλωμένους παράγοντες.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δευτερόλεπτα. Πάνω ψηφιοποιημένο M5. Κάτω οι paired προσπελάσεις και demand misses με κοινό πρωτόκολλο. Η εικόνα είναι η baseline πριν από τη νέα οικογένεια inputs. Δεν πρέπει να συγχέεται με πλήρη replication. Κρατάμε αυτή τη βάση για σύγκριση των controls.</a:t>
            </a:r>
          </a:p>
          <a:p xmlns:a="http://schemas.openxmlformats.org/drawingml/2006/main">
            <a:r>
              <a:t/>
            </a:r>
          </a:p>
          <a:p xmlns:a="http://schemas.openxmlformats.org/drawingml/2006/main">
            <a:r>
              <a:t>Πηγές: docs/uniform-windows.md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νέα καμπάνια χρησιμοποιεί δικές μας προδηλωμένες Twitter reductions και Google+ snapshots 4/2. Όλες οι έξι εκτελέσεις έχουν ολοκληρωθεί και περάσει τους ελέγχους. Τα inputs δεν είναι τα ακριβή των συγγραφέων. Δείχνουμε και αρνητικά αποτελέσματα: μεγαλύτερη απόκλιση για BC και SSSP.</a:t>
            </a:r>
          </a:p>
          <a:p xmlns:a="http://schemas.openxmlformats.org/drawingml/2006/main">
            <a:r>
              <a:t/>
            </a:r>
          </a:p>
          <a:p xmlns:a="http://schemas.openxmlformats.org/drawingml/2006/main">
            <a:r>
              <a:t>Πηγές: docs/fidelity-followup.md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Μέγιστη απόλυτη διαφορά στα πέντε N. Δεν επιλέγουμε μόνο την ουρά. Τα pooled αποτελέσματα δεν αντικαθίστανται από whole-ROI επειδή εκεί η συμφωνία είναι καλύτερη. Η νέα καμπάνια είναι ουσιαστικός έλεγχος υπόθεσης, όχι επιτυχής πλήρης αναπαραγωγή.</a:t>
            </a:r>
          </a:p>
          <a:p xmlns:a="http://schemas.openxmlformats.org/drawingml/2006/main">
            <a:r>
              <a:t/>
            </a:r>
          </a:p>
          <a:p xmlns:a="http://schemas.openxmlformats.org/drawingml/2006/main">
            <a:r>
              <a:t>Πηγές: results/fidelity-2026-10-27/scores.csv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Η ίδια γραμμή προσθέτει ένα bit, ανεξαρτήτως hits. Σε κρύες caches το πρώτο demand touch κάνει fill, οπότε whole-ROI coverage ταιριάζει. Αυτό δεν λέει ότι η cache δεν βοηθά. Το baseline BFS έχει περίπου 168.8M accesses και 7.9M fills.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Δεν επιλέγουμε πρωτόκολλο ανά workload αφού δούμε τη reference. Η δεύτερη καμπάνια είναι προδηλωμένη: full-process collection, πραγματικά inputs με είκοσι threads, εννέα ways και RSS-selected TC. Το footprint επιλέγεται πριν από τα Pin CDFs. Τα καλύτερα cases επισημαίνονται ως exploratory.</a:t>
            </a:r>
          </a:p>
          <a:p xmlns:a="http://schemas.openxmlformats.org/drawingml/2006/main">
            <a:r>
              <a:t/>
            </a:r>
          </a:p>
          <a:p xmlns:a="http://schemas.openxmlformats.org/drawingml/2006/main">
            <a:r>
              <a:t>Πηγές: docs/pin-stage2-protocol.md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probe μετρά physical accepted requests στο CXL bridge. Τα bridge/controller clocks είναι ανεξάρτητα και δεν αθροίζονται. Το overview συγκρίνει διαφορετικά setups και όχι identical traces. Οι μη ολοκληρωμένες εκτελέσεις είναι pending, όχι μηδενικές μπάρες.</a:t>
            </a:r>
          </a:p>
          <a:p xmlns:a="http://schemas.openxmlformats.org/drawingml/2006/main">
            <a:r>
              <a:t/>
            </a:r>
          </a:p>
          <a:p xmlns:a="http://schemas.openxmlformats.org/drawingml/2006/main">
            <a:r>
              <a:t>Πηγές: docs/simulator-figure4.md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Exact page/word counts παρέχουν ground truth. HPT/HWT είναι περιορισμένοι trackers, με Space-Saving και Count-Min + top-K. Οι corrected runs ολοκληρώθηκαν. Δεν παρουσιάζουμε πλήρες M5 hardware ή tiering manager. Το N του tracker είναι budget και διαφέρει από το N κατώφλι των CDF bars.</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Validated granularity, turnover και previous-window placement. Η coarser μονάδα tracking αλλάζει apparent density, όχι φυσικά το cache-line size. Υπάρχουν Redis A/C, Memcached, Liblinear. Το serial latency cost model δεν είναι μετρημένο speedup.</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Η υλοποίηση και η ορθότητα των δικών μας μετρητών δεν δίνουν την exact reference διαδικασία. Χρειάζονται reduced graphs, WAC collection schedule και page population. Οι έλεγχοι συνεχίζονται, αλλά ο στόχος είναι να εξηγήσουμε τη διαφορά χωρίς post-hoc επιλογή ωραίων bars.</a:t>
            </a:r>
          </a:p>
          <a:p xmlns:a="http://schemas.openxmlformats.org/drawingml/2006/main">
            <a:r>
              <a:t/>
            </a:r>
          </a:p>
          <a:p xmlns:a="http://schemas.openxmlformats.org/drawingml/2006/main">
            <a:r>
              <a:t>Πηγές: docs/m5-parameter-evidence.md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19633292db4c2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f2824212ad94b1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60128e2c7cd4d5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8e966198f9a4b9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ed8c78ef22449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a9ce263e4f943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A77CB9-C9D2-4A53-9A27-A2557A8C734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FBC1DAC-F339-42C0-9460-C370CFFDDC5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39349A1-13DD-49B4-B6AC-20E4919A913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24CBC4-44D9-4377-83D6-A5184E275F2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7B5D2E1-08C0-458E-8EFE-D5AB5CA2878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7CBDAE1-47EC-4FA6-8474-7C1506618C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CBF7EE-76B6-4B81-8D4E-C66D368B24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57A60FB-511F-48BA-A068-6EA07DD0E89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697FE3-35FC-4CAF-B2F5-CEE40AAC295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812DC5-FF44-460A-BC4C-34FEDEBD81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fd42387b61473d" /><Relationship Type="http://schemas.openxmlformats.org/officeDocument/2006/relationships/slideLayout" Target="/ppt/slideLayouts/slideLayout1.xml" Id="R2fe7f990c3374c8f" /><Relationship Type="http://schemas.openxmlformats.org/officeDocument/2006/relationships/slideLayout" Target="/ppt/slideLayouts/slideLayout2.xml" Id="Ra5f2ffaa607c4c83" /><Relationship Type="http://schemas.openxmlformats.org/officeDocument/2006/relationships/slideLayout" Target="/ppt/slideLayouts/slideLayout3.xml" Id="R35b9cdcd30a54a66" /><Relationship Type="http://schemas.openxmlformats.org/officeDocument/2006/relationships/slideLayout" Target="/ppt/slideLayouts/slideLayout4.xml" Id="R87d51c4360774168" /><Relationship Type="http://schemas.openxmlformats.org/officeDocument/2006/relationships/slideLayout" Target="/ppt/slideLayouts/slideLayout5.xml" Id="R9d1460a9b65f438f" /><Relationship Type="http://schemas.openxmlformats.org/officeDocument/2006/relationships/slideLayout" Target="/ppt/slideLayouts/slideLayout6.xml" Id="R65e9986e39a641a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fe7f990c3374c8f"/>
    <p:sldLayoutId xmlns:r="http://schemas.openxmlformats.org/officeDocument/2006/relationships" id="2147483650" r:id="Ra5f2ffaa607c4c83"/>
    <p:sldLayoutId xmlns:r="http://schemas.openxmlformats.org/officeDocument/2006/relationships" id="2147483651" r:id="R35b9cdcd30a54a66"/>
    <p:sldLayoutId xmlns:r="http://schemas.openxmlformats.org/officeDocument/2006/relationships" id="2147483652" r:id="R87d51c4360774168"/>
    <p:sldLayoutId xmlns:r="http://schemas.openxmlformats.org/officeDocument/2006/relationships" id="2147483653" r:id="R9d1460a9b65f438f"/>
    <p:sldLayoutId xmlns:r="http://schemas.openxmlformats.org/officeDocument/2006/relationships" id="2147483654" r:id="R65e9986e39a641a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69fea4d318b4d82" /><Relationship Type="http://schemas.openxmlformats.org/officeDocument/2006/relationships/notesSlide" Target="/ppt/notesSlides/notesSlide1.xml" Id="Re2680f13f241499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cc025a61d3c4e26" /><Relationship Type="http://schemas.openxmlformats.org/officeDocument/2006/relationships/notesSlide" Target="/ppt/notesSlides/notesSlide2.xml" Id="Rcf091bd5f9ee4c3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781189e54e94a7b" /><Relationship Type="http://schemas.openxmlformats.org/officeDocument/2006/relationships/notesSlide" Target="/ppt/notesSlides/notesSlide3.xml" Id="R18ba613c796e47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9fe36abe5a4c52" /><Relationship Type="http://schemas.openxmlformats.org/officeDocument/2006/relationships/notesSlide" Target="/ppt/notesSlides/notesSlide4.xml" Id="R1587ce85924a4c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0bb61d9462e41f1" /><Relationship Type="http://schemas.openxmlformats.org/officeDocument/2006/relationships/notesSlide" Target="/ppt/notesSlides/notesSlide5.xml" Id="R92c46caed78f4b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4c11c38625f4c98" /><Relationship Type="http://schemas.openxmlformats.org/officeDocument/2006/relationships/notesSlide" Target="/ppt/notesSlides/notesSlide6.xml" Id="R450b263cf3084a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5f8bef6b6b24c7d" /><Relationship Type="http://schemas.openxmlformats.org/officeDocument/2006/relationships/image" Target="/ppt/media/image.png" Id="R30c0c68e859c406e" /><Relationship Type="http://schemas.openxmlformats.org/officeDocument/2006/relationships/notesSlide" Target="/ppt/notesSlides/notesSlide7.xml" Id="Rcc8087305f1d4e1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9897c8ec0bb4bb5" /><Relationship Type="http://schemas.openxmlformats.org/officeDocument/2006/relationships/image" Target="/ppt/media/image2.png" Id="R7124597488e0479b" /><Relationship Type="http://schemas.openxmlformats.org/officeDocument/2006/relationships/notesSlide" Target="/ppt/notesSlides/notesSlide8.xml" Id="R470498f62a9446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492247a060146f3" /><Relationship Type="http://schemas.openxmlformats.org/officeDocument/2006/relationships/notesSlide" Target="/ppt/notesSlides/notesSlide9.xml" Id="Ree524af563d144f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7c1c44cf21a4406" /><Relationship Type="http://schemas.openxmlformats.org/officeDocument/2006/relationships/notesSlide" Target="/ppt/notesSlides/notesSlide10.xml" Id="Re5e531dbf02e4c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6ee9ed4dc4d4108" /><Relationship Type="http://schemas.openxmlformats.org/officeDocument/2006/relationships/notesSlide" Target="/ppt/notesSlides/notesSlide11.xml" Id="Rd50ece6e71db4ff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ee7e5ecd8714ed1" /><Relationship Type="http://schemas.openxmlformats.org/officeDocument/2006/relationships/image" Target="/ppt/media/image3.png" Id="R94e0ddc303834086" /><Relationship Type="http://schemas.openxmlformats.org/officeDocument/2006/relationships/notesSlide" Target="/ppt/notesSlides/notesSlide12.xml" Id="Rd90809a56baa4aa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d97cdd3a2dc4d07" /><Relationship Type="http://schemas.openxmlformats.org/officeDocument/2006/relationships/image" Target="/ppt/media/image4.png" Id="Rf163c8ed802b46e3" /><Relationship Type="http://schemas.openxmlformats.org/officeDocument/2006/relationships/notesSlide" Target="/ppt/notesSlides/notesSlide13.xml" Id="R9e344d4d32d843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2005a670f524e30" /><Relationship Type="http://schemas.openxmlformats.org/officeDocument/2006/relationships/image" Target="/ppt/media/image5.png" Id="Rd82131e3b4394cc4" /><Relationship Type="http://schemas.openxmlformats.org/officeDocument/2006/relationships/notesSlide" Target="/ppt/notesSlides/notesSlide14.xml" Id="R4fd97b71077d49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3204e4ae75c4505" /><Relationship Type="http://schemas.openxmlformats.org/officeDocument/2006/relationships/notesSlide" Target="/ppt/notesSlides/notesSlide15.xml" Id="Rb89f29f3145d46e9" /></Relationships>
</file>

<file path=ppt/slides/slide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071054-9A94-412B-A90E-5CD17BD0AE3C}"/>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43B7CAD-F56C-4835-9829-EFD9C365B081}"/>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Πόσο θερμή είναι μια θερμή σελίδα;</a:t>
            </a:r>
          </a:p>
        </p:txBody>
      </p:sp>
      <p:sp>
        <p:nvSpPr>
          <p:cNvPr id="3" name="">
            <a:extLst xmlns:a="http://schemas.openxmlformats.org/drawingml/2006/main">
              <a:ext uri="{FF2B5EF4-FFF2-40B4-BE49-F238E27FC236}">
                <a16:creationId xmlns:a16="http://schemas.microsoft.com/office/drawing/2014/main" id="{0AC5D4E1-38A2-463D-AC85-EC1ED85570F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E7AEE12-CE11-416B-85B3-1FA3F1CF348A}"/>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01 / 15</a:t>
            </a:r>
          </a:p>
        </p:txBody>
      </p:sp>
      <p:sp>
        <p:nvSpPr>
          <p:cNvPr id="5" name="">
            <a:extLst xmlns:a="http://schemas.openxmlformats.org/drawingml/2006/main">
              <a:ext uri="{FF2B5EF4-FFF2-40B4-BE49-F238E27FC236}">
                <a16:creationId xmlns:a16="http://schemas.microsoft.com/office/drawing/2014/main" id="{5BD8E0AE-FD6B-4A16-8385-3957E5439BC7}"/>
              </a:ext>
            </a:extLst>
          </p:cNvPr>
          <p:cNvSpPr>
            <a:spLocks xmlns:a="http://schemas.openxmlformats.org/drawingml/2006/main" noGrp="1"/>
          </p:cNvSpPr>
          <p:nvPr/>
        </p:nvSpPr>
        <p:spPr>
          <a:xfrm xmlns:a="http://schemas.openxmlformats.org/drawingml/2006/main">
            <a:off x="5715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111111"/>
                </a:solidFill>
                <a:latin typeface="Noto Sans"/>
                <a:ea typeface="Noto Sans"/>
                <a:cs typeface="Noto Sans"/>
              </a:defRPr>
            </a:defPPr>
            <a:lvl1pPr>
              <a:defRPr sz="5850" b="1">
                <a:solidFill>
                  <a:srgbClr val="111111"/>
                </a:solidFill>
                <a:latin typeface="Noto Sans"/>
                <a:ea typeface="Noto Sans"/>
                <a:cs typeface="Noto Sans"/>
              </a:defRPr>
            </a:lvl1pPr>
            <a:lvl2pPr>
              <a:defRPr sz="5850" b="1">
                <a:solidFill>
                  <a:srgbClr val="111111"/>
                </a:solidFill>
                <a:latin typeface="Noto Sans"/>
                <a:ea typeface="Noto Sans"/>
                <a:cs typeface="Noto Sans"/>
              </a:defRPr>
            </a:lvl2pPr>
            <a:lvl3pPr>
              <a:defRPr sz="5850" b="1">
                <a:solidFill>
                  <a:srgbClr val="111111"/>
                </a:solidFill>
                <a:latin typeface="Noto Sans"/>
                <a:ea typeface="Noto Sans"/>
                <a:cs typeface="Noto Sans"/>
              </a:defRPr>
            </a:lvl3pPr>
            <a:lvl4pPr>
              <a:defRPr sz="5850" b="1">
                <a:solidFill>
                  <a:srgbClr val="111111"/>
                </a:solidFill>
                <a:latin typeface="Noto Sans"/>
                <a:ea typeface="Noto Sans"/>
                <a:cs typeface="Noto Sans"/>
              </a:defRPr>
            </a:lvl4pPr>
            <a:lvl5pPr>
              <a:defRPr sz="5850" b="1">
                <a:solidFill>
                  <a:srgbClr val="111111"/>
                </a:solidFill>
                <a:latin typeface="Noto Sans"/>
                <a:ea typeface="Noto Sans"/>
                <a:cs typeface="Noto Sans"/>
              </a:defRPr>
            </a:lvl5pPr>
            <a:lvl6pPr>
              <a:defRPr sz="5850" b="1">
                <a:solidFill>
                  <a:srgbClr val="111111"/>
                </a:solidFill>
                <a:latin typeface="Noto Sans"/>
                <a:ea typeface="Noto Sans"/>
                <a:cs typeface="Noto Sans"/>
              </a:defRPr>
            </a:lvl6pPr>
            <a:lvl7pPr>
              <a:defRPr sz="5850" b="1">
                <a:solidFill>
                  <a:srgbClr val="111111"/>
                </a:solidFill>
                <a:latin typeface="Noto Sans"/>
                <a:ea typeface="Noto Sans"/>
                <a:cs typeface="Noto Sans"/>
              </a:defRPr>
            </a:lvl7pPr>
            <a:lvl8pPr>
              <a:defRPr sz="5850" b="1">
                <a:solidFill>
                  <a:srgbClr val="111111"/>
                </a:solidFill>
                <a:latin typeface="Noto Sans"/>
                <a:ea typeface="Noto Sans"/>
                <a:cs typeface="Noto Sans"/>
              </a:defRPr>
            </a:lvl8pPr>
            <a:lvl9pPr>
              <a:defRPr sz="5850" b="1">
                <a:solidFill>
                  <a:srgbClr val="111111"/>
                </a:solidFill>
                <a:latin typeface="Noto Sans"/>
                <a:ea typeface="Noto Sans"/>
                <a:cs typeface="Noto Sans"/>
              </a:defRPr>
            </a:lvl9pPr>
          </a:lstStyle>
          <a:p xmlns:a="http://schemas.openxmlformats.org/drawingml/2006/main">
            <a:pPr>
              <a:defRPr sz="5850" b="1">
                <a:solidFill>
                  <a:srgbClr val="111111"/>
                </a:solidFill>
                <a:latin typeface="Noto Sans"/>
                <a:ea typeface="Noto Sans"/>
                <a:cs typeface="Noto Sans"/>
              </a:defRPr>
            </a:pPr>
            <a:r>
              <a:rPr sz="5850" b="1">
                <a:solidFill>
                  <a:srgbClr val="111111"/>
                </a:solidFill>
                <a:latin typeface="Noto Sans"/>
                <a:ea typeface="Noto Sans"/>
                <a:cs typeface="Noto Sans"/>
              </a:rPr>
              <a:t>M5 Figure 4</a:t>
            </a:r>
          </a:p>
        </p:txBody>
      </p:sp>
      <p:sp>
        <p:nvSpPr>
          <p:cNvPr id="6" name="">
            <a:extLst xmlns:a="http://schemas.openxmlformats.org/drawingml/2006/main">
              <a:ext uri="{FF2B5EF4-FFF2-40B4-BE49-F238E27FC236}">
                <a16:creationId xmlns:a16="http://schemas.microsoft.com/office/drawing/2014/main" id="{729C1F9C-518F-4907-8E25-F124ADFC3938}"/>
              </a:ext>
            </a:extLst>
          </p:cNvPr>
          <p:cNvSpPr>
            <a:spLocks xmlns:a="http://schemas.openxmlformats.org/drawingml/2006/main" noGrp="1"/>
          </p:cNvSpPr>
          <p:nvPr/>
        </p:nvSpPr>
        <p:spPr>
          <a:xfrm xmlns:a="http://schemas.openxmlformats.org/drawingml/2006/main">
            <a:off x="571500" y="338137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Custom pintool · accesses και modeled misses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Ιάσων Ζακυνθινός</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Ερευνητική εργασία μαθήματος / ΕΜΠ</a:t>
            </a:r>
          </a:p>
        </p:txBody>
      </p:sp>
    </p:spTree>
    <p:extLst>
      <p:ext uri="{BB962C8B-B14F-4D97-AF65-F5344CB8AC3E}">
        <p14:creationId xmlns:p14="http://schemas.microsoft.com/office/powerpoint/2010/main" val="1060147265"/>
      </p:ext>
    </p:extLst>
  </p:cSld>
</p:sld>
</file>

<file path=ppt/slides/slide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DCB4011-4990-4831-BA3C-ED829601653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33898C8-8440-47CD-9A4A-4570449AD30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ανάθεση</a:t>
            </a:r>
          </a:p>
        </p:txBody>
      </p:sp>
      <p:sp>
        <p:nvSpPr>
          <p:cNvPr id="3" name="">
            <a:extLst xmlns:a="http://schemas.openxmlformats.org/drawingml/2006/main">
              <a:ext uri="{FF2B5EF4-FFF2-40B4-BE49-F238E27FC236}">
                <a16:creationId xmlns:a16="http://schemas.microsoft.com/office/drawing/2014/main" id="{3DDCD4F3-42A6-4270-B0D7-4D7150DD2ABC}"/>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E766FE5-3C81-4E11-89E8-115E2AC11A03}"/>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02 / 15</a:t>
            </a:r>
          </a:p>
        </p:txBody>
      </p:sp>
      <p:sp>
        <p:nvSpPr>
          <p:cNvPr id="5" name="">
            <a:extLst xmlns:a="http://schemas.openxmlformats.org/drawingml/2006/main">
              <a:ext uri="{FF2B5EF4-FFF2-40B4-BE49-F238E27FC236}">
                <a16:creationId xmlns:a16="http://schemas.microsoft.com/office/drawing/2014/main" id="{2524FCE9-34DB-497C-8085-1886CB50D788}"/>
              </a:ext>
            </a:extLst>
          </p:cNvPr>
          <p:cNvSpPr>
            <a:spLocks xmlns:a="http://schemas.openxmlformats.org/drawingml/2006/main" noGrp="1"/>
          </p:cNvSpPr>
          <p:nvPr/>
        </p:nvSpPr>
        <p:spPr>
          <a:xfrm xmlns:a="http://schemas.openxmlformats.org/drawingml/2006/main">
            <a:off x="571500" y="18097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11111"/>
                </a:solidFill>
                <a:latin typeface="Noto Sans"/>
                <a:ea typeface="Noto Sans"/>
                <a:cs typeface="Noto Sans"/>
              </a:defRPr>
            </a:defPPr>
            <a:lvl1pPr>
              <a:defRPr sz="2550" b="0">
                <a:solidFill>
                  <a:srgbClr val="111111"/>
                </a:solidFill>
                <a:latin typeface="Noto Sans"/>
                <a:ea typeface="Noto Sans"/>
                <a:cs typeface="Noto Sans"/>
              </a:defRPr>
            </a:lvl1pPr>
            <a:lvl2pPr>
              <a:defRPr sz="2550" b="0">
                <a:solidFill>
                  <a:srgbClr val="111111"/>
                </a:solidFill>
                <a:latin typeface="Noto Sans"/>
                <a:ea typeface="Noto Sans"/>
                <a:cs typeface="Noto Sans"/>
              </a:defRPr>
            </a:lvl2pPr>
            <a:lvl3pPr>
              <a:defRPr sz="2550" b="0">
                <a:solidFill>
                  <a:srgbClr val="111111"/>
                </a:solidFill>
                <a:latin typeface="Noto Sans"/>
                <a:ea typeface="Noto Sans"/>
                <a:cs typeface="Noto Sans"/>
              </a:defRPr>
            </a:lvl3pPr>
            <a:lvl4pPr>
              <a:defRPr sz="2550" b="0">
                <a:solidFill>
                  <a:srgbClr val="111111"/>
                </a:solidFill>
                <a:latin typeface="Noto Sans"/>
                <a:ea typeface="Noto Sans"/>
                <a:cs typeface="Noto Sans"/>
              </a:defRPr>
            </a:lvl4pPr>
            <a:lvl5pPr>
              <a:defRPr sz="2550" b="0">
                <a:solidFill>
                  <a:srgbClr val="111111"/>
                </a:solidFill>
                <a:latin typeface="Noto Sans"/>
                <a:ea typeface="Noto Sans"/>
                <a:cs typeface="Noto Sans"/>
              </a:defRPr>
            </a:lvl5pPr>
            <a:lvl6pPr>
              <a:defRPr sz="2550" b="0">
                <a:solidFill>
                  <a:srgbClr val="111111"/>
                </a:solidFill>
                <a:latin typeface="Noto Sans"/>
                <a:ea typeface="Noto Sans"/>
                <a:cs typeface="Noto Sans"/>
              </a:defRPr>
            </a:lvl6pPr>
            <a:lvl7pPr>
              <a:defRPr sz="2550" b="0">
                <a:solidFill>
                  <a:srgbClr val="111111"/>
                </a:solidFill>
                <a:latin typeface="Noto Sans"/>
                <a:ea typeface="Noto Sans"/>
                <a:cs typeface="Noto Sans"/>
              </a:defRPr>
            </a:lvl7pPr>
            <a:lvl8pPr>
              <a:defRPr sz="2550" b="0">
                <a:solidFill>
                  <a:srgbClr val="111111"/>
                </a:solidFill>
                <a:latin typeface="Noto Sans"/>
                <a:ea typeface="Noto Sans"/>
                <a:cs typeface="Noto Sans"/>
              </a:defRPr>
            </a:lvl8pPr>
            <a:lvl9pPr>
              <a:defRPr sz="2550" b="0">
                <a:solidFill>
                  <a:srgbClr val="111111"/>
                </a:solidFill>
                <a:latin typeface="Noto Sans"/>
                <a:ea typeface="Noto Sans"/>
                <a:cs typeface="Noto Sans"/>
              </a:defRPr>
            </a:lvl9pPr>
          </a:lstStyle>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01    Καταγραφή memory references με Intel Pin.</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02    Benchmarks από το artifact του M5.</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03    Το γράφημα με misses και με accesses.</a:t>
            </a:r>
          </a:p>
        </p:txBody>
      </p:sp>
    </p:spTree>
    <p:extLst>
      <p:ext uri="{BB962C8B-B14F-4D97-AF65-F5344CB8AC3E}">
        <p14:creationId xmlns:p14="http://schemas.microsoft.com/office/powerpoint/2010/main" val="1221615907"/>
      </p:ext>
    </p:extLst>
  </p:cSld>
</p:sld>
</file>

<file path=ppt/slides/slide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AF1636-2DEF-4A95-AB3D-DCC7BD737B4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41C21D3-42DF-4579-B9A5-A412294A497B}"/>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4 KiB = 64 γραμμές × 64 B</a:t>
            </a:r>
          </a:p>
        </p:txBody>
      </p:sp>
      <p:sp>
        <p:nvSpPr>
          <p:cNvPr id="3" name="">
            <a:extLst xmlns:a="http://schemas.openxmlformats.org/drawingml/2006/main">
              <a:ext uri="{FF2B5EF4-FFF2-40B4-BE49-F238E27FC236}">
                <a16:creationId xmlns:a16="http://schemas.microsoft.com/office/drawing/2014/main" id="{26AE60CE-98CF-4063-975E-B4726565A16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1478558-3E0A-4BF7-B746-68F485E810B4}"/>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03 / 15</a:t>
            </a:r>
          </a:p>
        </p:txBody>
      </p:sp>
      <p:sp>
        <p:nvSpPr>
          <p:cNvPr id="5" name="">
            <a:extLst xmlns:a="http://schemas.openxmlformats.org/drawingml/2006/main">
              <a:ext uri="{FF2B5EF4-FFF2-40B4-BE49-F238E27FC236}">
                <a16:creationId xmlns:a16="http://schemas.microsoft.com/office/drawing/2014/main" id="{215CDB1B-82CE-4B06-9456-B8F9818A68F5}"/>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U(p,e): διαφορετικές γραμμές στη σελίδα p, στο παράθυρο e.</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F(N): ποσοστό παρατηρήσεων με 1 ≤ U ≤ 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N = 4, 8, 16, 32, 48.</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F(8)=0,40: το 40% άγγιξε έως 8 γραμμές — όχι το 40% των accesses.</a:t>
            </a:r>
          </a:p>
        </p:txBody>
      </p:sp>
    </p:spTree>
    <p:extLst>
      <p:ext uri="{BB962C8B-B14F-4D97-AF65-F5344CB8AC3E}">
        <p14:creationId xmlns:p14="http://schemas.microsoft.com/office/powerpoint/2010/main" val="1319206001"/>
      </p:ext>
    </p:extLst>
  </p:cSld>
</p:sld>
</file>

<file path=ppt/slides/slide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7112968-693B-42ED-AADD-01618C4EB5E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6A95E635-C903-45AB-9B83-F165377F81A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pintool γράφτηκε για τη μέτρηση.</a:t>
            </a:r>
          </a:p>
        </p:txBody>
      </p:sp>
      <p:sp>
        <p:nvSpPr>
          <p:cNvPr id="3" name="">
            <a:extLst xmlns:a="http://schemas.openxmlformats.org/drawingml/2006/main">
              <a:ext uri="{FF2B5EF4-FFF2-40B4-BE49-F238E27FC236}">
                <a16:creationId xmlns:a16="http://schemas.microsoft.com/office/drawing/2014/main" id="{9992A598-B3DA-4BAA-B8BA-553A6ACD320D}"/>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BA28CE7-9D3A-47B4-BDC6-1178461E83F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04 / 15</a:t>
            </a:r>
          </a:p>
        </p:txBody>
      </p:sp>
      <p:sp>
        <p:nvSpPr>
          <p:cNvPr id="5" name="">
            <a:extLst xmlns:a="http://schemas.openxmlformats.org/drawingml/2006/main">
              <a:ext uri="{FF2B5EF4-FFF2-40B4-BE49-F238E27FC236}">
                <a16:creationId xmlns:a16="http://schemas.microsoft.com/office/drawing/2014/main" id="{2767034F-A94C-469B-9C03-04304B99086F}"/>
              </a:ext>
            </a:extLst>
          </p:cNvPr>
          <p:cNvSpPr>
            <a:spLocks xmlns:a="http://schemas.openxmlformats.org/drawingml/2006/main" noGrp="1"/>
          </p:cNvSpPr>
          <p:nvPr/>
        </p:nvSpPr>
        <p:spPr>
          <a:xfrm xmlns:a="http://schemas.openxmlformats.org/drawingml/2006/main">
            <a:off x="571500" y="17621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memory operand → 64 B lines → cache filter → masks / counters</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Intel Pin: το framework instrumentation.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Δικός μας C++ κώδικας: η λογική μέτρησης.</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Μία εκτέλεση, τρεις ροές. Χωρίς τεράστιο πλήρες trace.</a:t>
            </a:r>
          </a:p>
        </p:txBody>
      </p:sp>
    </p:spTree>
    <p:extLst>
      <p:ext uri="{BB962C8B-B14F-4D97-AF65-F5344CB8AC3E}">
        <p14:creationId xmlns:p14="http://schemas.microsoft.com/office/powerpoint/2010/main" val="850850153"/>
      </p:ext>
    </p:extLst>
  </p:cSld>
</p:sld>
</file>

<file path=ppt/slides/slide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0361F4-467A-468F-8B11-1F7F9A736243}"/>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B879A888-0A12-438D-8C8D-0C7E66104CCB}"/>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 βλέπει accesses. Το M5 βλέπει μνήμη.</a:t>
            </a:r>
          </a:p>
        </p:txBody>
      </p:sp>
      <p:sp>
        <p:nvSpPr>
          <p:cNvPr id="3" name="">
            <a:extLst xmlns:a="http://schemas.openxmlformats.org/drawingml/2006/main">
              <a:ext uri="{FF2B5EF4-FFF2-40B4-BE49-F238E27FC236}">
                <a16:creationId xmlns:a16="http://schemas.microsoft.com/office/drawing/2014/main" id="{ECE51C5E-438A-4D3E-9B40-ABF998600E94}"/>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DD6BE16-495C-4540-8AF0-E9C55C4E9E3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05 / 15</a:t>
            </a:r>
          </a:p>
        </p:txBody>
      </p:sp>
      <p:sp>
        <p:nvSpPr>
          <p:cNvPr id="5" name="">
            <a:extLst xmlns:a="http://schemas.openxmlformats.org/drawingml/2006/main">
              <a:ext uri="{FF2B5EF4-FFF2-40B4-BE49-F238E27FC236}">
                <a16:creationId xmlns:a16="http://schemas.microsoft.com/office/drawing/2014/main" id="{EECD4BE8-5E8C-4E8E-A36C-BE6B2109FD3E}"/>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Private L1D/L2 και shared LLC.</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Κύρια ρύθμιση: 40 MiB / 10 ways.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Χωρίς coherence, physical slice hashing ή hardware prefetching.</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Τα αποτελέσματα είναι modeled misses,</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όχι hardware performance counters.</a:t>
            </a:r>
          </a:p>
        </p:txBody>
      </p:sp>
    </p:spTree>
    <p:extLst>
      <p:ext uri="{BB962C8B-B14F-4D97-AF65-F5344CB8AC3E}">
        <p14:creationId xmlns:p14="http://schemas.microsoft.com/office/powerpoint/2010/main" val="454276045"/>
      </p:ext>
    </p:extLst>
  </p:cSld>
</p:sld>
</file>

<file path=ppt/slides/slide6.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BBD79C-5F11-448C-B37F-3F2957B4526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6688727-46E5-4ECE-BCFF-A1CBBAC1E9FB}"/>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Κοινό παράθυρο, διαφορετικές ροές.</a:t>
            </a:r>
          </a:p>
        </p:txBody>
      </p:sp>
      <p:sp>
        <p:nvSpPr>
          <p:cNvPr id="3" name="">
            <a:extLst xmlns:a="http://schemas.openxmlformats.org/drawingml/2006/main">
              <a:ext uri="{FF2B5EF4-FFF2-40B4-BE49-F238E27FC236}">
                <a16:creationId xmlns:a16="http://schemas.microsoft.com/office/drawing/2014/main" id="{D0A5274D-58F7-4E42-9C34-985892B6855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17B9F92-926F-43CB-94C2-FDA3546CBA7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06 / 15</a:t>
            </a:r>
          </a:p>
        </p:txBody>
      </p:sp>
      <p:sp>
        <p:nvSpPr>
          <p:cNvPr id="5" name="">
            <a:extLst xmlns:a="http://schemas.openxmlformats.org/drawingml/2006/main">
              <a:ext uri="{FF2B5EF4-FFF2-40B4-BE49-F238E27FC236}">
                <a16:creationId xmlns:a16="http://schemas.microsoft.com/office/drawing/2014/main" id="{328EA075-9795-4EDA-A6F8-ECF7B94F2C36}"/>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Accesses             Demand line operands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Fills / misses       Demand misses σε όλες τις caches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Total traffic         Fills + dirty LLC writebacks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Κοινά 10M-event windows. Whole ROI αναφέρεται χωριστά.</a:t>
            </a:r>
          </a:p>
        </p:txBody>
      </p:sp>
    </p:spTree>
    <p:extLst>
      <p:ext uri="{BB962C8B-B14F-4D97-AF65-F5344CB8AC3E}">
        <p14:creationId xmlns:p14="http://schemas.microsoft.com/office/powerpoint/2010/main" val="849212214"/>
      </p:ext>
    </p:extLst>
  </p:cSld>
</p:sld>
</file>

<file path=ppt/slides/slide7.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77CEA6-E33A-4FA0-99FC-3F8016DD308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6C9E2AE-2CD0-45BF-8098-E0286C9D273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κοινή βάση: M5 / accesses / misses</a:t>
            </a:r>
          </a:p>
        </p:txBody>
      </p:sp>
      <p:sp>
        <p:nvSpPr>
          <p:cNvPr id="3" name="">
            <a:extLst xmlns:a="http://schemas.openxmlformats.org/drawingml/2006/main">
              <a:ext uri="{FF2B5EF4-FFF2-40B4-BE49-F238E27FC236}">
                <a16:creationId xmlns:a16="http://schemas.microsoft.com/office/drawing/2014/main" id="{37FC2F7C-AA55-4B57-8945-7E8E0FBEAC96}"/>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BA11AE15-EB9A-4C7E-A818-B8DB83B5886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07 / 15</a:t>
            </a:r>
          </a:p>
        </p:txBody>
      </p:sp>
      <p:pic>
        <p:nvPicPr>
          <p:cNvPr id="5" name="">
            <a:extLst xmlns:a="http://schemas.openxmlformats.org/drawingml/2006/main">
              <a:ext uri="{FF2B5EF4-FFF2-40B4-BE49-F238E27FC236}">
                <a16:creationId xmlns:a16="http://schemas.microsoft.com/office/drawing/2014/main" id="{8FBCCA47-C7E9-46F5-86E8-76A5889B6719}"/>
              </a:ext>
            </a:extLst>
          </p:cNvPr>
          <p:cNvPicPr>
            <a:picLocks xmlns:a="http://schemas.openxmlformats.org/drawingml/2006/main" noChangeAspect="1"/>
          </p:cNvPicPr>
          <p:nvPr/>
        </p:nvPicPr>
        <p:blipFill>
          <a:blip xmlns:r="http://schemas.openxmlformats.org/officeDocument/2006/relationships" xmlns:a="http://schemas.openxmlformats.org/drawingml/2006/main" r:embed="R30c0c68e859c406e"/>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58CD84A-32E3-47F5-8E31-F9C7AFFABAD5}"/>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Baseline: kron-23, Google+ snapshot 1 για BC/SSSP · 1 thread/trial · digitized M5.</a:t>
            </a:r>
          </a:p>
        </p:txBody>
      </p:sp>
    </p:spTree>
    <p:extLst>
      <p:ext uri="{BB962C8B-B14F-4D97-AF65-F5344CB8AC3E}">
        <p14:creationId xmlns:p14="http://schemas.microsoft.com/office/powerpoint/2010/main" val="912417599"/>
      </p:ext>
    </p:extLst>
  </p:cSld>
</p:sld>
</file>

<file path=ppt/slides/slide8.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6D3F42-0A0D-4A88-B8D3-458880A4CD2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1E0B42F-B925-4C1C-AC44-DEB193EB556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Νέα inputs — ίδιο πρωτόκολλο μέτρησης</a:t>
            </a:r>
          </a:p>
        </p:txBody>
      </p:sp>
      <p:sp>
        <p:nvSpPr>
          <p:cNvPr id="3" name="">
            <a:extLst xmlns:a="http://schemas.openxmlformats.org/drawingml/2006/main">
              <a:ext uri="{FF2B5EF4-FFF2-40B4-BE49-F238E27FC236}">
                <a16:creationId xmlns:a16="http://schemas.microsoft.com/office/drawing/2014/main" id="{9F13FF86-5040-4258-BC37-0102C9CD68B5}"/>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FEE7676-AB4A-4C20-BDAE-FB4C1A0879C6}"/>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08 / 15</a:t>
            </a:r>
          </a:p>
        </p:txBody>
      </p:sp>
      <p:pic>
        <p:nvPicPr>
          <p:cNvPr id="5" name="">
            <a:extLst xmlns:a="http://schemas.openxmlformats.org/drawingml/2006/main">
              <a:ext uri="{FF2B5EF4-FFF2-40B4-BE49-F238E27FC236}">
                <a16:creationId xmlns:a16="http://schemas.microsoft.com/office/drawing/2014/main" id="{2D90B956-BEAA-4CFF-BC76-4464E9992C2A}"/>
              </a:ext>
            </a:extLst>
          </p:cNvPr>
          <p:cNvPicPr>
            <a:picLocks xmlns:a="http://schemas.openxmlformats.org/drawingml/2006/main" noChangeAspect="1"/>
          </p:cNvPicPr>
          <p:nvPr/>
        </p:nvPicPr>
        <p:blipFill>
          <a:blip xmlns:r="http://schemas.openxmlformats.org/officeDocument/2006/relationships" xmlns:a="http://schemas.openxmlformats.org/drawingml/2006/main" r:embed="R7124597488e0479b"/>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E13A944-1286-40F5-90DA-A2BD01EDC915}"/>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Twitter induced reductions · Google+ 4/2 · όχι τα exact M5 inputs ή recovered Figure 4 schedule.</a:t>
            </a:r>
          </a:p>
        </p:txBody>
      </p:sp>
    </p:spTree>
    <p:extLst>
      <p:ext uri="{BB962C8B-B14F-4D97-AF65-F5344CB8AC3E}">
        <p14:creationId xmlns:p14="http://schemas.microsoft.com/office/powerpoint/2010/main" val="1362424490"/>
      </p:ext>
    </p:extLst>
  </p:cSld>
</p:sld>
</file>

<file path=ppt/slides/slide9.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82A0861-0D50-426C-9CB6-DFB9ED89FAC3}"/>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F4E5A618-A0B5-4A5A-99C6-7AF2E80FAE61}"/>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συμφωνία δεν βελτιώθηκε παντού.</a:t>
            </a:r>
          </a:p>
        </p:txBody>
      </p:sp>
      <p:sp>
        <p:nvSpPr>
          <p:cNvPr id="3" name="">
            <a:extLst xmlns:a="http://schemas.openxmlformats.org/drawingml/2006/main">
              <a:ext uri="{FF2B5EF4-FFF2-40B4-BE49-F238E27FC236}">
                <a16:creationId xmlns:a16="http://schemas.microsoft.com/office/drawing/2014/main" id="{C53D3E02-5C0C-4C34-970C-5A6ED8631C20}"/>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A87DEEB-E314-4CD1-A488-68FF7AC4799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09 / 15</a:t>
            </a:r>
          </a:p>
        </p:txBody>
      </p:sp>
      <p:graphicFrame>
        <p:nvGraphicFramePr>
          <p:cNvPr id="5" name="">
            <a:extLst xmlns:a="http://schemas.openxmlformats.org/drawingml/2006/main">
              <a:ext uri="{FF2B5EF4-FFF2-40B4-BE49-F238E27FC236}">
                <a16:creationId xmlns:a16="http://schemas.microsoft.com/office/drawing/2014/main" id="{DEDF702F-EEBA-4526-91B5-725BD6F57075}"/>
              </a:ext>
            </a:extLst>
          </p:cNvPr>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table">
            <a:tbl>
              <a:tblPr/>
              <a:tblGrid>
                <a:gridCol w="3619500"/>
                <a:gridCol w="3619500"/>
                <a:gridCol w="3619500"/>
              </a:tblGrid>
              <a:tr h="557893">
                <a:tc>
                  <a:txBody>
                    <a:bodyPr/>
                    <a:lstStyle/>
                    <a:p>
                      <a:r>
                        <a:rPr sz="1950" b="1">
                          <a:solidFill>
                            <a:srgbClr val="FFFFFF"/>
                          </a:solidFill>
                          <a:latin typeface="Noto Sans"/>
                          <a:ea typeface="Noto Sans"/>
                          <a:cs typeface="Noto Sans"/>
                        </a:rPr>
                        <a:t>Workload</a:t>
                      </a:r>
                    </a:p>
                  </a:txBody>
                  <a:tcPr marL="91440" marR="91440" marT="45720" marB="4572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Baseline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Νέα inputs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r>
              <a:tr h="557893">
                <a:tc>
                  <a:txBody>
                    <a:bodyPr/>
                    <a:lstStyle/>
                    <a:p>
                      <a:r>
                        <a:rPr sz="1950" b="0">
                          <a:solidFill>
                            <a:srgbClr val="111111"/>
                          </a:solidFill>
                          <a:latin typeface="Noto Sans"/>
                          <a:ea typeface="Noto Sans"/>
                          <a:cs typeface="Noto Sans"/>
                        </a:rPr>
                        <a:t>BFS</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59.1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55.6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CC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50.5</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49.2</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PR</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1.5</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TC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41.6</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34.9</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BC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30.7</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77.6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SSSP</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34.0</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79.6</a:t>
                      </a:r>
                    </a:p>
                  </a:txBody>
                  <a:tcPr marL="91440" marR="91440" marT="45720" marB="45720">
                    <a:lnR w="9525">
                      <a:solidFill>
                        <a:srgbClr val="CCCCCC"/>
                      </a:solidFill>
                      <a:prstDash val="solid"/>
                    </a:lnR>
                    <a:lnB w="9525">
                      <a:solidFill>
                        <a:srgbClr val="CCCCCC"/>
                      </a:solidFill>
                      <a:prstDash val="solid"/>
                    </a:lnB>
                    <a:solidFill>
                      <a:srgbClr val="F4F2EE"/>
                    </a:solidFill>
                  </a:tcPr>
                </a:tc>
              </a:tr>
            </a:tbl>
          </a:graphicData>
        </a:graphic>
      </p:graphicFrame>
      <p:sp>
        <p:nvSpPr>
          <p:cNvPr id="6" name="">
            <a:extLst xmlns:a="http://schemas.openxmlformats.org/drawingml/2006/main">
              <a:ext uri="{FF2B5EF4-FFF2-40B4-BE49-F238E27FC236}">
                <a16:creationId xmlns:a16="http://schemas.microsoft.com/office/drawing/2014/main" id="{F1DAD406-7B28-46EB-9E82-F67F98BE6131}"/>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Pooled demand-fill CDF. Χαμηλότερο είναι πιο κοντά, όχι απόδειξη ίδιου πειράματος.</a:t>
            </a:r>
          </a:p>
        </p:txBody>
      </p:sp>
    </p:spTree>
    <p:extLst>
      <p:ext uri="{BB962C8B-B14F-4D97-AF65-F5344CB8AC3E}">
        <p14:creationId xmlns:p14="http://schemas.microsoft.com/office/powerpoint/2010/main" val="1547125110"/>
      </p:ext>
    </p:extLst>
  </p:cSld>
</p:sld>
</file>

<file path=ppt/slides/slide10.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4E6990-049D-4096-B6BC-09B914EAF22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D54AD351-9F82-4785-BBC4-3DF244FD6FCD}"/>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Γιατί accesses και misses μοιάζουν;</a:t>
            </a:r>
          </a:p>
        </p:txBody>
      </p:sp>
      <p:sp>
        <p:nvSpPr>
          <p:cNvPr id="3" name="">
            <a:extLst xmlns:a="http://schemas.openxmlformats.org/drawingml/2006/main">
              <a:ext uri="{FF2B5EF4-FFF2-40B4-BE49-F238E27FC236}">
                <a16:creationId xmlns:a16="http://schemas.microsoft.com/office/drawing/2014/main" id="{999DF0B8-18FC-4DD8-8188-7129249D1EC4}"/>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75A66C3-1659-4EEC-B4B9-0D4BFCB4405B}"/>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10 / 15</a:t>
            </a:r>
          </a:p>
        </p:txBody>
      </p:sp>
      <p:sp>
        <p:nvSpPr>
          <p:cNvPr id="5" name="">
            <a:extLst xmlns:a="http://schemas.openxmlformats.org/drawingml/2006/main">
              <a:ext uri="{FF2B5EF4-FFF2-40B4-BE49-F238E27FC236}">
                <a16:creationId xmlns:a16="http://schemas.microsoft.com/office/drawing/2014/main" id="{B960FBA7-6A7C-4A66-AC3C-3A9A92526065}"/>
              </a:ext>
            </a:extLst>
          </p:cNvPr>
          <p:cNvSpPr>
            <a:spLocks xmlns:a="http://schemas.openxmlformats.org/drawingml/2006/main" noGrp="1"/>
          </p:cNvSpPr>
          <p:nvPr/>
        </p:nvSpPr>
        <p:spPr>
          <a:xfrm xmlns:a="http://schemas.openxmlformats.org/drawingml/2006/main">
            <a:off x="571500" y="1762125"/>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11111"/>
                </a:solidFill>
                <a:latin typeface="Noto Sans"/>
                <a:ea typeface="Noto Sans"/>
                <a:cs typeface="Noto Sans"/>
              </a:defRPr>
            </a:defPPr>
            <a:lvl1pPr>
              <a:defRPr sz="4875" b="1">
                <a:solidFill>
                  <a:srgbClr val="111111"/>
                </a:solidFill>
                <a:latin typeface="Noto Sans"/>
                <a:ea typeface="Noto Sans"/>
                <a:cs typeface="Noto Sans"/>
              </a:defRPr>
            </a:lvl1pPr>
            <a:lvl2pPr>
              <a:defRPr sz="4875" b="1">
                <a:solidFill>
                  <a:srgbClr val="111111"/>
                </a:solidFill>
                <a:latin typeface="Noto Sans"/>
                <a:ea typeface="Noto Sans"/>
                <a:cs typeface="Noto Sans"/>
              </a:defRPr>
            </a:lvl2pPr>
            <a:lvl3pPr>
              <a:defRPr sz="4875" b="1">
                <a:solidFill>
                  <a:srgbClr val="111111"/>
                </a:solidFill>
                <a:latin typeface="Noto Sans"/>
                <a:ea typeface="Noto Sans"/>
                <a:cs typeface="Noto Sans"/>
              </a:defRPr>
            </a:lvl3pPr>
            <a:lvl4pPr>
              <a:defRPr sz="4875" b="1">
                <a:solidFill>
                  <a:srgbClr val="111111"/>
                </a:solidFill>
                <a:latin typeface="Noto Sans"/>
                <a:ea typeface="Noto Sans"/>
                <a:cs typeface="Noto Sans"/>
              </a:defRPr>
            </a:lvl4pPr>
            <a:lvl5pPr>
              <a:defRPr sz="4875" b="1">
                <a:solidFill>
                  <a:srgbClr val="111111"/>
                </a:solidFill>
                <a:latin typeface="Noto Sans"/>
                <a:ea typeface="Noto Sans"/>
                <a:cs typeface="Noto Sans"/>
              </a:defRPr>
            </a:lvl5pPr>
            <a:lvl6pPr>
              <a:defRPr sz="4875" b="1">
                <a:solidFill>
                  <a:srgbClr val="111111"/>
                </a:solidFill>
                <a:latin typeface="Noto Sans"/>
                <a:ea typeface="Noto Sans"/>
                <a:cs typeface="Noto Sans"/>
              </a:defRPr>
            </a:lvl6pPr>
            <a:lvl7pPr>
              <a:defRPr sz="4875" b="1">
                <a:solidFill>
                  <a:srgbClr val="111111"/>
                </a:solidFill>
                <a:latin typeface="Noto Sans"/>
                <a:ea typeface="Noto Sans"/>
                <a:cs typeface="Noto Sans"/>
              </a:defRPr>
            </a:lvl7pPr>
            <a:lvl8pPr>
              <a:defRPr sz="4875" b="1">
                <a:solidFill>
                  <a:srgbClr val="111111"/>
                </a:solidFill>
                <a:latin typeface="Noto Sans"/>
                <a:ea typeface="Noto Sans"/>
                <a:cs typeface="Noto Sans"/>
              </a:defRPr>
            </a:lvl8pPr>
            <a:lvl9pPr>
              <a:defRPr sz="4875" b="1">
                <a:solidFill>
                  <a:srgbClr val="111111"/>
                </a:solidFill>
                <a:latin typeface="Noto Sans"/>
                <a:ea typeface="Noto Sans"/>
                <a:cs typeface="Noto Sans"/>
              </a:defRPr>
            </a:lvl9pPr>
          </a:lstStyle>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168,8M accesses</a:t>
            </a:r>
          </a:p>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7,9M fills</a:t>
            </a:r>
          </a:p>
        </p:txBody>
      </p:sp>
      <p:sp>
        <p:nvSpPr>
          <p:cNvPr id="6" name="">
            <a:extLst xmlns:a="http://schemas.openxmlformats.org/drawingml/2006/main">
              <a:ext uri="{FF2B5EF4-FFF2-40B4-BE49-F238E27FC236}">
                <a16:creationId xmlns:a16="http://schemas.microsoft.com/office/drawing/2014/main" id="{C8DCEB02-D067-4FE5-99C0-5FB8332CB7AF}"/>
              </a:ext>
            </a:extLst>
          </p:cNvPr>
          <p:cNvSpPr>
            <a:spLocks xmlns:a="http://schemas.openxmlformats.org/drawingml/2006/main" noGrp="1"/>
          </p:cNvSpPr>
          <p:nvPr/>
        </p:nvSpPr>
        <p:spPr>
          <a:xfrm xmlns:a="http://schemas.openxmlformats.org/drawingml/2006/main">
            <a:off x="571500" y="4000500"/>
            <a:ext cx="1085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Ίδια κάλυψη γραμμών δεν σημαίνει ίδιο πλήθος requests.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Η CDF μετρά διαφορετικές γραμμές, όχι miss rate.</a:t>
            </a:r>
          </a:p>
        </p:txBody>
      </p:sp>
    </p:spTree>
    <p:extLst>
      <p:ext uri="{BB962C8B-B14F-4D97-AF65-F5344CB8AC3E}">
        <p14:creationId xmlns:p14="http://schemas.microsoft.com/office/powerpoint/2010/main" val="153054216"/>
      </p:ext>
    </p:extLst>
  </p:cSld>
</p:sld>
</file>

<file path=ppt/slides/slide1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B20057-702F-4F54-9453-1F3B5EF4334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7AAB217D-BF29-4B75-9016-3D239A842FB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δοκιμάζεται τώρα;</a:t>
            </a:r>
          </a:p>
        </p:txBody>
      </p:sp>
      <p:sp>
        <p:nvSpPr>
          <p:cNvPr id="3" name="">
            <a:extLst xmlns:a="http://schemas.openxmlformats.org/drawingml/2006/main">
              <a:ext uri="{FF2B5EF4-FFF2-40B4-BE49-F238E27FC236}">
                <a16:creationId xmlns:a16="http://schemas.microsoft.com/office/drawing/2014/main" id="{B25FEEF7-458B-40BA-BBE1-EADDFD7B7E5F}"/>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865DBF1-7D67-46C3-9E10-C2E925073E0C}"/>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11 / 15</a:t>
            </a:r>
          </a:p>
        </p:txBody>
      </p:sp>
      <p:sp>
        <p:nvSpPr>
          <p:cNvPr id="5" name="">
            <a:extLst xmlns:a="http://schemas.openxmlformats.org/drawingml/2006/main">
              <a:ext uri="{FF2B5EF4-FFF2-40B4-BE49-F238E27FC236}">
                <a16:creationId xmlns:a16="http://schemas.microsoft.com/office/drawing/2014/main" id="{E510D122-EB04-49F0-AAA1-D261DD6E3461}"/>
              </a:ext>
            </a:extLst>
          </p:cNvPr>
          <p:cNvSpPr>
            <a:spLocks xmlns:a="http://schemas.openxmlformats.org/drawingml/2006/main" noGrp="1"/>
          </p:cNvSpPr>
          <p:nvPr/>
        </p:nvSpPr>
        <p:spPr>
          <a:xfrm xmlns:a="http://schemas.openxmlformats.org/drawingml/2006/main">
            <a:off x="571500" y="16192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11111"/>
                </a:solidFill>
                <a:latin typeface="Noto Sans"/>
                <a:ea typeface="Noto Sans"/>
                <a:cs typeface="Noto Sans"/>
              </a:defRPr>
            </a:defPPr>
            <a:lvl1pPr>
              <a:defRPr sz="2100" b="0">
                <a:solidFill>
                  <a:srgbClr val="111111"/>
                </a:solidFill>
                <a:latin typeface="Noto Sans"/>
                <a:ea typeface="Noto Sans"/>
                <a:cs typeface="Noto Sans"/>
              </a:defRPr>
            </a:lvl1pPr>
            <a:lvl2pPr>
              <a:defRPr sz="2100" b="0">
                <a:solidFill>
                  <a:srgbClr val="111111"/>
                </a:solidFill>
                <a:latin typeface="Noto Sans"/>
                <a:ea typeface="Noto Sans"/>
                <a:cs typeface="Noto Sans"/>
              </a:defRPr>
            </a:lvl2pPr>
            <a:lvl3pPr>
              <a:defRPr sz="2100" b="0">
                <a:solidFill>
                  <a:srgbClr val="111111"/>
                </a:solidFill>
                <a:latin typeface="Noto Sans"/>
                <a:ea typeface="Noto Sans"/>
                <a:cs typeface="Noto Sans"/>
              </a:defRPr>
            </a:lvl3pPr>
            <a:lvl4pPr>
              <a:defRPr sz="2100" b="0">
                <a:solidFill>
                  <a:srgbClr val="111111"/>
                </a:solidFill>
                <a:latin typeface="Noto Sans"/>
                <a:ea typeface="Noto Sans"/>
                <a:cs typeface="Noto Sans"/>
              </a:defRPr>
            </a:lvl4pPr>
            <a:lvl5pPr>
              <a:defRPr sz="2100" b="0">
                <a:solidFill>
                  <a:srgbClr val="111111"/>
                </a:solidFill>
                <a:latin typeface="Noto Sans"/>
                <a:ea typeface="Noto Sans"/>
                <a:cs typeface="Noto Sans"/>
              </a:defRPr>
            </a:lvl5pPr>
            <a:lvl6pPr>
              <a:defRPr sz="2100" b="0">
                <a:solidFill>
                  <a:srgbClr val="111111"/>
                </a:solidFill>
                <a:latin typeface="Noto Sans"/>
                <a:ea typeface="Noto Sans"/>
                <a:cs typeface="Noto Sans"/>
              </a:defRPr>
            </a:lvl6pPr>
            <a:lvl7pPr>
              <a:defRPr sz="2100" b="0">
                <a:solidFill>
                  <a:srgbClr val="111111"/>
                </a:solidFill>
                <a:latin typeface="Noto Sans"/>
                <a:ea typeface="Noto Sans"/>
                <a:cs typeface="Noto Sans"/>
              </a:defRPr>
            </a:lvl7pPr>
            <a:lvl8pPr>
              <a:defRPr sz="2100" b="0">
                <a:solidFill>
                  <a:srgbClr val="111111"/>
                </a:solidFill>
                <a:latin typeface="Noto Sans"/>
                <a:ea typeface="Noto Sans"/>
                <a:cs typeface="Noto Sans"/>
              </a:defRPr>
            </a:lvl8pPr>
            <a:lvl9pPr>
              <a:defRPr sz="2100" b="0">
                <a:solidFill>
                  <a:srgbClr val="111111"/>
                </a:solidFill>
                <a:latin typeface="Noto Sans"/>
                <a:ea typeface="Noto Sans"/>
                <a:cs typeface="Noto Sans"/>
              </a:defRPr>
            </a:lvl9pPr>
          </a:lstStyle>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Full process έναντι timed-kernel ROI.</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Real inputs μαζί με 20 software threads.</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9 LLC ways αντί για 10.</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TC footprint: επιλογή μόνο με native RSS.</a:t>
            </a:r>
          </a:p>
          <a:p xmlns:a="http://schemas.openxmlformats.org/drawingml/2006/main">
            <a:r>
              <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Ολοκληρωμένοι έλεγχοι: 0 / 21</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Κατάσταση: αναμονή ολοκλήρωσης των repetition controls</a:t>
            </a:r>
          </a:p>
        </p:txBody>
      </p:sp>
    </p:spTree>
    <p:extLst>
      <p:ext uri="{BB962C8B-B14F-4D97-AF65-F5344CB8AC3E}">
        <p14:creationId xmlns:p14="http://schemas.microsoft.com/office/powerpoint/2010/main" val="2032831063"/>
      </p:ext>
    </p:extLst>
  </p:cSld>
</p:sld>
</file>

<file path=ppt/slides/slide1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9E008B-276E-4DAE-B063-5209BE6EB6F1}"/>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D49EFE74-BB9B-4102-A1C0-D1E4B8E45B6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ίδιο γράφημα στο SimCXL</a:t>
            </a:r>
          </a:p>
        </p:txBody>
      </p:sp>
      <p:sp>
        <p:nvSpPr>
          <p:cNvPr id="3" name="">
            <a:extLst xmlns:a="http://schemas.openxmlformats.org/drawingml/2006/main">
              <a:ext uri="{FF2B5EF4-FFF2-40B4-BE49-F238E27FC236}">
                <a16:creationId xmlns:a16="http://schemas.microsoft.com/office/drawing/2014/main" id="{02C6F47E-D54F-4EA1-A56C-57F97D87F486}"/>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3866FA4-222B-4577-BE67-D9FD305CB31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12 / 15</a:t>
            </a:r>
          </a:p>
        </p:txBody>
      </p:sp>
      <p:pic>
        <p:nvPicPr>
          <p:cNvPr id="5" name="">
            <a:extLst xmlns:a="http://schemas.openxmlformats.org/drawingml/2006/main">
              <a:ext uri="{FF2B5EF4-FFF2-40B4-BE49-F238E27FC236}">
                <a16:creationId xmlns:a16="http://schemas.microsoft.com/office/drawing/2014/main" id="{05D5946A-5C4F-48F1-866D-ADA0F4A8E107}"/>
              </a:ext>
            </a:extLst>
          </p:cNvPr>
          <p:cNvPicPr>
            <a:picLocks xmlns:a="http://schemas.openxmlformats.org/drawingml/2006/main" noChangeAspect="1"/>
          </p:cNvPicPr>
          <p:nvPr/>
        </p:nvPicPr>
        <p:blipFill>
          <a:blip xmlns:r="http://schemas.openxmlformats.org/officeDocument/2006/relationships" xmlns:a="http://schemas.openxmlformats.org/drawingml/2006/main" r:embed="R94e0ddc303834086"/>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923C036-FBA9-46C0-839C-D74DD7DDCF72}"/>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PR: running · TC: queued · Snapshot resume: bounded validation passed, reboot untested.</a:t>
            </a:r>
          </a:p>
        </p:txBody>
      </p:sp>
    </p:spTree>
    <p:extLst>
      <p:ext uri="{BB962C8B-B14F-4D97-AF65-F5344CB8AC3E}">
        <p14:creationId xmlns:p14="http://schemas.microsoft.com/office/powerpoint/2010/main" val="358444746"/>
      </p:ext>
    </p:extLst>
  </p:cSld>
</p:sld>
</file>

<file path=ppt/slides/slide1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779BD9-30A2-480B-AB18-2AAF0EBA044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C032BBE-F431-47F5-93E1-68078EFDE83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PAC / WAC και bounded trackers</a:t>
            </a:r>
          </a:p>
        </p:txBody>
      </p:sp>
      <p:sp>
        <p:nvSpPr>
          <p:cNvPr id="3" name="">
            <a:extLst xmlns:a="http://schemas.openxmlformats.org/drawingml/2006/main">
              <a:ext uri="{FF2B5EF4-FFF2-40B4-BE49-F238E27FC236}">
                <a16:creationId xmlns:a16="http://schemas.microsoft.com/office/drawing/2014/main" id="{824AB7A5-E5D1-4F05-B003-4E96DE026BF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ED892D8A-F08E-4B31-8396-DD66B7CF7956}"/>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13 / 15</a:t>
            </a:r>
          </a:p>
        </p:txBody>
      </p:sp>
      <p:pic>
        <p:nvPicPr>
          <p:cNvPr id="5" name="">
            <a:extLst xmlns:a="http://schemas.openxmlformats.org/drawingml/2006/main">
              <a:ext uri="{FF2B5EF4-FFF2-40B4-BE49-F238E27FC236}">
                <a16:creationId xmlns:a16="http://schemas.microsoft.com/office/drawing/2014/main" id="{E963A6F9-7F3F-40F7-A7D9-E907B4ED9DF2}"/>
              </a:ext>
            </a:extLst>
          </p:cNvPr>
          <p:cNvPicPr>
            <a:picLocks xmlns:a="http://schemas.openxmlformats.org/drawingml/2006/main" noChangeAspect="1"/>
          </p:cNvPicPr>
          <p:nvPr/>
        </p:nvPicPr>
        <p:blipFill>
          <a:blip xmlns:r="http://schemas.openxmlformats.org/officeDocument/2006/relationships" xmlns:a="http://schemas.openxmlformats.org/drawingml/2006/main" r:embed="Rf163c8ed802b46e3"/>
          <a:stretch xmlns:a="http://schemas.openxmlformats.org/drawingml/2006/main"/>
        </p:blipFill>
        <p:spPr>
          <a:xfrm xmlns:a="http://schemas.openxmlformats.org/drawingml/2006/main">
            <a:off x="523875" y="1576917"/>
            <a:ext cx="7524750" cy="41804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2C4892B-E4C2-4F15-901D-80C25C761E82}"/>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Exact counters: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PAC / WAC</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Bounded trackers: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HPT / HWT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Space-Saving</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Count-Min + top-K</a:t>
            </a:r>
          </a:p>
        </p:txBody>
      </p:sp>
    </p:spTree>
    <p:extLst>
      <p:ext uri="{BB962C8B-B14F-4D97-AF65-F5344CB8AC3E}">
        <p14:creationId xmlns:p14="http://schemas.microsoft.com/office/powerpoint/2010/main" val="1289259328"/>
      </p:ext>
    </p:extLst>
  </p:cSld>
</p:sld>
</file>

<file path=ppt/slides/slide1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701FA1-B8C1-4D24-8BBF-A0BBF7E723D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13F4193B-D201-426B-BBA6-94A63C21B57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Πέρα από το αρχικό γράφημα</a:t>
            </a:r>
          </a:p>
        </p:txBody>
      </p:sp>
      <p:sp>
        <p:nvSpPr>
          <p:cNvPr id="3" name="">
            <a:extLst xmlns:a="http://schemas.openxmlformats.org/drawingml/2006/main">
              <a:ext uri="{FF2B5EF4-FFF2-40B4-BE49-F238E27FC236}">
                <a16:creationId xmlns:a16="http://schemas.microsoft.com/office/drawing/2014/main" id="{92E892A2-66D3-4098-8A4B-B213BED147ED}"/>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6A4C51B-EB92-438E-A12D-1CF05E3263CB}"/>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14 / 15</a:t>
            </a:r>
          </a:p>
        </p:txBody>
      </p:sp>
      <p:pic>
        <p:nvPicPr>
          <p:cNvPr id="5" name="">
            <a:extLst xmlns:a="http://schemas.openxmlformats.org/drawingml/2006/main">
              <a:ext uri="{FF2B5EF4-FFF2-40B4-BE49-F238E27FC236}">
                <a16:creationId xmlns:a16="http://schemas.microsoft.com/office/drawing/2014/main" id="{05C71995-A476-4BC7-9EC0-05A75284DAF6}"/>
              </a:ext>
            </a:extLst>
          </p:cNvPr>
          <p:cNvPicPr>
            <a:picLocks xmlns:a="http://schemas.openxmlformats.org/drawingml/2006/main" noChangeAspect="1"/>
          </p:cNvPicPr>
          <p:nvPr/>
        </p:nvPicPr>
        <p:blipFill>
          <a:blip xmlns:r="http://schemas.openxmlformats.org/officeDocument/2006/relationships" xmlns:a="http://schemas.openxmlformats.org/drawingml/2006/main" r:embed="Rd82131e3b4394cc4"/>
          <a:stretch xmlns:a="http://schemas.openxmlformats.org/drawingml/2006/main"/>
        </p:blipFill>
        <p:spPr>
          <a:xfrm xmlns:a="http://schemas.openxmlformats.org/drawingml/2006/main">
            <a:off x="523875" y="1660525"/>
            <a:ext cx="7524750" cy="4013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1C22002-0C4D-4EC0-BB3F-FD2D2A752483}"/>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Granularity sweeps</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Hot-set turnover</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Previous-window placement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Serial cost sensitivity</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όχι measured speedup</a:t>
            </a:r>
          </a:p>
        </p:txBody>
      </p:sp>
    </p:spTree>
    <p:extLst>
      <p:ext uri="{BB962C8B-B14F-4D97-AF65-F5344CB8AC3E}">
        <p14:creationId xmlns:p14="http://schemas.microsoft.com/office/powerpoint/2010/main" val="311125909"/>
      </p:ext>
    </p:extLst>
  </p:cSld>
</p:sld>
</file>

<file path=ppt/slides/slide1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5D04B8C-F573-4902-9D0C-B1C4B44C91F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7311E032-4B07-4701-83ED-F93A2AE60BEE}"/>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χρειάζεται για πραγματική αναπαραγωγή;</a:t>
            </a:r>
          </a:p>
        </p:txBody>
      </p:sp>
      <p:sp>
        <p:nvSpPr>
          <p:cNvPr id="3" name="">
            <a:extLst xmlns:a="http://schemas.openxmlformats.org/drawingml/2006/main">
              <a:ext uri="{FF2B5EF4-FFF2-40B4-BE49-F238E27FC236}">
                <a16:creationId xmlns:a16="http://schemas.microsoft.com/office/drawing/2014/main" id="{A3472F9C-5D75-43A1-A2A5-A79D7B9C630F}"/>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C5464AD3-F13E-4CB4-9B5E-4087A23309EC}"/>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15 / 15</a:t>
            </a:r>
          </a:p>
        </p:txBody>
      </p:sp>
      <p:sp>
        <p:nvSpPr>
          <p:cNvPr id="5" name="">
            <a:extLst xmlns:a="http://schemas.openxmlformats.org/drawingml/2006/main">
              <a:ext uri="{FF2B5EF4-FFF2-40B4-BE49-F238E27FC236}">
                <a16:creationId xmlns:a16="http://schemas.microsoft.com/office/drawing/2014/main" id="{ECD16480-D6E7-4872-A929-00E19D26774B}"/>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Exact reduced graphs, weights και vertex ordering.</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WAC reset / region collection / aggregation.</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Συγκρίσιμο scope και πληθυσμός σελίδων.</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Κρατάμε ό,τι βελτιώνει τη συμφωνία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μαζί με τις αρνητικές δοκιμές και τους περιορισμούς.</a:t>
            </a:r>
          </a:p>
        </p:txBody>
      </p:sp>
    </p:spTree>
    <p:extLst>
      <p:ext uri="{BB962C8B-B14F-4D97-AF65-F5344CB8AC3E}">
        <p14:creationId xmlns:p14="http://schemas.microsoft.com/office/powerpoint/2010/main" val="1793896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2026-10-28T18:59:57.7600000Z</dcterms:created>
  <dcterms:modified xsi:type="dcterms:W3CDTF">2026-10-28T18:59:57.7600000Z</dcterms:modified>
</coreProperties>
</file>