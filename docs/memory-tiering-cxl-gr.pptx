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22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A2233"/>
                </a:solidFill>
                <a:latin typeface="Calibri"/>
              </a:rPr>
              <a:t>Αθροιστικό % προσπελάσεων στις k θερμότερες γραμμές 64 B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Zipf (Btree / YCSB)</c:v>
                </c:pt>
              </c:strCache>
            </c:strRef>
          </c:tx>
          <c:spPr>
            <a:solidFill>
              <a:srgbClr val="F9615F"/>
            </a:solidFill>
            <a:ln w="38100" cap="flat">
              <a:solidFill>
                <a:srgbClr val="F9615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9615F"/>
              </a:solidFill>
              <a:ln w="9525" cap="flat">
                <a:solidFill>
                  <a:srgbClr val="F9615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</c:v>
                  </c:pt>
                  <c:pt idx="1">
                    <c:v>4</c:v>
                  </c:pt>
                  <c:pt idx="2">
                    <c:v>8</c:v>
                  </c:pt>
                  <c:pt idx="3">
                    <c:v>16</c:v>
                  </c:pt>
                  <c:pt idx="4">
                    <c:v>24</c:v>
                  </c:pt>
                  <c:pt idx="5">
                    <c:v>32</c:v>
                  </c:pt>
                  <c:pt idx="6">
                    <c:v>48</c:v>
                  </c:pt>
                  <c:pt idx="7">
                    <c:v>64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31</c:v>
                </c:pt>
                <c:pt idx="1">
                  <c:v>62</c:v>
                </c:pt>
                <c:pt idx="2">
                  <c:v>78</c:v>
                </c:pt>
                <c:pt idx="3">
                  <c:v>88</c:v>
                </c:pt>
                <c:pt idx="4">
                  <c:v>93</c:v>
                </c:pt>
                <c:pt idx="5">
                  <c:v>96</c:v>
                </c:pt>
                <c:pt idx="6">
                  <c:v>99</c:v>
                </c:pt>
                <c:pt idx="7">
                  <c:v>100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Ομοιόμορφη (GUPS)</c:v>
                </c:pt>
              </c:strCache>
            </c:strRef>
          </c:tx>
          <c:spPr>
            <a:solidFill>
              <a:srgbClr val="3E6B8C"/>
            </a:solidFill>
            <a:ln w="38100" cap="flat">
              <a:solidFill>
                <a:srgbClr val="3E6B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E6B8C"/>
              </a:solidFill>
              <a:ln w="9525" cap="flat">
                <a:solidFill>
                  <a:srgbClr val="3E6B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</c:v>
                  </c:pt>
                  <c:pt idx="1">
                    <c:v>4</c:v>
                  </c:pt>
                  <c:pt idx="2">
                    <c:v>8</c:v>
                  </c:pt>
                  <c:pt idx="3">
                    <c:v>16</c:v>
                  </c:pt>
                  <c:pt idx="4">
                    <c:v>24</c:v>
                  </c:pt>
                  <c:pt idx="5">
                    <c:v>32</c:v>
                  </c:pt>
                  <c:pt idx="6">
                    <c:v>48</c:v>
                  </c:pt>
                  <c:pt idx="7">
                    <c:v>64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</c:v>
                </c:pt>
                <c:pt idx="1">
                  <c:v>6</c:v>
                </c:pt>
                <c:pt idx="2">
                  <c:v>13</c:v>
                </c:pt>
                <c:pt idx="3">
                  <c:v>25</c:v>
                </c:pt>
                <c:pt idx="4">
                  <c:v>38</c:v>
                </c:pt>
                <c:pt idx="5">
                  <c:v>50</c:v>
                </c:pt>
                <c:pt idx="6">
                  <c:v>75</c:v>
                </c:pt>
                <c:pt idx="7">
                  <c:v>100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B7A9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B7A90"/>
                    </a:solidFill>
                    <a:latin typeface="Arial"/>
                  </a:rPr>
                  <a:t>k θερμότερες γραμμές των 64 B μέσα στη σελίδα (από 64)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9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E3E9F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B7A9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B7A90"/>
                    </a:solidFill>
                    <a:latin typeface="Arial"/>
                  </a:rPr>
                  <a:t>Αθροιστικό % προσπελάσεων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9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223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Στόχος: να δείξω ότι κατάλαβα το πρόβλημα και ότι έχω αξιόπιστο πλάνο. Δεν έχω ακόμα αποτελέσματα — και το λέω ανοιχτά.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Ένας αριθμός να μείνει: ~25% stranded DRAM. Αυτό είναι το οικονομικό κίνητρο όλου του πεδίου.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Το σημείο: η DRAM στην κάρτα είναι κανονική DDR5. Η διασύνδεση είναι ο φόρος. Γι' αυτό υπάρχει tiering.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Γιατί είναι δύσκολη η προαγωγή: απαιτεί να ξέρεις ότι μια σελίδα είναι θερμή ΤΩΡΑ — και αυτό κοστίζει.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Κοινός παρονομαστής: ακρίβεια × επικαιρότητα × overhead — διάλεξε δύο.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Αυτό είναι το σημείο που θα με ρωτήσουν. Η απάντηση: κοκκομέτρηση profiling ≠ κοκκομέτρηση migration. Το M5 κάνει profiling στα 64 B και migration στα 4 KB — δεν είναι συμβιβασμός, είναι ο σχεδιασμός.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Τάξη μεγέθους: μικροδευτερόλεπτα έναντι νανοδευτερολέπτων. Χιλιαπλάσιο κόστος από αυτό που γλιτώνεις ανά προσπέλαση.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Το ότι διαφωνούν είναι δύναμη στην παρουσίαση: δείχνει ότι διάβασα και τις τρεις, όχι μία.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Αυτή η διαφάνεια ξεχωρίζει το «διάβασα μια εργασία» από το «κατάλαβα το πρόβλημα». Να μην κοπεί.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Ανοιχτό θέμα: χρειάζομαι πρόσβαση στο αποθετήριο του CXLRAMSim. Η δημοσίευση λέει ότι σχεδιάζουν να το ανοίξουν, αλλά δεν βρήκα δημόσιο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Πάντα αναφέρω και τα δύο φράγματα δίπλα σε κάθε σχήμα — αλλιώς το νούμερο δεν ερμηνεύεται.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Σκίτσο, όχι δεδομένα — και το δηλώνω. Ο Zipf φόρτος δείχνει ακραία συγκέντρωση· το GUPS είναι σχεδόν ομοιόμορφο και λειτουργεί ως αρνητικός έλεγχος.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Δηλώνω ξεκάθαρα τι είναι βασικό και τι είναι stretch goal.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Το να ρωτάω ανοιχτά είναι δύναμη, όχι αδυναμία. Και έχω έτοιμη την απάντηση για το «γιατί όχι απευθείας cache lines»: δεν υπάρχει PTE για γραμμή → χρειάζεται έμμεση αναφορά σε υλικό → αυτό είναι το Flat Memory Mode → που κοστίζει αστοχίες σύγκρουσης και χωρητικότητα → που είναι ακριβώς αυτό που έρχεται να λύσει το Memstrata.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ΕΡΓΑΣΙΑ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Tiering σε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συστήματα CXL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37033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8F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Προσομοίωση τεχνικών ιεραρχικής διαχείρισης μνήμης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8F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 υποστήριξη υλικού, στον προσομοιωτή CXLRAMSim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8920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Προηγμένη Αρχιτεκτονική Υπολογιστών  ·  ΕΜΠ  ·  Παρουσίαση ιδέας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686800" y="1965960"/>
            <a:ext cx="2743200" cy="868680"/>
          </a:xfrm>
          <a:prstGeom prst="roundRect">
            <a:avLst>
              <a:gd name="adj" fmla="val 5263"/>
            </a:avLst>
          </a:prstGeom>
          <a:solidFill>
            <a:srgbClr val="F9615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0" y="196596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DDR  ·  γρήγορη  ·  μικρή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0" y="28895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~80–100 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686800" y="3310128"/>
            <a:ext cx="2743200" cy="1691640"/>
          </a:xfrm>
          <a:prstGeom prst="roundRect">
            <a:avLst>
              <a:gd name="adj" fmla="val 2703"/>
            </a:avLst>
          </a:prstGeom>
          <a:solidFill>
            <a:srgbClr val="3E6B8C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0" y="3310128"/>
            <a:ext cx="2743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CXL  ·  αργή  ·  μεγάλη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0" y="50566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~250–400 ns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ΚΙΝΗΤΡΟ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Η μνήμη είναι ο περιοριστικός πόρος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DRAM είναι ακριβή και η χωρητικότητα ανά socket έχει φτάσει σε τοίχο: περιορισμένα DIMM slots, περιορισμένα pins DDR.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Για περισσότερη μνήμη αγοράζεις περισσότερους επεξεργαστές που δεν χρειάζεσαι.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CXL επιτρέπει την επέκταση χωρητικότητας πάνω από τον δίαυλο PCIe, ανεξάρτητα από τους πυρήνες.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886200"/>
            <a:ext cx="658368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27000" dist="25400" dir="5400000">
              <a:srgbClr val="8494AB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40690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πρόβλημα σε αριθμούς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438912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Σε στόλους cloud, μεγάλο μέρος της εγκατεστημένης DRAM μένει αναξιοποίητο («stranded») επειδή οι πυρήνες του μηχανήματος έχουν ήδη πουληθεί.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589520" y="1691640"/>
            <a:ext cx="4023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27000" dist="25400" dir="5400000">
              <a:srgbClr val="8494AB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0" y="23317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961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~25%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7772400" y="3566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της DRAM σε στόλο υπερκλίμακας</a:t>
            </a:r>
            <a:endParaRPr lang="en-US" sz="14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παραμένει «stranded»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0" y="44348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— αναφορά στο Pond, ASPLOS '23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ΤΙΜΗΜΑ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Τι κοστίζει πραγματικά η μνήμη CXL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5836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Διαδρομή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Καθυστέρηση (idle)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Εύρος ζώνης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Τοπική DDR5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~80–100 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~30–50 GB/s ανά κανάλι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Απομακρυσμένο NUMA socket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~140–180 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961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Μνήμη CXL (x8 Gen5)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961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~250–400 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961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~25–30 GB/s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5204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961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2–3×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1920240" y="356616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μεγαλύτερη καθυστέρηση — ενώ η DRAM πάνω στην κάρτα είναι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κανονική DDR5. Το τίμημα είναι η διασύνδεση, όχι η μνήμη.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4434840"/>
            <a:ext cx="6583680" cy="960120"/>
          </a:xfrm>
          <a:prstGeom prst="roundRect">
            <a:avLst>
              <a:gd name="adj" fmla="val 5714"/>
            </a:avLst>
          </a:prstGeom>
          <a:solidFill>
            <a:srgbClr val="FDF0EF"/>
          </a:solidFill>
          <a:ln w="12700">
            <a:solidFill>
              <a:srgbClr val="F6C9C7"/>
            </a:solidFill>
            <a:prstDash val="solid"/>
          </a:ln>
          <a:effectLst>
            <a:outerShdw sx="100000" sy="100000" kx="0" ky="0" algn="bl" rotWithShape="0" blurRad="127000" dist="25400" dir="5400000">
              <a:srgbClr val="8494AB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4572000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Συνέπεια: φόρτοι δεσμευμένοι από καθυστέρηση (pointer chasing) υποφέρουν· φόρτοι δεσμευμένοι από εύρος ζώνης σχεδόν δεν το αντιλαμβάνονται.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589520" y="1737360"/>
            <a:ext cx="40233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27000" dist="25400" dir="5400000">
              <a:srgbClr val="8494AB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818120" y="19019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διαδρομή ενός load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863840" y="2359152"/>
            <a:ext cx="146304" cy="146304"/>
          </a:xfrm>
          <a:prstGeom prst="ellipse">
            <a:avLst/>
          </a:prstGeom>
          <a:solidFill>
            <a:srgbClr val="3E6B8C"/>
          </a:solidFill>
          <a:ln/>
        </p:spPr>
      </p:sp>
      <p:sp>
        <p:nvSpPr>
          <p:cNvPr id="12" name="Text 9"/>
          <p:cNvSpPr/>
          <p:nvPr/>
        </p:nvSpPr>
        <p:spPr>
          <a:xfrm>
            <a:off x="8156448" y="228600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Πυρήνας CPU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863840" y="2761488"/>
            <a:ext cx="146304" cy="146304"/>
          </a:xfrm>
          <a:prstGeom prst="ellipse">
            <a:avLst/>
          </a:prstGeom>
          <a:solidFill>
            <a:srgbClr val="3E6B8C"/>
          </a:solidFill>
          <a:ln/>
        </p:spPr>
      </p:sp>
      <p:sp>
        <p:nvSpPr>
          <p:cNvPr id="14" name="Text 11"/>
          <p:cNvSpPr/>
          <p:nvPr/>
        </p:nvSpPr>
        <p:spPr>
          <a:xfrm>
            <a:off x="8156448" y="26883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Αστοχία LLC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863840" y="3163824"/>
            <a:ext cx="146304" cy="146304"/>
          </a:xfrm>
          <a:prstGeom prst="ellipse">
            <a:avLst/>
          </a:prstGeom>
          <a:solidFill>
            <a:srgbClr val="3E6B8C"/>
          </a:solidFill>
          <a:ln/>
        </p:spPr>
      </p:sp>
      <p:sp>
        <p:nvSpPr>
          <p:cNvPr id="16" name="Text 13"/>
          <p:cNvSpPr/>
          <p:nvPr/>
        </p:nvSpPr>
        <p:spPr>
          <a:xfrm>
            <a:off x="8156448" y="309067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CXL Root Complex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863840" y="3566160"/>
            <a:ext cx="146304" cy="146304"/>
          </a:xfrm>
          <a:prstGeom prst="ellipse">
            <a:avLst/>
          </a:prstGeom>
          <a:solidFill>
            <a:srgbClr val="F9615F"/>
          </a:solidFill>
          <a:ln/>
        </p:spPr>
      </p:sp>
      <p:sp>
        <p:nvSpPr>
          <p:cNvPr id="18" name="Text 15"/>
          <p:cNvSpPr/>
          <p:nvPr/>
        </p:nvSpPr>
        <p:spPr>
          <a:xfrm>
            <a:off x="8156448" y="349300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Πακετοποίηση M2S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863840" y="3968496"/>
            <a:ext cx="146304" cy="146304"/>
          </a:xfrm>
          <a:prstGeom prst="ellipse">
            <a:avLst/>
          </a:prstGeom>
          <a:solidFill>
            <a:srgbClr val="F9615F"/>
          </a:solidFill>
          <a:ln/>
        </p:spPr>
      </p:sp>
      <p:sp>
        <p:nvSpPr>
          <p:cNvPr id="20" name="Text 17"/>
          <p:cNvSpPr/>
          <p:nvPr/>
        </p:nvSpPr>
        <p:spPr>
          <a:xfrm>
            <a:off x="8156448" y="389534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Σύνδεσμος PCIe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863840" y="4370832"/>
            <a:ext cx="146304" cy="146304"/>
          </a:xfrm>
          <a:prstGeom prst="ellipse">
            <a:avLst/>
          </a:prstGeom>
          <a:solidFill>
            <a:srgbClr val="F9615F"/>
          </a:solidFill>
          <a:ln/>
        </p:spPr>
      </p:sp>
      <p:sp>
        <p:nvSpPr>
          <p:cNvPr id="22" name="Text 19"/>
          <p:cNvSpPr/>
          <p:nvPr/>
        </p:nvSpPr>
        <p:spPr>
          <a:xfrm>
            <a:off x="8156448" y="429768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Ελεγκτής συσκευής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863840" y="4773168"/>
            <a:ext cx="146304" cy="146304"/>
          </a:xfrm>
          <a:prstGeom prst="ellipse">
            <a:avLst/>
          </a:prstGeom>
          <a:solidFill>
            <a:srgbClr val="3E6B8C"/>
          </a:solidFill>
          <a:ln/>
        </p:spPr>
      </p:sp>
      <p:sp>
        <p:nvSpPr>
          <p:cNvPr id="24" name="Text 21"/>
          <p:cNvSpPr/>
          <p:nvPr/>
        </p:nvSpPr>
        <p:spPr>
          <a:xfrm>
            <a:off x="8156448" y="470001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 στην κάρτα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7818120" y="50292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…και όλη η διαδρομή αντίστροφα (S2M)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ΔΙΑΤΥΠΩΣΗ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Το πρόβλημα του tiering, με μια πρόταση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Δύο βαθμίδες μνήμης. Κράτα τα «θερμά» δεδομένα στη γρήγορη. Αν το πετύχεις, ένα μηχάνημα με 25% τοπική DRAM αποδίδει σχεδόν σαν να είχε 100%.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53949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27000" dist="25400" dir="5400000">
              <a:srgbClr val="8494AB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697480"/>
            <a:ext cx="402336" cy="402336"/>
          </a:xfrm>
          <a:prstGeom prst="ellipse">
            <a:avLst/>
          </a:prstGeom>
          <a:solidFill>
            <a:srgbClr val="F9615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97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17320" y="271576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Προαγωγή (promotion)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32004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Αργή → γρήγορη. Πρέπει να γίνει έγκαιρα: μια σελίδα που προάγεται αφού κρυώσει είναι καθαρή σπατάλη.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2423160"/>
            <a:ext cx="53949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27000" dist="25400" dir="5400000">
              <a:srgbClr val="8494AB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37960" y="2697480"/>
            <a:ext cx="402336" cy="402336"/>
          </a:xfrm>
          <a:prstGeom prst="ellipse">
            <a:avLst/>
          </a:prstGeom>
          <a:solidFill>
            <a:srgbClr val="3E6B8C"/>
          </a:solidFill>
          <a:ln/>
        </p:spPr>
      </p:sp>
      <p:sp>
        <p:nvSpPr>
          <p:cNvPr id="12" name="Text 10"/>
          <p:cNvSpPr/>
          <p:nvPr/>
        </p:nvSpPr>
        <p:spPr>
          <a:xfrm>
            <a:off x="6537960" y="2697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86600" y="271576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Υποβάθμιση (demotion)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37960" y="32004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Γρήγορη → αργή. Πρέπει να είναι ασφαλής: η υποβάθμιση κάτι ακόμα θερμού προκαλεί ping-pong.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29768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1B2540"/>
          </a:solidFill>
          <a:ln w="12700">
            <a:solidFill>
              <a:srgbClr val="1B2540"/>
            </a:solidFill>
            <a:prstDash val="solid"/>
          </a:ln>
          <a:effectLst>
            <a:outerShdw sx="100000" sy="100000" kx="0" ky="0" algn="bl" rotWithShape="0" blurRad="127000" dist="25400" dir="5400000">
              <a:srgbClr val="8494AB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4400" y="44805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υποβάθμιση είναι εύκολη — μια προσέγγιση LRU αρκεί, και το Linux ήδη έχει LRU.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" y="48463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προαγωγή είναι το ανοιχτό πρόβλημα — και αυτό το λέει η ίδια η κοινότητα του Linux MM, όχι εγώ.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ΑΣΤΟΧΙΑ 1 ΑΠΟ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Γιατί αποτυγχάνει σήμερα: το profiling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566160"/>
                <a:gridCol w="5212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Μηχανισμός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Πώς δουλεύει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Το μοιραίο ελάττωμα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PTE-scan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(DAMON)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Καθαρισμός και σάρωση των access bits των PTE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bit = δυαδική πληροφορία. Η σάρωση κρατά δευτερόλεπτα — το θερμό σύνολο έχει ήδη αλλάξει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 faults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(AutoNUMA, TPP)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Σκόπιμη απο-χαρτογράφηση PTE ώστε η προσπέλαση να παγιδευτεί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Μετρά TLB misses, όχι LLC misses — και τα δύο συσχετίζονται ασθενώς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PEBS / IBS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(Memtis)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Δειγματοληψία της PMU σε αστοχίες LLC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Το overhead ακολουθεί τον ρυθμό δειγματοληψίας: &gt;50% επιβράδυνση σε πυκνά δείγματα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961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Υλικό στη συσκευή CXL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961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Μετρητές μέσα στον ελεγκτή της συσκευής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961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Σωστό γεγονός, μηδενικό κόστος CPU — αλλά απαιτεί νέο υλικό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93776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DF0EF"/>
          </a:solidFill>
          <a:ln w="12700">
            <a:solidFill>
              <a:srgbClr val="F6C9C7"/>
            </a:solidFill>
            <a:prstDash val="solid"/>
          </a:ln>
          <a:effectLst>
            <a:outerShdw sx="100000" sy="100000" kx="0" ky="0" algn="bl" rotWithShape="0" blurRad="127000" dist="25400" dir="5400000">
              <a:srgbClr val="8494AB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" y="510235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κρίσιμη λεπτομέρεια:  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AutoNUMA και TPP μετρούν αστοχίες TLB, αλλά την κίνηση προς το CXL την καθορίζουν οι αστοχίες LLC. Βελτιστοποιούν λάθος σήμα.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ΑΣΤΟΧΙΑ 2 ΑΠΟ 3  ·  ΤΟ ΚΕΝΤΡΙΚΟ ΣΗΜΕΙΟ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Γιατί αποτυγχάνει σήμερα: η κοκκομέτρηση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πυκνότητα προσπελάσεων μέσα σε μια σελίδα 4 KB είναι εξαιρετικά ανομοιόμορφη. Μια αναζήτηση σε hash table αγγίζει 64 bytes από τα 4096.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3694176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27000" dist="25400" dir="5400000">
              <a:srgbClr val="8494AB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48716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 B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9992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line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334670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Ελάχιστη σπατάλη μεταφοράς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376732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 Τα μεταδεδομένα εκρήγνυνται·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 πίνακας σελίδων δεν το χαρτογραφεί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33672" y="2331720"/>
            <a:ext cx="3694176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27000" dist="25400" dir="5400000">
              <a:srgbClr val="8494AB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62272" y="248716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KB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462272" y="29992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προεπιλογή Linux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462272" y="334670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Η μονάδα που ξέρει το λειτουργικό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62272" y="376732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 Μέτρια και στα δύο: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σπαταλά και κοστίζει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18704" y="2331720"/>
            <a:ext cx="3694176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27000" dist="25400" dir="5400000">
              <a:srgbClr val="8494AB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147304" y="248716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61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MB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147304" y="29992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 page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147304" y="334670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Φθηνή μετανάστευση ανά byte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147304" y="376732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 Τεράστια σπατάλη: 99,99% της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μεταφοράς μπορεί να είναι ψυχρό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6344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1B2540"/>
          </a:solidFill>
          <a:ln w="12700">
            <a:solidFill>
              <a:srgbClr val="1B2540"/>
            </a:solidFill>
            <a:prstDash val="solid"/>
          </a:ln>
          <a:effectLst>
            <a:outerShdw sx="100000" sy="100000" kx="0" ky="0" algn="bl" rotWithShape="0" blurRad="127000" dist="25400" dir="5400000">
              <a:srgbClr val="8494AB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4400" y="482803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Δεν υπάρχει PTE για μια cache line.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4400" y="521208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Άρα δεν «μεταναστεύεις γραμμές αντί για σελίδες» μέσα από το λειτουργικό. Η λύση είναι είτε έμμεση αναφορά σε υλικό (η τοπική DRAM γίνεται κρυφή μνήμη), είτε — και εδώ στοχεύω — profiling σε λεπτή κοκκομέτρηση που οδηγεί αποφάσεις σε χονδρή.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ΑΣΤΟΧΙΑ 3 ΑΠΟ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Γιατί αποτυγχάνει σήμερα: το κόστος μεταφοράς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Τι πληρώνει ο πυρήνας για να προάγει μία σελίδα 4 KB: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167128"/>
            <a:ext cx="347472" cy="347472"/>
          </a:xfrm>
          <a:prstGeom prst="ellipse">
            <a:avLst/>
          </a:prstGeom>
          <a:solidFill>
            <a:srgbClr val="3E6B8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671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78992" y="214884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Αντιγραφή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78992" y="2432304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KB ανάγνωση από CXL + 4 KB εγγραφή σε DDR — καταναλώνει το εύρος ζώνης που θέλεις να σώσεις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026664"/>
            <a:ext cx="347472" cy="347472"/>
          </a:xfrm>
          <a:prstGeom prst="ellipse">
            <a:avLst/>
          </a:prstGeom>
          <a:solidFill>
            <a:srgbClr val="3E6B8C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026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78992" y="300837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Ενημέρωση πίνακα σελίδων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78992" y="329184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Διάσχιση του rmap για κάθε PTE που χαρτογραφεί τη σελίδα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886200"/>
            <a:ext cx="347472" cy="347472"/>
          </a:xfrm>
          <a:prstGeom prst="ellipse">
            <a:avLst/>
          </a:prstGeom>
          <a:solidFill>
            <a:srgbClr val="F9615F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8862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78992" y="386791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TLB shootdown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78992" y="4151376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IPI σε κάθε πυρήνα με πιθανή cached μετάφραση — συνήθως το κυρίαρχο κόστος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745736"/>
            <a:ext cx="347472" cy="347472"/>
          </a:xfrm>
          <a:prstGeom prst="ellipse">
            <a:avLst/>
          </a:prstGeom>
          <a:solidFill>
            <a:srgbClr val="3E6B8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745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78992" y="472744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Ανταγωνισμός κλειδωμάτων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78992" y="5010912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mmap_lock, LRU locks — η μετανάστευση δεν παραλληλοποιείται καλά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589520" y="2148840"/>
            <a:ext cx="402336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27000" dist="25400" dir="5400000">
              <a:srgbClr val="8494AB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0" y="257860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61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μsec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7772400" y="34930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κόστος ανά μετανάστευση σελίδας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0" y="38221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έναντι των ~250 ns που προσπαθείς να αποφύγεις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772400" y="440740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Μια σελίδα πρέπει να ξαναπροσπελαστεί πολλές φορές για να αποσβέσει τη μεταφορά της. Γι' αυτό μια λάθος προαγωγή δεν είναι απλώς άχρηστη — είναι ενεργά επιζήμια.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ΒΙΒΛΙΟΓΡΑΦΙΑ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Τρεις εργασίες, τρεις διαφορετικές διαγνώσεις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374904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Εργασία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Διάγνωση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Λύση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Κοκκομέτρηση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NeoMem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 '24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Το profiling είναι αργό και χονδροειδές — διόρθωσέ το και οι σελίδες 4 KB αρκούν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Count-min sketch μέσα στον ελεγκτή CXL + δυναμικό κατώφλι θερμότητας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KB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961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961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ASPLOS '25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961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Η θερμότητα είναι υπο-σελιδική — το πλήθος προσπελάσεων ανά σελίδα παραπλανά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961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Top-K trackers για σελίδες (HPT) και για λέξεις 64 B (HWT)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961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profiling 64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961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migration 4 KB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Memstrata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OSDI '24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Το tiering σε υλικό δουλεύει — μέχρι να συνυπάρξουν πολλές VM και να συγκρουστούν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Χρωματισμός σελίδων + online εκτιμητής επιβράδυνσης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B (υλικό)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70916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1B2540"/>
          </a:solidFill>
          <a:ln w="12700">
            <a:solidFill>
              <a:srgbClr val="1B2540"/>
            </a:solidFill>
            <a:prstDash val="solid"/>
          </a:ln>
          <a:effectLst>
            <a:outerShdw sx="100000" sy="100000" kx="0" ky="0" algn="bl" rotWithShape="0" blurRad="127000" dist="25400" dir="5400000">
              <a:srgbClr val="8494AB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14400" y="491947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Διαφωνούν μεταξύ τους — και αυτό είναι το ενδιαφέρον. 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NeoMem λέει «ανάλυση στον χρόνο», το M5 λέει «ανάλυση στον χώρο», το Memstrata λέει ότι το πρόβλημα εμφανίζεται μόνο υπό συστέγαση φόρτων.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ΓΙΑΤΙ ΔΕΝ ΕΧΕΙ ΛΥΘΕΙ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Ο έντιμος συμβιβασμός: σελίδες ή γραμμές;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370332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27000" dist="25400" dir="5400000">
              <a:srgbClr val="8494AB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0" y="188366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Μετανάστευση σελίδων (OS)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863840" y="188366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 γραμμών (υλικό)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Μονάδα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0" y="230428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KB / 2 MB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863840" y="230428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B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Ποιος αποφασίζει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114800" y="268833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OS, με παλιά πληροφορία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863840" y="268833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υλικό, αντιδραστικά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Χαμένη μεταφορά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14800" y="307238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Υψηλή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863840" y="307238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Σχεδόν μηδενική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22960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Σταθερό κόστος ανά κίνηση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114800" y="345643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μsec (TLB shootdown)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863840" y="345643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nsec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384048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Μεταδεδομένα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114800" y="384048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Πίνακες σελίδων (ήδη υπάρχουν)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863840" y="384048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Πίνακας ετικετών — τεράστιος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22960" y="422452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Χωρητικότητα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114800" y="422452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αξιοποιήσιμη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863840" y="422452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γρήγορη βαθμίδα γίνεται cache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22960" y="460857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Αστοχίες σύγκρουσης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114800" y="460857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Δεν υφίστανται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863840" y="460857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Ναι — και μεταξύ ενοίκων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22960" y="499262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Νέο υλικό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114800" y="4992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Όχι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863840" y="4992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Ναι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48640" y="559612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κοκκομέτρηση γραμμής εξαλείφει τη σπατάλη και το σταθερό κόστος — και αγοράζει αστοχίες σύγκρουσης, αποθήκευση ετικετών και απώλεια της γρήγορης χωρητικότητας. Δεν είναι καθαρή νίκη.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ΜΕΘΟΔΟΛΟΓΙΑ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Το εργαλείο: CXLRAMSim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Πλήρης προσομοίωση συστήματος πάνω σε gem5 v25, με εκκίνηση Linux 6.14. Μοντελοποιεί τη συσκευή CXL στη σωστή θέση πάνω στον δίαυλο I/O — άρα ο πυρήνας, οι οδηγοί και η στοίβα λογισμικού μένουν αναλλοίωτοι.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61518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27000" dist="25400" dir="5400000">
              <a:srgbClr val="8494AB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26700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Firmware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49808" y="2999232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Πίνακες ACPI: MCFG, DSDT,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CEDT, SRAT για ανακάλυψη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64992" y="2514600"/>
            <a:ext cx="261518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27000" dist="25400" dir="5400000">
              <a:srgbClr val="8494AB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66160" y="26700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CXL.io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66160" y="2999232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Complex και σύνολα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καταχωρητών για απαρίθμηση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81344" y="2514600"/>
            <a:ext cx="261518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27000" dist="25400" dir="5400000">
              <a:srgbClr val="8494AB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82512" y="26700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CXL.mem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382512" y="2999232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Επίπεδο συναλλαγών,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κανάλια M2S / S2M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997696" y="2514600"/>
            <a:ext cx="261518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27000" dist="25400" dir="5400000">
              <a:srgbClr val="8494AB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98864" y="26700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Συνοχή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98864" y="2999232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 δύο επιπέδων,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κατανεμημένος κατάλογος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14800"/>
            <a:ext cx="11064240" cy="1691640"/>
          </a:xfrm>
          <a:prstGeom prst="roundRect">
            <a:avLst>
              <a:gd name="adj" fmla="val 3243"/>
            </a:avLst>
          </a:prstGeom>
          <a:solidFill>
            <a:srgbClr val="1B2540"/>
          </a:solidFill>
          <a:ln w="12700">
            <a:solidFill>
              <a:srgbClr val="1B2540"/>
            </a:solidFill>
            <a:prstDash val="solid"/>
          </a:ln>
          <a:effectLst>
            <a:outerShdw sx="100000" sy="100000" kx="0" ky="0" algn="bl" rotWithShape="0" blurRad="127000" dist="25400" dir="5400000">
              <a:srgbClr val="8494AB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27939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Πού μπαίνει ο δικός μου κώδικας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" y="462686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Στο σημείο όπου ο κόμβος CXL απο-πακετοποιεί ένα αίτημα M2S σε προσπέλαση DRAM, έχω {φυσική διεύθυνση, ανάγνωση/εγγραφή, χρονική στιγμή}.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512064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Αυτό είναι ακριβώς η ροή αστοχιών LLC προς το CXL που κάνουν profiling το NeoMem και το M5 — δεν μπορείς να δεις τίποτε άλλο από εκεί. Ο profiler είναι μια λήψη πάνω σε αυτό το μονοπάτι.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ΣΧΕΔΙΟ ΑΞΙΟΛΟΓΗΣΗΣ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Το πείραμα που αποδεικνύει το πρόβλημα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Πέντε σκέλη σύγκρισης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29968"/>
            <a:ext cx="4937760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029968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Όλα σε CXL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840480" y="2029968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κάτω φράγμα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532888"/>
            <a:ext cx="4937760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532888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Όλα σε τοπική DRAM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840480" y="2532888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άνω φράγμα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035808"/>
            <a:ext cx="4937760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F961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035808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Αφελής μετανάστευση σελίδων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840480" y="3035808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«πρόβλημα»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538728"/>
            <a:ext cx="4937760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3E6B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538728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Σχήμα του M5 (HPT + HWT)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840480" y="3538728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3E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πρόταση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041648"/>
            <a:ext cx="4937760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041648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τοποθέτηση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840480" y="4041648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βέλτιστο offline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46634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απόσταση ανάμεσα στο αφελές σκέλος και στο oracle είναι το πρόβλημα που αναπαράγω.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943600" y="16459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Φόρτοι εργασίας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943600" y="2029968"/>
            <a:ext cx="5669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GUPS — τυχαίες ενημερώσεις 8 B, μηδενική χωρική τοπικότητα· η αντίπαλη περίπτωση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XSBench — αναζητήσεις Monte Carlo σε μεγάλους πίνακες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— άτακτη προσπέλαση γράφου, μετακινούμενο θερμό σύνολο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Btree / YCSB-C — λοξή κατανομή Zipf, ακραία υπο-σελιδική θερμότητα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943600" y="37033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Μετρικές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943600" y="4087368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Αθροιστική κατανομή πυκνότητας προσπελάσεων ανά γραμμή 64 B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Απόδοση μεταφοράς: bytes που μεταφέρθηκαν ÷ bytes που όντως χρησιμοποιήθηκαν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Επικαιρότητα προαγωγής και ποσοστό σελίδων ακόμη θερμών κατά την προαγωγή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Επιβράδυνση συναρτήσει του λόγου γρήγορης βαθμίδας· πλήθος ping-pong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ΖΗΤΟΥΜΕΝΟ ΑΠΟΤΕΛΕΣΜΑ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Η εικόνα στην οποία κρίνεται η εργασία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Για κάθε σελίδα 4 KB: τι ποσοστό των προσπελάσεών της συγκεντρώνεται στις k θερμότερες γραμμές των 64 B; Αν το 80% των προσπελάσεων πέφτει σε λιγότερο από το 10% της σελίδας, το επιχείρημα της κοκκομέτρησης αποδεικνύεται σε ένα διάγραμμα.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4846320" cy="1371600"/>
          </a:xfrm>
          <a:prstGeom prst="roundRect">
            <a:avLst>
              <a:gd name="adj" fmla="val 4000"/>
            </a:avLst>
          </a:prstGeom>
          <a:solidFill>
            <a:srgbClr val="FDF0EF"/>
          </a:solidFill>
          <a:ln w="12700">
            <a:solidFill>
              <a:srgbClr val="F6C9C7"/>
            </a:solidFill>
            <a:prstDash val="solid"/>
          </a:ln>
          <a:effectLst>
            <a:outerShdw sx="100000" sy="100000" kx="0" ky="0" algn="bl" rotWithShape="0" blurRad="127000" dist="25400" dir="5400000">
              <a:srgbClr val="8494AB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321868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Προσοχή στην ανάγνωση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529584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καμπύλη δίπλα είναι η αναμενόμενη μορφή, όχι μετρημένα δεδομένα. Δεν έχω τρέξει ακόμα τον προσομοιωτή.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466344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Αν η καμπύλη βγει επίπεδη, το επιχείρημα της υπο-σελιδικής θερμότητας καταρρέει για αυτόν τον φόρτο — και αυτό είναι εξίσου χρήσιμο αποτέλεσμα.</a:t>
            </a:r>
            <a:endParaRPr lang="en-US" sz="12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806440" y="1691640"/>
          <a:ext cx="58064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ΧΡΟΝΟΔΙΑΓΡΑΜΜΑ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Φάσεις και διαχείριση ρίσκου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27000" dist="25400" dir="5400000">
              <a:srgbClr val="8494AB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11096"/>
            <a:ext cx="384048" cy="384048"/>
          </a:xfrm>
          <a:prstGeom prst="ellipse">
            <a:avLst/>
          </a:prstGeom>
          <a:solidFill>
            <a:srgbClr val="3E6B8C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53312" y="1810512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Εκκίνηση και checkpoint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251960" y="1810512"/>
            <a:ext cx="7178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 σε shell, επιβεβαίωση κόμβου zNUMA, microbenchmark καθυστέρησης: «απόδειξε ότι το CXL είναι αργό»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57860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27000" dist="25400" dir="5400000">
              <a:srgbClr val="8494AB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4672" y="2752344"/>
            <a:ext cx="384048" cy="384048"/>
          </a:xfrm>
          <a:prstGeom prst="ellipse">
            <a:avLst/>
          </a:prstGeom>
          <a:solidFill>
            <a:srgbClr val="F9615F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353312" y="2651760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Λήψη ιχνών προσπέλασης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251960" y="2651760"/>
            <a:ext cx="7178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Σημείο λήψης στη ροή αιτημάτων της συσκευής· κατανομή πυκνότητας — πρώτο πραγματικό αποτέλεσμα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419856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27000" dist="25400" dir="5400000">
              <a:srgbClr val="8494AB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3593592"/>
            <a:ext cx="384048" cy="384048"/>
          </a:xfrm>
          <a:prstGeom prst="ellipse">
            <a:avLst/>
          </a:prstGeom>
          <a:solidFill>
            <a:srgbClr val="3E6B8C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593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53312" y="3493008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Βασική γραμμή μεταφοράς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251960" y="3493008"/>
            <a:ext cx="7178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Αφελής μετανάστευση σελίδων με έντιμο μοντέλο κόστους και ποσόστωση εύρους ζώνης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261104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27000" dist="25400" dir="5400000">
              <a:srgbClr val="8494AB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04672" y="4434840"/>
            <a:ext cx="384048" cy="384048"/>
          </a:xfrm>
          <a:prstGeom prst="ellipse">
            <a:avLst/>
          </a:prstGeom>
          <a:solidFill>
            <a:srgbClr val="3E6B8C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353312" y="4334256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Υλοποίηση M5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251960" y="4334256"/>
            <a:ext cx="7178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Πρώτα το HPT, μετά το HWT ως το διαφοροποιητικό στοιχείο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102352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27000" dist="25400" dir="5400000">
              <a:srgbClr val="8494AB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4672" y="5276088"/>
            <a:ext cx="384048" cy="384048"/>
          </a:xfrm>
          <a:prstGeom prst="ellipse">
            <a:avLst/>
          </a:prstGeom>
          <a:solidFill>
            <a:srgbClr val="3E6B8C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5276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353312" y="5175504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Αξιολόγηση και συγγραφή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251960" y="5175504"/>
            <a:ext cx="7178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Ευαισθησία σε K, διάστημα, ποσόστωση, καθυστέρηση CXL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Φ2 απομειώνει το ρίσκο όλων των υπολοίπων: παράγει παρουσιάσιμο αποτέλεσμα πριν γραφτεί οποιαδήποτε πολιτική. Προαιρετικές επεκτάσεις: μοντέλο κόστους υλικού, σάρωση καθυστέρησης, δύο ταυτόχρονοι φόρτοι.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20" kern="0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ΠΡΟΣ ΣΥΖΗΤΗΣΗ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Ανοιχτά ερωτήματα προς εσάς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64240" cy="868680"/>
          </a:xfrm>
          <a:prstGeom prst="roundRect">
            <a:avLst>
              <a:gd name="adj" fmla="val 5263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203704"/>
            <a:ext cx="384048" cy="384048"/>
          </a:xfrm>
          <a:prstGeom prst="ellipse">
            <a:avLst/>
          </a:prstGeom>
          <a:solidFill>
            <a:srgbClr val="F9615F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208483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Πρόσβαση στο CXLRAMSim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417320" y="237744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F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Υπάρχει αποθετήριο και οδηγίες build; Ιδανικά και έτοιμο disk image — το χτίσιμο από το μηδέν είναι παράκαμψη ημερών.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990088"/>
            <a:ext cx="11064240" cy="868680"/>
          </a:xfrm>
          <a:prstGeom prst="roundRect">
            <a:avLst>
              <a:gd name="adj" fmla="val 5263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3227832"/>
            <a:ext cx="384048" cy="384048"/>
          </a:xfrm>
          <a:prstGeom prst="ellipse">
            <a:avLst/>
          </a:prstGeom>
          <a:solidFill>
            <a:srgbClr val="F9615F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17320" y="3108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Κλίμακα φόρτων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417320" y="340156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F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Είναι αποδεκτό να κατεβάσω το μέγεθος σε εκατοντάδες MB αντί για 10–20 GB RSS, κρατώντας ρεαλιστικό τον λόγο των βαθμίδων;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014216"/>
            <a:ext cx="11064240" cy="868680"/>
          </a:xfrm>
          <a:prstGeom prst="roundRect">
            <a:avLst>
              <a:gd name="adj" fmla="val 5263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4251960"/>
            <a:ext cx="384048" cy="384048"/>
          </a:xfrm>
          <a:prstGeom prst="ellipse">
            <a:avLst/>
          </a:prstGeom>
          <a:solidFill>
            <a:srgbClr val="F9615F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17320" y="41330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Εύρος υλοποίησης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41732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F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Αρκεί profiler HPT+HWT με μοντελοποιημένη μηχανή μεταφοράς, ή θέλετε πραγματική μετανάστευση Linux από kernel module;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038344"/>
            <a:ext cx="11064240" cy="868680"/>
          </a:xfrm>
          <a:prstGeom prst="roundRect">
            <a:avLst>
              <a:gd name="adj" fmla="val 5263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1248" y="5276088"/>
            <a:ext cx="384048" cy="384048"/>
          </a:xfrm>
          <a:prstGeom prst="ellipse">
            <a:avLst/>
          </a:prstGeom>
          <a:solidFill>
            <a:srgbClr val="F9615F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5276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15721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96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Επιλογή εργασίας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417320" y="5449824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F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Είναι το M5 η σωστή επιλογή, ή προτιμάτε να δείτε NeoMem;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github.com/Zajason/memory_tiering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Memory Tiering σε συστήματα CXL</dc:title>
  <dc:subject>PptxGenJS Presentation</dc:subject>
  <dc:creator>ntua-el23408</dc:creator>
  <cp:lastModifiedBy>ntua-el23408</cp:lastModifiedBy>
  <cp:revision>1</cp:revision>
  <dcterms:created xsi:type="dcterms:W3CDTF">2026-07-20T22:25:55Z</dcterms:created>
  <dcterms:modified xsi:type="dcterms:W3CDTF">2026-07-20T22:25:55Z</dcterms:modified>
</cp:coreProperties>
</file>