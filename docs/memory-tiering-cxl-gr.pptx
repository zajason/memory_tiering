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1C2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71C24"/>
                </a:solidFill>
                <a:latin typeface="Calibri"/>
              </a:rPr>
              <a:t>Αθροιστικό % προσπελάσεων στις k θερμότερες γραμμές 64 B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Zipf (Btree / YCSB)</c:v>
                </c:pt>
              </c:strCache>
            </c:strRef>
          </c:tx>
          <c:spPr>
            <a:solidFill>
              <a:srgbClr val="B0741A"/>
            </a:solidFill>
            <a:ln w="38100" cap="flat">
              <a:solidFill>
                <a:srgbClr val="B074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741A"/>
              </a:solidFill>
              <a:ln w="9525" cap="flat">
                <a:solidFill>
                  <a:srgbClr val="B074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24</c:v>
                  </c:pt>
                  <c:pt idx="5">
                    <c:v>32</c:v>
                  </c:pt>
                  <c:pt idx="6">
                    <c:v>48</c:v>
                  </c:pt>
                  <c:pt idx="7">
                    <c:v>64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</c:v>
                </c:pt>
                <c:pt idx="1">
                  <c:v>62</c:v>
                </c:pt>
                <c:pt idx="2">
                  <c:v>78</c:v>
                </c:pt>
                <c:pt idx="3">
                  <c:v>88</c:v>
                </c:pt>
                <c:pt idx="4">
                  <c:v>93</c:v>
                </c:pt>
                <c:pt idx="5">
                  <c:v>96</c:v>
                </c:pt>
                <c:pt idx="6">
                  <c:v>99</c:v>
                </c:pt>
                <c:pt idx="7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Ομοιόμορφη (GUPS)</c:v>
                </c:pt>
              </c:strCache>
            </c:strRef>
          </c:tx>
          <c:spPr>
            <a:solidFill>
              <a:srgbClr val="2E7D6F"/>
            </a:solidFill>
            <a:ln w="38100" cap="flat">
              <a:solidFill>
                <a:srgbClr val="2E7D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6F"/>
              </a:solidFill>
              <a:ln w="9525" cap="flat">
                <a:solidFill>
                  <a:srgbClr val="2E7D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24</c:v>
                  </c:pt>
                  <c:pt idx="5">
                    <c:v>32</c:v>
                  </c:pt>
                  <c:pt idx="6">
                    <c:v>48</c:v>
                  </c:pt>
                  <c:pt idx="7">
                    <c:v>64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6</c:v>
                </c:pt>
                <c:pt idx="2">
                  <c:v>13</c:v>
                </c:pt>
                <c:pt idx="3">
                  <c:v>25</c:v>
                </c:pt>
                <c:pt idx="4">
                  <c:v>38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6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675"/>
                    </a:solidFill>
                    <a:latin typeface="Arial"/>
                  </a:rPr>
                  <a:t>k θερμότερες γραμμές 64 B (από 64)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5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3D9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6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675"/>
                    </a:solidFill>
                    <a:latin typeface="Arial"/>
                  </a:rPr>
                  <a:t>αθροιστικό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5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1C24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Στόχος: να δείξω ότι κατάλαβα το πρόβλημα και ότι έχω αξιόπιστο πλάνο. Δεν έχω ακόμα αποτελέσματα — και το λέω ανοιχτά.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Ένας αριθμός να μείνει: ~25% stranded DRAM. Το οικονομικό κίνητρο όλου του πεδίου.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σημείο: η DRAM στην κάρτα είναι κανονική DDR5. Η διασύνδεση είναι ο φόρος — γι' αυτό υπάρχει tiering.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Γιατί δύσκολη η προαγωγή: απαιτεί να ξέρεις ότι μια σελίδα είναι θερμή ΤΩΡΑ — και αυτό κοστίζει.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Κοινός παρονομαστής: ακρίβεια × επικαιρότητα × overhead — διάλεξε δύο.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Εδώ θα με ρωτήσουν. Απάντηση: κοκκομέτρηση profiling ≠ κοκκομέτρηση migration. Το M5 κάνει profiling στα 64 B και migration στα 4 KB — δεν είναι συμβιβασμός, είναι ο σχεδιασμός.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Τάξη μεγέθους: μικροδευτερόλεπτα έναντι νανοδευτερολέπτων. Χιλιαπλάσιο κόστος.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ότι διαφωνούν είναι δύναμη: δείχνει ότι διάβασα και τις τρεις, όχι μία.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Αυτή η διαφάνεια ξεχωρίζει το «διάβασα μια εργασία» από το «κατάλαβα το πρόβλημα». Να μην κοπεί.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Ανοιχτό θέμα: χρειάζομαι πρόσβαση στο αποθετήριο του CXLRAMSim — δεν βρήκα δημόσιο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Πάντα αναφέρω και τα δύο φράγματα δίπλα σε κάθε σχήμα — αλλιώς το νούμερο δεν ερμηνεύεται.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Σκίτσο, όχι δεδομένα — και το δηλώνω. Ο Zipf δείχνει ακραία συγκέντρωση· το GUPS είναι αρνητικός έλεγχος.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Δηλώνω ξεκάθαρα τι είναι βασικό και τι stretch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να ρωτάω ανοιχτά είναι δύναμη. Έτοιμη απάντηση για «γιατί όχι απευθείας cache lines»: δεν υπάρχει PTE για γραμμή → έμμεση αναφορά σε υλικό → Flat Memory Mode → κοστίζει αστοχίες σύγκρουσης και χωρητικότητα → αυτό ακριβώς λύνει το Memstrata.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5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ΕΡΓΑΣΙΑ 02  ·  ΠΡΟΗΓΜΕΝΗ ΑΡΧΙΤΕΚΤΟΝΙΚΗ ΥΠΟΛΟΓΙΣΤΩΝ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731520" y="1024128"/>
            <a:ext cx="502920" cy="274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E9E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Tiering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E9E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σε συστήματα CXL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Προσομοίωση τεχνικών ιεραρχικής διαχείρισης μνήμης με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υποστήριξη υλικού, στον προσομοιωτή CXLRAMSim.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ΔΥΟ ΒΑΘΜΙΔΕΣ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869680" y="2103120"/>
            <a:ext cx="2606040" cy="7772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0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052560" y="2542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γρήγορη · μικρή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0" y="2907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~80–100 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9680" y="3401568"/>
            <a:ext cx="2606040" cy="150876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0" y="35295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CXL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8953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αργή · μεγάλη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0" y="4937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~250–400 ns  ·  2–3×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ntua-el23408  ·  github.com/Zajason/memory_tiering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§02</a:t>
            </a:r>
            <a:pPr indent="0" marL="0">
              <a:buNone/>
            </a:pPr>
            <a:r>
              <a:rPr lang="en-US" sz="120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ΚΙΝΗΤΡΟ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B074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71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μνήμη είναι ο περιοριστικός πόρος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DRAM είναι ακριβή και η χωρητικότητα ανά socket έχει φτάσει σε τοίχο — περιορισμένα DIMM slots, περιορισμένα pins DDR.</a:t>
            </a:r>
            <a:endParaRPr lang="en-US" sz="1550" dirty="0"/>
          </a:p>
          <a:p>
            <a:pPr indent="0" marL="0">
              <a:lnSpc>
                <a:spcPts val="23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περισσότερη μνήμη αγοράζεις περισσότερους επεξεργαστές που δεν χρειάζεσαι.</a:t>
            </a:r>
            <a:endParaRPr lang="en-US" sz="15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CXL επιτρέπει επέκταση χωρητικότητας πάνω από τον δίαυλο PCIe, ανεξάρτητα από τους πυρήνες.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ΤΟ ΠΡΟΒΛΗΜΑ ΣΕ ΑΡΙΘΜΟΥΣ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στόλους cloud, μεγάλο μέρος της εγκατεστημένης DRAM μένει αναξιοποίητο («stranded») επειδή οι πυρήνες του μηχανήματος έχουν ήδη πουληθεί.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23760" y="2148840"/>
            <a:ext cx="4233672" cy="3611880"/>
          </a:xfrm>
          <a:prstGeom prst="rect">
            <a:avLst/>
          </a:prstGeom>
          <a:solidFill>
            <a:srgbClr val="14181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24688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≈25</a:t>
            </a:r>
            <a:pPr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11000" dirty="0"/>
          </a:p>
        </p:txBody>
      </p:sp>
      <p:sp>
        <p:nvSpPr>
          <p:cNvPr id="11" name="Shape 9"/>
          <p:cNvSpPr/>
          <p:nvPr/>
        </p:nvSpPr>
        <p:spPr>
          <a:xfrm>
            <a:off x="7498080" y="4160520"/>
            <a:ext cx="502920" cy="274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43434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της DRAM σε στόλο υπερκλίμακας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παραμένει «stranded»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5285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 — Pond, ASPLOS '23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§03</a:t>
            </a:r>
            <a:pPr indent="0" marL="0">
              <a:buNone/>
            </a:pPr>
            <a:r>
              <a:rPr lang="en-US" sz="120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ΤΟ ΤΙΜΗΜΑ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B074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71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Τι κοστίζει πραγματικά η μνήμη CXL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6492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Διαδρομή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Εύρος ζώνης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Τοπική DDR5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~80–100 ns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~30–50 GB/s / κανάλι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Απομακρ. NUMA socket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~140–180 ns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Μνήμη CXL (x8 Gen5)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74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~250–400 ns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~25–30 GB/s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840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2–3×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423160" y="385876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μεγαλύτερη καθυστέρηση — ενώ η DRAM πάνω στην κάρτα είναι κανονική DDR5. Το τίμημα είναι η διασύνδεση, όχι η μνήμη.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4754880"/>
            <a:ext cx="6492240" cy="1005840"/>
          </a:xfrm>
          <a:prstGeom prst="rect">
            <a:avLst/>
          </a:prstGeom>
          <a:solidFill>
            <a:srgbClr val="F6E4D8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489204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Συνέπεια: φόρτοι δεσμευμένοι από καθυστέρηση (pointer chasing) υποφέρουν· φόρτοι δεσμευμένοι από εύρος ζώνης σχεδόν δεν το αντιλαμβάνονται.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1965960"/>
            <a:ext cx="4005072" cy="3794760"/>
          </a:xfrm>
          <a:prstGeom prst="rect">
            <a:avLst/>
          </a:prstGeom>
          <a:solidFill>
            <a:srgbClr val="14181F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0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ΔΙΑΔΡΟΜΗ ΕΝΟΣ LOAD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80960" y="25054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92440" y="25054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Πυρήνας CPU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80960" y="29077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92440" y="29077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Αστοχία LLC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80960" y="33101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92440" y="3310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 Root Complex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680960" y="37124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92440" y="3712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Πακετοποίηση M2S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680960" y="41148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092440" y="41148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Σύνδεσμος PCIe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680960" y="45171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92440" y="4517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Ελεγκτής συσκευής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80960" y="49194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092440" y="49194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στην κάρτα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680960" y="53583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και όλη η διαδρομή αντίστροφα (S2M)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§04</a:t>
            </a:r>
            <a:pPr indent="0" marL="0">
              <a:buNone/>
            </a:pPr>
            <a:r>
              <a:rPr lang="en-US" sz="1200" spc="100" kern="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ΔΙΑΤΥΠΩΣΗ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E9E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πρόβλημα του tiering, με μια πρόταση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Δύο βαθμίδες μνήμης. Κράτα τα «θερμά» δεδομένα στη γρήγορη. Αν το πετύχεις, ένα μηχάνημα με 25% τοπική DRAM αποδίδει σχεδόν σαν να είχε 100%.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180076" cy="1600200"/>
          </a:xfrm>
          <a:prstGeom prst="rect">
            <a:avLst/>
          </a:prstGeom>
          <a:solidFill>
            <a:srgbClr val="1D242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077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2962656"/>
            <a:ext cx="3991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ΠΡΟΑΓΩΓΗ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493008"/>
            <a:ext cx="4631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Αργή → γρήγορη. Πρέπει να γίνει έγκαιρα: μια σελίδα που προάγεται αφού κρυώσει είναι καθαρή σπατάλη.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77356" y="2743200"/>
            <a:ext cx="5180076" cy="1600200"/>
          </a:xfrm>
          <a:prstGeom prst="rect">
            <a:avLst/>
          </a:prstGeom>
          <a:solidFill>
            <a:srgbClr val="1D24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29077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237476" y="2962656"/>
            <a:ext cx="3991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ΥΠΟΒΑΘΜΙΣΗ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1676" y="3493008"/>
            <a:ext cx="4631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Γρήγορη → αργή. Πρέπει να είναι ασφαλής: η υποβάθμιση κάτι ακόμα θερμού προκαλεί ping-pong.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7548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υποβάθμιση είναι εύκολη — μια προσέγγιση LRU αρκεί, και το Linux ήδη έχει LRU.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513892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προαγωγή είναι το ανοιχτό πρόβλημα.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568756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λέει η ίδια η κοινότητα του Linux MM, όχι εγώ.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§05</a:t>
            </a:r>
            <a:pPr indent="0" marL="0">
              <a:buNone/>
            </a:pPr>
            <a:r>
              <a:rPr lang="en-US" sz="120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ΑΣΤΟΧΙΑ 1 / 3  ·  PROFILING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B074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71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Γιατί αποτυγχάνει σήμερα: το profiling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72591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657600"/>
                <a:gridCol w="4736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Μηχανισμός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Πώς δουλεύει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Το μοιραίο ελάττωμα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PTE-scan · DAMON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Καθαρισμός και σάρωση των access bits των PTE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 = δυαδική πληροφορία. Η σάρωση κρατά δευτερόλεπτα — το θερμό σύνολο έχει ήδη αλλάξει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hint faults · AutoNUMA · TPP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Σκόπιμη απο-χαρτογράφηση PTE ώστε η προσπέλαση να παγιδευτεί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Μετρά TLB misses, όχι LLC misses — τα δύο συσχετίζονται ασθενώς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PEBS / IBS · Memtis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Δειγματοληψία της PMU σε αστοχίες LLC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overhead ακολουθεί τον ρυθμό: &gt;50% επιβράδυνση σε πυκνά δείγματα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74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υλικό στη συσκευή CXL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Μετρητές μέσα στον ελεγκτή της συσκευής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Σωστό γεγονός, μηδενικό κόστος CPU — αλλά απαιτεί νέο υλικό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212080"/>
            <a:ext cx="10725912" cy="777240"/>
          </a:xfrm>
          <a:prstGeom prst="rect">
            <a:avLst/>
          </a:prstGeom>
          <a:solidFill>
            <a:srgbClr val="14181F"/>
          </a:solidFill>
          <a:ln/>
        </p:spPr>
      </p:sp>
      <p:sp>
        <p:nvSpPr>
          <p:cNvPr id="8" name="Text 5"/>
          <p:cNvSpPr/>
          <p:nvPr/>
        </p:nvSpPr>
        <p:spPr>
          <a:xfrm>
            <a:off x="987552" y="5321808"/>
            <a:ext cx="10213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ΚΡΙΣΙΜΗ ΛΕΠΤΟΜΕΡΕΙΑ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AutoNUMA και TPP μετρούν αστοχίες TLB, αλλά την κίνηση προς το CXL την καθορίζουν οι αστοχίες LLC. Βελτιστοποιούν λάθος σήμα.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§06</a:t>
            </a:r>
            <a:pPr indent="0" marL="0">
              <a:buNone/>
            </a:pPr>
            <a:r>
              <a:rPr lang="en-US" sz="1200" spc="100" kern="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ΑΣΤΟΧΙΑ 2 / 3  ·  ΤΟ ΚΕΝΤΡΙΚΟ ΣΗΜΕΙΟ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E9E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Γιατί αποτυγχάνει σήμερα: η κοκκομέτρηση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5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πυκνότητα προσπελάσεων μέσα σε μια σελίδα 4 KB είναι εξαιρετικά ανομοιόμορφη — μια αναζήτηση σε hash table αγγίζει 64 bytes από τα 4096.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F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B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75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Ελάχιστη σπατάλη μεταφοράς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Τα μεταδεδομένα εκρήγνυνται· ο πίνακας σελίδων δεν το χαρτογραφεί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0" y="254203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A95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34840" y="2514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KB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43484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προεπιλογή Linux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3675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Η μονάδα που ξέρει το 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Μέτρια και στα δύο: σπαταλά και κοστίζει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26680" y="254203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A95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138160" y="2514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MB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1381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huge page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3675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Φθηνή μετανάστευση ανά byte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Τεράστια σπατάλη: 99,99% της μεταφοράς μπορεί να είναι ψυχρό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937760"/>
            <a:ext cx="10725912" cy="10058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02920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Δεν υπάρχει PTE για μια cache line.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5431536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Άρα δεν «μεταναστεύεις γραμμές αντί για σελίδες» μέσα από το λειτουργικό. Λύση: είτε έμμεση αναφορά σε υλικό (η τοπική DRAM γίνεται cache), είτε — και εδώ στοχεύω — profiling σε λεπτή κοκκομέτρηση που οδηγεί αποφάσεις σε χονδρή.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§07</a:t>
            </a:r>
            <a:pPr indent="0" marL="0">
              <a:buNone/>
            </a:pPr>
            <a:r>
              <a:rPr lang="en-US" sz="120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ΑΣΤΟΧΙΑ 3 / 3  ·  ΚΟΣΤΟΣ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B074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71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Γιατί αποτυγχάνει σήμερα: το κόστος μεταφοράς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Τι πληρώνει ο πυρήνας για να προάγει μία σελίδα 4 KB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3774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Αντιγραφή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25880" y="26700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ανάγνωση από CXL + 4 KB εγγραφή σε DDR — καταναλώνει το εύρος ζώνης που θέλεις να σώσεις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3108960"/>
            <a:ext cx="6035040" cy="10973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186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200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Ενημέρωση πίνακα σελίδων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25880" y="34930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Διάσχιση του rmap για κάθε PTE που χαρτογραφεί τη σελίδα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25880" y="3931920"/>
            <a:ext cx="6035040" cy="10973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4164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4023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shootdown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25880" y="43159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 σε κάθε πυρήνα με πιθανή cached μετάφραση — συνήθως το κυρίαρχο κόστος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5880" y="4754880"/>
            <a:ext cx="6035040" cy="10973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8646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4846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Ανταγωνισμός κλειδωμάτων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25880" y="51389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mmap_lock, LRU locks — η μετανάστευση δεν παραλληλοποιείται καλά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52360" y="2395728"/>
            <a:ext cx="4005072" cy="3246120"/>
          </a:xfrm>
          <a:prstGeom prst="rect">
            <a:avLst/>
          </a:prstGeom>
          <a:solidFill>
            <a:srgbClr val="14181F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26517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μs</a:t>
            </a:r>
            <a:endParaRPr lang="en-US" sz="8200" dirty="0"/>
          </a:p>
        </p:txBody>
      </p:sp>
      <p:sp>
        <p:nvSpPr>
          <p:cNvPr id="24" name="Text 22"/>
          <p:cNvSpPr/>
          <p:nvPr/>
        </p:nvSpPr>
        <p:spPr>
          <a:xfrm>
            <a:off x="768096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κόστος ανά μετανάστευση σελίδας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680960" y="4151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έναντι των ~250 ns που προσπαθείς να αποφύγεις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80960" y="4663440"/>
            <a:ext cx="502920" cy="25603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480974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σελίδα πρέπει να ξαναπροσπελαστεί πολλές φορές για να αποσβέσει τη μεταφορά της. Γι' αυτό μια λάθος προαγωγή είναι ενεργά επιζήμια.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§08</a:t>
            </a:r>
            <a:pPr indent="0" marL="0">
              <a:buNone/>
            </a:pPr>
            <a:r>
              <a:rPr lang="en-US" sz="120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Η ΒΙΒΛΙΟΓΡΑΦΙΑ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B074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71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Τρεις εργασίες, τρεις διαφορετικές διαγνώσεις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72591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703320"/>
                <a:gridCol w="356616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Εργασία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Διάγνωση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Λύση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Κοκκομέτρηση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NeoMem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MICRO '24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profiling είναι αργό και χονδροειδές — διόρθωσέ το και οι σελίδες 4 KB αρκούν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Count-min sketch μέσα στον ελεγκτή CXL + δυναμικό κατώφλι θερμότητας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KB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74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74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ASPLOS '25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0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θερμότητα είναι υπο-σελιδική — το πλήθος προσπελάσεων ανά σελίδα παραπλανά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0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 trackers για σελίδες (HPT) και για λέξεις 64 B (HWT)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4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profiling 64 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4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migration 4 KB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Memstrata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OSDI '24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tiering σε υλικό δουλεύει — μέχρι να συνυπάρξουν πολλές VM και να συγκρουστούν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Χρωματισμός σελίδων + online εκτιμητής επιβράδυνσης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1C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 B (υλικό)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64008" marB="64008" anchor="ctr">
                    <a:lnL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074920"/>
            <a:ext cx="10725912" cy="868680"/>
          </a:xfrm>
          <a:prstGeom prst="rect">
            <a:avLst/>
          </a:prstGeom>
          <a:solidFill>
            <a:srgbClr val="14181F"/>
          </a:solidFill>
          <a:ln/>
        </p:spPr>
      </p:sp>
      <p:sp>
        <p:nvSpPr>
          <p:cNvPr id="8" name="Text 5"/>
          <p:cNvSpPr/>
          <p:nvPr/>
        </p:nvSpPr>
        <p:spPr>
          <a:xfrm>
            <a:off x="987552" y="5193792"/>
            <a:ext cx="10213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Διαφωνούν μεταξύ τους — και αυτό είναι το ενδιαφέρον.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NeoMem → ανάλυση στον χρόνο.  M5 → ανάλυση στον χώρο.  Memstrata → το πρόβλημα εμφανίζεται μόνο υπό συστέγαση φόρτων.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§09</a:t>
            </a:r>
            <a:pPr indent="0" marL="0">
              <a:buNone/>
            </a:pPr>
            <a:r>
              <a:rPr lang="en-US" sz="1200" spc="100" kern="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ΓΙΑΤΙ ΔΕΝ ΕΧΕΙ ΛΥΘΕΙ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E9E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έντιμος συμβιβασμός: σελίδες ή γραμμές;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6177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ΜΕΤΑΝΑΣΤΕΥΣΗ ΣΕΛΙΔΩΝ · 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381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CACHING ΓΡΑΜΜΩΝ · ΥΛΙΚΟ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10725912" cy="402336"/>
          </a:xfrm>
          <a:prstGeom prst="rect">
            <a:avLst/>
          </a:prstGeom>
          <a:solidFill>
            <a:srgbClr val="1D24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1284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Μονάδα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221284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/ 2 MB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38160" y="22128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61518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Ποιος αποφασίζει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615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με παλιά πληροφορία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0" y="26151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Υλικό, αντιδραστικά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10725912" cy="402336"/>
          </a:xfrm>
          <a:prstGeom prst="rect">
            <a:avLst/>
          </a:prstGeom>
          <a:solidFill>
            <a:srgbClr val="1D242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1752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Χαμένη μεταφορά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30175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Υψηλή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38160" y="3017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Σχεδόν μηδενική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41985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Σταθερό κόστος / κίνηση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17720" y="34198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μs (TLB shootdown)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34198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3822192"/>
            <a:ext cx="10725912" cy="402336"/>
          </a:xfrm>
          <a:prstGeom prst="rect">
            <a:avLst/>
          </a:prstGeom>
          <a:solidFill>
            <a:srgbClr val="1D242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82219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Μεταδεδομένα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17720" y="38221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Πίνακες σελίδων (υπάρχουν)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38160" y="38221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Πίνακας ετικετών — τεράστιος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422452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Χωρητικότητα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17720" y="42245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αξιοποιήσιμη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38160" y="42245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Γρήγορη βαθμίδα → cache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1520" y="4626864"/>
            <a:ext cx="10725912" cy="402336"/>
          </a:xfrm>
          <a:prstGeom prst="rect">
            <a:avLst/>
          </a:prstGeom>
          <a:solidFill>
            <a:srgbClr val="1D242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62686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Αστοχίες σύγκρουσης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17720" y="46268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υφίστανται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38160" y="46268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Ναι — και μεταξύ ενοίκων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4400" y="50292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Νέο υλικό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617720" y="50292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Όχι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138160" y="502920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Ναι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1520" y="56235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κοκκομέτρηση γραμμής εξαλείφει τη σπατάλη και το σταθερό κόστος — και αγοράζει αστοχίες σύγκρουσης, αποθήκευση ετικετών και απώλεια της γρήγορης χωρητικότητας. Δεν είναι καθαρή νίκη.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§10</a:t>
            </a:r>
            <a:pPr indent="0" marL="0">
              <a:buNone/>
            </a:pPr>
            <a:r>
              <a:rPr lang="en-US" sz="120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ΜΕΘΟΔΟΛΟΓΙΑ  ·  CXLRAMSim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B074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71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εργαλείο: CXLRAMSim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Πλήρης προσομοίωση συστήματος πάνω σε gem5 v25, με εκκίνηση Linux 6.14. Μοντελοποιεί τη συσκευή CXL στη σωστή θέση πάνω στον δίαυλο I/O — άρα ο πυρήνας, οι οδηγοί και η στοίβα λογισμικού μένουν αναλλοίωτοι.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5443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72384"/>
            <a:ext cx="457200" cy="23774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25443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Πίνακες ACPI: MCFG, DSDT, CEDT, SRAT για ανακάλυψη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8718" y="2743200"/>
            <a:ext cx="25443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CXL.io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58718" y="3072384"/>
            <a:ext cx="457200" cy="23774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12" name="Text 10"/>
          <p:cNvSpPr/>
          <p:nvPr/>
        </p:nvSpPr>
        <p:spPr>
          <a:xfrm>
            <a:off x="3458718" y="3200400"/>
            <a:ext cx="25443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Complex και σύνολα καταχωρητών για απαρίθμηση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85916" y="2743200"/>
            <a:ext cx="25443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CXL.mem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5916" y="3072384"/>
            <a:ext cx="457200" cy="23774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15" name="Text 13"/>
          <p:cNvSpPr/>
          <p:nvPr/>
        </p:nvSpPr>
        <p:spPr>
          <a:xfrm>
            <a:off x="6185916" y="3200400"/>
            <a:ext cx="25443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συναλλαγών, κανάλια M2S / S2M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13114" y="2743200"/>
            <a:ext cx="25443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ΣΥΝΟΧΗ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3114" y="3072384"/>
            <a:ext cx="457200" cy="23774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18" name="Text 16"/>
          <p:cNvSpPr/>
          <p:nvPr/>
        </p:nvSpPr>
        <p:spPr>
          <a:xfrm>
            <a:off x="8913114" y="3200400"/>
            <a:ext cx="25443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δύο επιπέδων, κατανεμημένος κατάλογος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10725912" cy="1600200"/>
          </a:xfrm>
          <a:prstGeom prst="rect">
            <a:avLst/>
          </a:prstGeom>
          <a:solidFill>
            <a:srgbClr val="14181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498848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ΠΟΥ ΜΠΑΙΝΕΙ Ο ΔΙΚΟΣ ΜΟΥ ΚΩΔΙΚΑΣ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828032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9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σημείο όπου ο κόμβος CXL απο-πακετοποιεί ένα αίτημα M2S σε προσπέλαση DRAM, έχω {φυσική διεύθυνση, ανάγνωση/εγγραφή, χρονική στιγμή}.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5321808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 είναι ακριβώς η ροή αστοχιών LLC προς το CXL που κάνουν profiling το NeoMem και το M5 — δεν μπορείς να δεις τίποτε άλλο από εκεί. Ο profiler είναι μια λήψη πάνω σε αυτό το μονοπάτι.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</a:t>
            </a:r>
            <a:pPr indent="0" marL="0">
              <a:buNone/>
            </a:pPr>
            <a:r>
              <a:rPr lang="en-US" sz="120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ΣΧΕΔΙΟ ΑΞΙΟΛΟΓΗΣΗΣ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B074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71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πείραμα που αποδεικνύει το πρόβλημα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ΠΕΝΤΕ ΣΚΕΛΗ ΣΥΓΚΡΙΣΗΣ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σε CXL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κάτω φράγμα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26280" y="2340864"/>
            <a:ext cx="1554480" cy="182880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340864"/>
            <a:ext cx="279806" cy="182880"/>
          </a:xfrm>
          <a:prstGeom prst="rect">
            <a:avLst/>
          </a:prstGeom>
          <a:solidFill>
            <a:srgbClr val="9AA4B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σε τοπική DRAM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άνω φράγμα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2907792"/>
            <a:ext cx="1554480" cy="182880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2907792"/>
            <a:ext cx="1554480" cy="182880"/>
          </a:xfrm>
          <a:prstGeom prst="rect">
            <a:avLst/>
          </a:prstGeom>
          <a:solidFill>
            <a:srgbClr val="9AA4B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Αφελής μετανάστευση σελίδων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το «πρόβλημα»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3474720"/>
            <a:ext cx="1554480" cy="182880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6280" y="3474720"/>
            <a:ext cx="652882" cy="18288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86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Σχήμα του M5 (HPT+HWT)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4242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πρόταση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4041648"/>
            <a:ext cx="1554480" cy="182880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4041648"/>
            <a:ext cx="1212494" cy="18288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τοποθέτηση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4809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βέλτιστο offline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4608576"/>
            <a:ext cx="1554480" cy="182880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4608576"/>
            <a:ext cx="1476756" cy="182880"/>
          </a:xfrm>
          <a:prstGeom prst="rect">
            <a:avLst/>
          </a:prstGeom>
          <a:solidFill>
            <a:srgbClr val="9AA4B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212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B0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απόσταση αφελές ↔ oracle είναι το πρόβλημα που αναπαράγω.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09360" y="1920240"/>
            <a:ext cx="12802" cy="3840480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ΦΟΡΤΟΙ ΕΡΓΑΣΙΑΣ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29400" y="2249424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GUPS — τυχαίες ενημερώσεις 8 B, μηδενική χωρική τοπικότητα· η αντίπαλη περίπτωση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XSBench — αναζητήσεις Monte Carlo σε μεγάλους πίνακες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— άτακτη προσπέλαση γράφου, μετακινούμενο θερμό σύνολο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Btree / YCSB-C — λοξή κατανομή Zipf, ακραία υπο-σελιδική θερμότητα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2940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ΜΕΤΡΙΚΕΣ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29400" y="4306824"/>
            <a:ext cx="4846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Αθροιστική κατανομή πυκνότητας προσπελάσεων ανά γραμμή 64 B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Απόδοση μεταφοράς: bytes που μεταφέρθηκαν ÷ bytes που χρησιμοποιήθηκαν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Επικαιρότητα προαγωγής · ποσοστό σελίδων ακόμη θερμών κατά την προαγωγή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Επιβράδυνση συναρτήσει του λόγου βαθμίδων · πλήθος ping-pong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§12</a:t>
            </a:r>
            <a:pPr indent="0" marL="0">
              <a:buNone/>
            </a:pPr>
            <a:r>
              <a:rPr lang="en-US" sz="120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ΤΟ ΖΗΤΟΥΜΕΝΟ ΑΠΟΤΕΛΕΣΜΑ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B074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71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εικόνα στην οποία κρίνεται η εργασία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κάθε σελίδα 4 KB: τι ποσοστό των προσπελάσεών της συγκεντρώνεται στις k θερμότερες γραμμές των 64 B; Αν το 80% πέφτει σε λιγότερο από το 10% της σελίδας, το επιχείρημα της κοκκομέτρησης αποδεικνύεται σε ένα διάγραμμα.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4709160" cy="1051560"/>
          </a:xfrm>
          <a:prstGeom prst="rect">
            <a:avLst/>
          </a:prstGeom>
          <a:solidFill>
            <a:srgbClr val="F6E4D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913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4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ΠΡΟΣΟΧΗ ΣΤΗΝ ΑΝΑΓΝΩΣΗ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καμπύλη δίπλα είναι η αναμενόμενη μορφή, όχι μετρημένα δεδομένα. Δεν έχω τρέξει ακόμα τον προσομοιωτή.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9834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η καμπύλη βγει επίπεδη, το επιχείρημα της υπο-σελιδικής θερμότητας καταρρέει για αυτόν τον φόρτο — εξίσου χρήσιμο.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965960"/>
          <a:ext cx="5513832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§13</a:t>
            </a:r>
            <a:pPr indent="0" marL="0">
              <a:buNone/>
            </a:pPr>
            <a:r>
              <a:rPr lang="en-US" sz="1200" spc="100" kern="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ΧΡΟΝΟΔΙΑΓΡΑΜΜΑ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475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02920" cy="25603"/>
          </a:xfrm>
          <a:prstGeom prst="rect">
            <a:avLst/>
          </a:prstGeom>
          <a:solidFill>
            <a:srgbClr val="B074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71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Φάσεις και διαχείριση ρίσκου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2011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Εκκίνηση &amp; checkpoint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σε shell, επιβεβαίωση κόμβου zNUMA, microbenchmark: «απόδειξε ότι το CXL είναι αργό»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2670048"/>
            <a:ext cx="9674352" cy="9144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761488"/>
            <a:ext cx="10725912" cy="658368"/>
          </a:xfrm>
          <a:prstGeom prst="rect">
            <a:avLst/>
          </a:prstGeom>
          <a:solidFill>
            <a:srgbClr val="F6E4D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6148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83080" y="276148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Λήψη ιχνών προσπέλασης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76148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Σημείο λήψης στη ροή αιτημάτων· κατανομή πυκνότητας — πρώτο πραγματικό αποτέλεσμα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511296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83080" y="351129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Βασική γραμμή μεταφοράς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511296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Αφελής μετανάστευση σελίδων με έντιμο μοντέλο κόστους και ποσόστωση εύρους ζώνης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83080" y="4169664"/>
            <a:ext cx="9674352" cy="9144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6110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83080" y="42611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Υλοποίηση M5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4261104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Πρώτα το HPT, μετά το HWT ως το διαφοροποιητικό στοιχείο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83080" y="4919472"/>
            <a:ext cx="9674352" cy="9144"/>
          </a:xfrm>
          <a:prstGeom prst="rect">
            <a:avLst/>
          </a:prstGeom>
          <a:solidFill>
            <a:srgbClr val="D3D9E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01091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83080" y="50109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Αξιολόγηση &amp; συγγραφή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5010912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Ευαισθησία σε K, διάστημα, ποσόστωση, καθυστέρηση CXL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897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Φ2 απομειώνει το ρίσκο όλων των υπολοίπων: παράγει παρουσιάσιμο αποτέλεσμα πριν γραφτεί οποιαδήποτε πολιτική. Προαιρετικά: μοντέλο κόστους υλικού, σάρωση καθυστέρησης, δύο ταυτόχρονοι φόρτοι.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A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§14   ΠΡΟΣ ΣΥΖΗΤΗΣΗ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10177272" y="548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4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502920" cy="27432"/>
          </a:xfrm>
          <a:prstGeom prst="rect">
            <a:avLst/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Ανοιχτά ερωτήματα προς εσάς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22677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Πρόσβαση στο CXLRAMSim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5786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Υπάρχει αποθετήριο και οδηγίες build; Ιδανικά και έτοιμο disk image — το χτίσιμο από το μηδέν είναι παράκαμψη ημερών.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08760" y="3072384"/>
            <a:ext cx="10058400" cy="10973"/>
          </a:xfrm>
          <a:prstGeom prst="rect">
            <a:avLst/>
          </a:prstGeom>
          <a:solidFill>
            <a:srgbClr val="D999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186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08760" y="3200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Κλίμακα φόρτων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Αποδεκτό να κατεβάσω το μέγεθος σε εκατοντάδες MB αντί 10–20 GB RSS, κρατώντας ρεαλιστικό τον λόγο των βαθμίδων;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08760" y="4005072"/>
            <a:ext cx="10058400" cy="10973"/>
          </a:xfrm>
          <a:prstGeom prst="rect">
            <a:avLst/>
          </a:prstGeom>
          <a:solidFill>
            <a:srgbClr val="D999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5137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41330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Εύρος υλοποίησης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Αρκεί profiler HPT+HWT με μοντελοποιημένη μηχανή μεταφοράς, ή θέλετε πραγματική μετανάστευση Linux από kernel module;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4937760"/>
            <a:ext cx="10058400" cy="10973"/>
          </a:xfrm>
          <a:prstGeom prst="rect">
            <a:avLst/>
          </a:prstGeom>
          <a:solidFill>
            <a:srgbClr val="D999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8406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508760" y="506577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Επιλογή εργασίας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5376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το M5 η σωστή επιλογή, ή προτιμάτε να δείτε NeoMem;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github.com/Zajason/memory_tiering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Tiering σε συστήματα CXL</dc:title>
  <dc:subject>PptxGenJS Presentation</dc:subject>
  <dc:creator>ntua-el23408</dc:creator>
  <cp:lastModifiedBy>ntua-el23408</cp:lastModifiedBy>
  <cp:revision>1</cp:revision>
  <dcterms:created xsi:type="dcterms:W3CDTF">2026-07-22T12:03:06Z</dcterms:created>
  <dcterms:modified xsi:type="dcterms:W3CDTF">2026-07-22T12:03:06Z</dcterms:modified>
</cp:coreProperties>
</file>