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Zipf (Btree / YCSB)</c:v>
                </c:pt>
              </c:strCache>
            </c:strRef>
          </c:tx>
          <c:spPr>
            <a:solidFill>
              <a:srgbClr val="1F3A63"/>
            </a:solidFill>
            <a:ln w="28575" cap="flat">
              <a:solidFill>
                <a:srgbClr val="1F3A63"/>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F3A63"/>
              </a:solidFill>
              <a:ln w="9525" cap="flat">
                <a:solidFill>
                  <a:srgbClr val="1F3A63"/>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Sheet1!$B$2:$B$9</c:f>
              <c:numCache>
                <c:formatCode>General</c:formatCode>
                <c:ptCount val="8"/>
                <c:pt idx="0">
                  <c:v>31</c:v>
                </c:pt>
                <c:pt idx="1">
                  <c:v>62</c:v>
                </c:pt>
                <c:pt idx="2">
                  <c:v>78</c:v>
                </c:pt>
                <c:pt idx="3">
                  <c:v>88</c:v>
                </c:pt>
                <c:pt idx="4">
                  <c:v>93</c:v>
                </c:pt>
                <c:pt idx="5">
                  <c:v>96</c:v>
                </c:pt>
                <c:pt idx="6">
                  <c:v>99</c:v>
                </c:pt>
                <c:pt idx="7">
                  <c:v>100</c:v>
                </c:pt>
              </c:numCache>
            </c:numRef>
          </c:val>
          <c:smooth val="1"/>
        </c:ser>
        <c:ser>
          <c:idx val="1"/>
          <c:order val="1"/>
          <c:tx>
            <c:strRef>
              <c:f>Sheet1!$C$1</c:f>
              <c:strCache>
                <c:ptCount val="1"/>
                <c:pt idx="0">
                  <c:v>Ομοιόμορφη (GUPS)</c:v>
                </c:pt>
              </c:strCache>
            </c:strRef>
          </c:tx>
          <c:spPr>
            <a:solidFill>
              <a:srgbClr val="8C2A2A"/>
            </a:solidFill>
            <a:ln w="28575" cap="flat">
              <a:solidFill>
                <a:srgbClr val="8C2A2A"/>
              </a:solidFill>
              <a:prstDash val="solid,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8C2A2A"/>
              </a:solidFill>
              <a:ln w="9525" cap="flat">
                <a:solidFill>
                  <a:srgbClr val="8C2A2A"/>
                </a:solidFill>
                <a:prstDash val="solid"/>
                <a:round/>
              </a:ln>
              <a:effectLst/>
            </c:spPr>
          </c:marker>
          <c:cat>
            <c:multiLvlStrRef>
              <c:f>Sheet1!$A$2:$A$9</c:f>
              <c:multiLvlStrCache>
                <c:ptCount val="8"/>
                <c:lvl>
                  <c:pt idx="0">
                    <c:v>1</c:v>
                  </c:pt>
                  <c:pt idx="1">
                    <c:v>4</c:v>
                  </c:pt>
                  <c:pt idx="2">
                    <c:v>8</c:v>
                  </c:pt>
                  <c:pt idx="3">
                    <c:v>16</c:v>
                  </c:pt>
                  <c:pt idx="4">
                    <c:v>24</c:v>
                  </c:pt>
                  <c:pt idx="5">
                    <c:v>32</c:v>
                  </c:pt>
                  <c:pt idx="6">
                    <c:v>48</c:v>
                  </c:pt>
                  <c:pt idx="7">
                    <c:v>64</c:v>
                  </c:pt>
                </c:lvl>
              </c:multiLvlStrCache>
            </c:multiLvlStrRef>
          </c:cat>
          <c:val>
            <c:numRef>
              <c:f>Sheet1!$C$2:$C$9</c:f>
              <c:numCache>
                <c:formatCode>General</c:formatCode>
                <c:ptCount val="8"/>
                <c:pt idx="0">
                  <c:v>2</c:v>
                </c:pt>
                <c:pt idx="1">
                  <c:v>6</c:v>
                </c:pt>
                <c:pt idx="2">
                  <c:v>13</c:v>
                </c:pt>
                <c:pt idx="3">
                  <c:v>25</c:v>
                </c:pt>
                <c:pt idx="4">
                  <c:v>38</c:v>
                </c:pt>
                <c:pt idx="5">
                  <c:v>50</c:v>
                </c:pt>
                <c:pt idx="6">
                  <c:v>75</c:v>
                </c:pt>
                <c:pt idx="7">
                  <c:v>100</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k θερμότερες γραμμές 64 B (από 64)</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3E3E3"/>
              </a:solidFill>
              <a:prstDash val="solid"/>
              <a:round/>
            </a:ln>
          </c:spPr>
        </c:majorGridlines>
        <c:title>
          <c:tx>
            <c:rich>
              <a:bodyPr/>
              <a:lstStyle/>
              <a:p>
                <a:pPr>
                  <a:defRPr sz="1100" b="0" i="0" u="none" strike="noStrike">
                    <a:solidFill>
                      <a:srgbClr val="6E6E6E"/>
                    </a:solidFill>
                    <a:latin typeface="Times New Roman"/>
                  </a:defRPr>
                </a:pPr>
                <a:r>
                  <a:rPr sz="1100" b="0" i="0" u="none" strike="noStrike">
                    <a:solidFill>
                      <a:srgbClr val="6E6E6E"/>
                    </a:solidFill>
                    <a:latin typeface="Times New Roman"/>
                  </a:rPr>
                  <a:t>αθροιστικό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1A1A1A"/>
                </a:solidFill>
                <a:latin typeface="Times New Roman"/>
              </a:defRPr>
            </a:pPr>
            <a:endParaRPr lang="en-US"/>
          </a:p>
        </c:txPr>
        <c:crossAx val="2094734554"/>
        <c:crosses val="autoZero"/>
        <c:crossBetween val="between"/>
        <c:majorUnit val="25"/>
      </c:valAx>
      <c:spPr>
        <a:noFill/>
        <a:ln>
          <a:noFill/>
        </a:ln>
        <a:effectLst/>
      </c:spPr>
    </c:plotArea>
    <c:legend>
      <c:legendPos val="b"/>
      <c:overlay val="0"/>
      <c:txPr>
        <a:bodyPr/>
        <a:lstStyle/>
        <a:p>
          <a:pPr>
            <a:defRPr sz="1100">
              <a:solidFill>
                <a:srgbClr val="1A1A1A"/>
              </a:solidFill>
              <a:latin typeface="Times New Roman"/>
              <a:cs typeface="Times New Roman"/>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Στόχος: δείχνω ότι κατάλαβα το πρόβλημα και ότι έχω αξιόπιστο πλάνο. Δεν έχω ακόμα αποτελέσματα — και το λέω ανοιχτά.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Ένας αριθμός να μείνει: ~25% stranded DRAM. Το οικονομικό κίνητρο όλου του πεδίου.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σημείο: η DRAM στην κάρτα είναι κανονική DDR5. Η διασύνδεση είναι ο φόρος — γι' αυτό υπάρχει tiering.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Γιατί δύσκολη η προαγωγή: απαιτεί να ξέρεις ότι μια σελίδα είναι θερμή ΤΩΡΑ.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Κοινός παρονομαστής: ακρίβεια × επικαιρότητα × overhead — διάλεξε δύο.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Εδώ θα με ρωτήσουν. Απάντηση: κοκκομέτρηση profiling ≠ κοκκομέτρηση migration. Το M5 profiling στα 64 B, migration στα 4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Τάξη μεγέθους: μικροδευτερόλεπτα έναντι νανοδευτερολέπτων. Χιλιαπλάσιο κόστος.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Το ότι διαφωνούν είναι δύναμη: δείχνει ότι διάβασα και τις τρεις, όχι μία.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Αυτή η διαφάνεια ξεχωρίζει το «διάβασα μια εργασία» από το «κατάλαβα το πρόβλημα».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Ανοιχτό θέμα: χρειάζομαι πρόσβαση στο αποθετήριο του CXLRAMSim — δεν βρήκα δημόσιο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Πάντα αναφέρω και τα δύο φράγματα δίπλα σε κάθε σχήμα — αλλιώς το νούμερο δεν ερμηνεύεται.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Σκίτσο, όχι δεδομένα — και το δηλώνω. Ο Zipf δείχνει ακραία συγκέντρωση· το GUPS είναι αρνητικός έλεγχος.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Δηλώνω ξεκάθαρα τι είναι βασικό και τι stretch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Έτοιμη απάντηση για «γιατί όχι απευθείας cache lines»: δεν υπάρχει PTE για γραμμή → έμμεση αναφορά σε υλικό → Flat Memory Mode → κοστίζει αστοχίες σύγκρουσης και χωρητικότητα → αυτό ακριβώς λύνει το Memstrata.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868680"/>
            <a:ext cx="10634472" cy="320040"/>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Προηγμένη Αρχιτεκτονική Υπολογιστών  ·  Εργασία 2  ·  Παρουσίαση ιδέας</a:t>
            </a:r>
            <a:endParaRPr lang="en-US" sz="1400" dirty="0"/>
          </a:p>
        </p:txBody>
      </p:sp>
      <p:sp>
        <p:nvSpPr>
          <p:cNvPr id="3" name="Text 1"/>
          <p:cNvSpPr/>
          <p:nvPr/>
        </p:nvSpPr>
        <p:spPr>
          <a:xfrm>
            <a:off x="777240" y="1371600"/>
            <a:ext cx="10634472" cy="731520"/>
          </a:xfrm>
          <a:prstGeom prst="rect">
            <a:avLst/>
          </a:prstGeom>
          <a:noFill/>
          <a:ln/>
        </p:spPr>
        <p:txBody>
          <a:bodyPr wrap="square" lIns="0" tIns="0" rIns="0" bIns="0" rtlCol="0" anchor="ctr"/>
          <a:lstStyle/>
          <a:p>
            <a:pPr indent="0" marL="0">
              <a:buNone/>
            </a:pPr>
            <a:r>
              <a:rPr lang="en-US" sz="4000" b="1" dirty="0">
                <a:solidFill>
                  <a:srgbClr val="1A1A1A"/>
                </a:solidFill>
                <a:latin typeface="Times New Roman" pitchFamily="34" charset="0"/>
                <a:ea typeface="Times New Roman" pitchFamily="34" charset="-122"/>
                <a:cs typeface="Times New Roman" pitchFamily="34" charset="-120"/>
              </a:rPr>
              <a:t>Memory Tiering σε συστήματα CXL</a:t>
            </a:r>
            <a:endParaRPr lang="en-US" sz="4000" dirty="0"/>
          </a:p>
        </p:txBody>
      </p:sp>
      <p:sp>
        <p:nvSpPr>
          <p:cNvPr id="4" name="Text 2"/>
          <p:cNvSpPr/>
          <p:nvPr/>
        </p:nvSpPr>
        <p:spPr>
          <a:xfrm>
            <a:off x="777240" y="2148840"/>
            <a:ext cx="10634472" cy="658368"/>
          </a:xfrm>
          <a:prstGeom prst="rect">
            <a:avLst/>
          </a:prstGeom>
          <a:noFill/>
          <a:ln/>
        </p:spPr>
        <p:txBody>
          <a:bodyPr wrap="square" lIns="0" tIns="0" rIns="0" bIns="0" rtlCol="0" anchor="ctr"/>
          <a:lstStyle/>
          <a:p>
            <a:pPr indent="0" marL="0">
              <a:lnSpc>
                <a:spcPts val="2400"/>
              </a:lnSpc>
              <a:buNone/>
            </a:pPr>
            <a:r>
              <a:rPr lang="en-US" sz="1800" i="1" dirty="0">
                <a:solidFill>
                  <a:srgbClr val="1F3A63"/>
                </a:solidFill>
                <a:latin typeface="Times New Roman" pitchFamily="34" charset="0"/>
                <a:ea typeface="Times New Roman" pitchFamily="34" charset="-122"/>
                <a:cs typeface="Times New Roman" pitchFamily="34" charset="-120"/>
              </a:rPr>
              <a:t>Προσομοίωση τεχνικών ιεραρχικής διαχείρισης μνήμης με υποστήριξη υλικού, στον προσομοιωτή CXLRAMSim</a:t>
            </a:r>
            <a:endParaRPr lang="en-US" sz="1800" dirty="0"/>
          </a:p>
        </p:txBody>
      </p:sp>
      <p:sp>
        <p:nvSpPr>
          <p:cNvPr id="5" name="Shape 3"/>
          <p:cNvSpPr/>
          <p:nvPr/>
        </p:nvSpPr>
        <p:spPr>
          <a:xfrm>
            <a:off x="777240" y="2907792"/>
            <a:ext cx="10634472" cy="12802"/>
          </a:xfrm>
          <a:prstGeom prst="rect">
            <a:avLst/>
          </a:prstGeom>
          <a:solidFill>
            <a:srgbClr val="BFBFBF"/>
          </a:solidFill>
          <a:ln/>
        </p:spPr>
      </p:sp>
      <p:sp>
        <p:nvSpPr>
          <p:cNvPr id="6" name="Text 4"/>
          <p:cNvSpPr/>
          <p:nvPr/>
        </p:nvSpPr>
        <p:spPr>
          <a:xfrm>
            <a:off x="777240" y="3063240"/>
            <a:ext cx="1828800" cy="27432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Περίληψη.</a:t>
            </a:r>
            <a:endParaRPr lang="en-US" sz="1400" dirty="0"/>
          </a:p>
        </p:txBody>
      </p:sp>
      <p:sp>
        <p:nvSpPr>
          <p:cNvPr id="7" name="Text 5"/>
          <p:cNvSpPr/>
          <p:nvPr/>
        </p:nvSpPr>
        <p:spPr>
          <a:xfrm>
            <a:off x="1097280" y="3364992"/>
            <a:ext cx="10314432" cy="1371600"/>
          </a:xfrm>
          <a:prstGeom prst="rect">
            <a:avLst/>
          </a:prstGeom>
          <a:noFill/>
          <a:ln/>
        </p:spPr>
        <p:txBody>
          <a:bodyPr wrap="square" lIns="0" tIns="0" rIns="0" bIns="0" rtlCol="0" anchor="ctr"/>
          <a:lstStyle/>
          <a:p>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Οι μνήμες CXL προσφέρουν φθηνή χωρητικότητα πάνω από τον δίαυλο PCIe, με το τίμημα ~2–3× μεγαλύτερης καθυστέρησης· σχηματίζουν έτσι ένα σύστημα μνήμης δύο βαθμίδων. Η παρούσα εργασία αναπαράγει, στον προσομοιωτή CXLRAMSim, γιατί η μετανάστευση σελίδων 4 KB από το λειτουργικό σύστημα αποτυγχάνει να γεφυρώσει το χάσμα επίδοσης προς την τοπική DRAM, και εξετάζει λύσεις με υποστήριξη υλικού (M5, NeoMem, Memstrata) που κάνουν profiling μέσα στη συσκευή CXL.</a:t>
            </a:r>
            <a:endParaRPr lang="en-US" sz="1450" dirty="0"/>
          </a:p>
        </p:txBody>
      </p:sp>
      <p:sp>
        <p:nvSpPr>
          <p:cNvPr id="8" name="Text 6"/>
          <p:cNvSpPr/>
          <p:nvPr/>
        </p:nvSpPr>
        <p:spPr>
          <a:xfrm>
            <a:off x="1097280" y="4709160"/>
            <a:ext cx="10314432" cy="292608"/>
          </a:xfrm>
          <a:prstGeom prst="rect">
            <a:avLst/>
          </a:prstGeom>
          <a:noFill/>
          <a:ln/>
        </p:spPr>
        <p:txBody>
          <a:bodyPr wrap="square" lIns="0" tIns="0" rIns="0" bIns="0" rtlCol="0" anchor="ctr"/>
          <a:lstStyle/>
          <a:p>
            <a:pPr indent="0" marL="0">
              <a:buNone/>
            </a:pPr>
            <a:r>
              <a:rPr lang="en-US" sz="1300" b="1" dirty="0">
                <a:solidFill>
                  <a:srgbClr val="6E6E6E"/>
                </a:solidFill>
                <a:latin typeface="Times New Roman" pitchFamily="34" charset="0"/>
                <a:ea typeface="Times New Roman" pitchFamily="34" charset="-122"/>
                <a:cs typeface="Times New Roman" pitchFamily="34" charset="-120"/>
              </a:rPr>
              <a:t>Λέξεις-κλειδιά:  </a:t>
            </a:r>
            <a:pPr indent="0" marL="0">
              <a:buNone/>
            </a:pPr>
            <a:r>
              <a:rPr lang="en-US" sz="1300" i="1" dirty="0">
                <a:solidFill>
                  <a:srgbClr val="6E6E6E"/>
                </a:solidFill>
                <a:latin typeface="Times New Roman" pitchFamily="34" charset="0"/>
                <a:ea typeface="Times New Roman" pitchFamily="34" charset="-122"/>
                <a:cs typeface="Times New Roman" pitchFamily="34" charset="-120"/>
              </a:rPr>
              <a:t>CXL · memory tiering · μετανάστευση σελίδων · profiling υλικού · κοκκομέτρηση</a:t>
            </a:r>
            <a:endParaRPr lang="en-US" sz="1300" dirty="0"/>
          </a:p>
        </p:txBody>
      </p:sp>
      <p:sp>
        <p:nvSpPr>
          <p:cNvPr id="9" name="Shape 7"/>
          <p:cNvSpPr/>
          <p:nvPr/>
        </p:nvSpPr>
        <p:spPr>
          <a:xfrm>
            <a:off x="777240" y="5257800"/>
            <a:ext cx="10634472" cy="12802"/>
          </a:xfrm>
          <a:prstGeom prst="rect">
            <a:avLst/>
          </a:prstGeom>
          <a:solidFill>
            <a:srgbClr val="BFBFBF"/>
          </a:solidFill>
          <a:ln/>
        </p:spPr>
      </p:sp>
      <p:sp>
        <p:nvSpPr>
          <p:cNvPr id="10" name="Text 8"/>
          <p:cNvSpPr/>
          <p:nvPr/>
        </p:nvSpPr>
        <p:spPr>
          <a:xfrm>
            <a:off x="777240" y="5440680"/>
            <a:ext cx="10634472" cy="320040"/>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el23408</a:t>
            </a:r>
            <a:pPr indent="0" marL="0">
              <a:buNone/>
            </a:pPr>
            <a:r>
              <a:rPr lang="en-US" sz="1400" dirty="0">
                <a:solidFill>
                  <a:srgbClr val="1A1A1A"/>
                </a:solidFill>
                <a:latin typeface="Times New Roman" pitchFamily="34" charset="0"/>
                <a:ea typeface="Times New Roman" pitchFamily="34" charset="-122"/>
                <a:cs typeface="Times New Roman" pitchFamily="34" charset="-120"/>
              </a:rPr>
              <a:t>   ·   Εθνικό Μετσόβιο Πολυτεχνείο   ·   Ιούλιος 2026</a:t>
            </a:r>
            <a:endParaRPr lang="en-US" sz="1400" dirty="0"/>
          </a:p>
        </p:txBody>
      </p:sp>
      <p:sp>
        <p:nvSpPr>
          <p:cNvPr id="11" name="Text 9"/>
          <p:cNvSpPr/>
          <p:nvPr/>
        </p:nvSpPr>
        <p:spPr>
          <a:xfrm>
            <a:off x="777240" y="5806440"/>
            <a:ext cx="10634472" cy="274320"/>
          </a:xfrm>
          <a:prstGeom prst="rect">
            <a:avLst/>
          </a:prstGeom>
          <a:noFill/>
          <a:ln/>
        </p:spPr>
        <p:txBody>
          <a:bodyPr wrap="square" lIns="0" tIns="0" rIns="0" bIns="0" rtlCol="0" anchor="ctr"/>
          <a:lstStyle/>
          <a:p>
            <a:pPr indent="0" marL="0">
              <a:buNone/>
            </a:pPr>
            <a:r>
              <a:rPr lang="en-US" sz="1100" dirty="0">
                <a:solidFill>
                  <a:srgbClr val="6E6E6E"/>
                </a:solidFill>
                <a:latin typeface="Courier New" pitchFamily="34" charset="0"/>
                <a:ea typeface="Courier New" pitchFamily="34" charset="-122"/>
                <a:cs typeface="Courier New" pitchFamily="34" charset="-120"/>
              </a:rPr>
              <a:t>github.com/Zajason/memory_tiering</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§1.1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Η μνήμη είναι ο περιοριστικός πόρος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2 / 14</a:t>
            </a:r>
            <a:endParaRPr lang="en-US" sz="950" dirty="0"/>
          </a:p>
        </p:txBody>
      </p:sp>
      <p:sp>
        <p:nvSpPr>
          <p:cNvPr id="7" name="Text 5"/>
          <p:cNvSpPr/>
          <p:nvPr/>
        </p:nvSpPr>
        <p:spPr>
          <a:xfrm>
            <a:off x="777240" y="1325880"/>
            <a:ext cx="10634472" cy="123444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Η χωρητικότητα της μνήμης ανά επεξεργαστικό socket έχει φτάσει σε τοίχο: περιορισμένος αριθμός από DIMM slots και pins DDR. Για να αποκτήσει κανείς περισσότερη μνήμη αναγκάζεται να αγοράσει περισσότερους επεξεργαστές τους οποίους δεν χρειάζεται. Το CXL σπάει αυτόν τον δεσμό, επιτρέποντας επέκταση της χωρητικότητας πάνω από τον δίαυλο PCIe, ανεξάρτητα από τους πυρήνες.</a:t>
            </a:r>
            <a:endParaRPr lang="en-US" sz="1600" dirty="0"/>
          </a:p>
        </p:txBody>
      </p:sp>
      <p:sp>
        <p:nvSpPr>
          <p:cNvPr id="8" name="Shape 6"/>
          <p:cNvSpPr/>
          <p:nvPr/>
        </p:nvSpPr>
        <p:spPr>
          <a:xfrm>
            <a:off x="777240" y="2743200"/>
            <a:ext cx="10634472" cy="1234440"/>
          </a:xfrm>
          <a:prstGeom prst="rect">
            <a:avLst/>
          </a:prstGeom>
          <a:solidFill>
            <a:srgbClr val="F0F0EE"/>
          </a:solidFill>
          <a:ln/>
        </p:spPr>
      </p:sp>
      <p:sp>
        <p:nvSpPr>
          <p:cNvPr id="9" name="Text 7"/>
          <p:cNvSpPr/>
          <p:nvPr/>
        </p:nvSpPr>
        <p:spPr>
          <a:xfrm>
            <a:off x="960120" y="2852928"/>
            <a:ext cx="1026871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Παρατήρηση 1 — αποκομμένη («stranded») μνήμη</a:t>
            </a:r>
            <a:endParaRPr lang="en-US" sz="1450" dirty="0"/>
          </a:p>
        </p:txBody>
      </p:sp>
      <p:sp>
        <p:nvSpPr>
          <p:cNvPr id="10" name="Text 8"/>
          <p:cNvSpPr/>
          <p:nvPr/>
        </p:nvSpPr>
        <p:spPr>
          <a:xfrm>
            <a:off x="960120" y="3182112"/>
            <a:ext cx="10268712" cy="68580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Σε στόλους cloud υπερκλίμακας, περίπου το 25% της εγκατεστημένης DRAM παραμένει αναξιοποίητο, επειδή οι πυρήνες του μηχανήματος έχουν ήδη διατεθεί σε άλλους ενοίκους. Το CXL στοχεύει ακριβώς στην ανάκτηση αυτής της αποκομμένης χωρητικότητας (Azure — Pond, ASPLOS ’23).</a:t>
            </a:r>
            <a:endParaRPr lang="en-US" sz="1350" dirty="0"/>
          </a:p>
        </p:txBody>
      </p:sp>
      <p:sp>
        <p:nvSpPr>
          <p:cNvPr id="11" name="Text 9"/>
          <p:cNvSpPr/>
          <p:nvPr/>
        </p:nvSpPr>
        <p:spPr>
          <a:xfrm>
            <a:off x="777240" y="4251960"/>
            <a:ext cx="10634472" cy="822960"/>
          </a:xfrm>
          <a:prstGeom prst="rect">
            <a:avLst/>
          </a:prstGeom>
          <a:noFill/>
          <a:ln/>
        </p:spPr>
        <p:txBody>
          <a:bodyPr wrap="square" lIns="0" tIns="0" rIns="0" bIns="0" rtlCol="0" anchor="ctr"/>
          <a:lstStyle/>
          <a:p>
            <a:pPr algn="just" indent="0" marL="0">
              <a:lnSpc>
                <a:spcPts val="2200"/>
              </a:lnSpc>
              <a:buNone/>
            </a:pPr>
            <a:r>
              <a:rPr lang="en-US" sz="1500" i="1" dirty="0">
                <a:solidFill>
                  <a:srgbClr val="6E6E6E"/>
                </a:solidFill>
                <a:latin typeface="Times New Roman" pitchFamily="34" charset="0"/>
                <a:ea typeface="Times New Roman" pitchFamily="34" charset="-122"/>
                <a:cs typeface="Times New Roman" pitchFamily="34" charset="-120"/>
              </a:rPr>
              <a:t>Αυτό το οικονομικό κίνητρο —φθηνή, κοινόχρηστη χωρητικότητα— είναι που κάνει το CXL ελκυστικό. Το τεχνικό τίμημα, όμως, είναι η καθυστέρηση προσπέλασης, την οποία εξετάζουμε στη συνέχεια.</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§1.2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τίμημα: η καθυστέρηση της CXL</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1. Κίνητρο</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3 / 14</a:t>
            </a:r>
            <a:endParaRPr lang="en-US" sz="950" dirty="0"/>
          </a:p>
        </p:txBody>
      </p:sp>
      <p:sp>
        <p:nvSpPr>
          <p:cNvPr id="7" name="Text 5"/>
          <p:cNvSpPr/>
          <p:nvPr/>
        </p:nvSpPr>
        <p:spPr>
          <a:xfrm>
            <a:off x="777240" y="1280160"/>
            <a:ext cx="6126480"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τυπικές τιμές καθυστέρησης και εύρους ζώνης ανά διαδρομή.</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6126480" cy="914400"/>
        </p:xfrm>
        <a:graphic>
          <a:graphicData uri="http://schemas.openxmlformats.org/drawingml/2006/table">
            <a:tbl>
              <a:tblPr/>
              <a:tblGrid>
                <a:gridCol w="2651760"/>
                <a:gridCol w="1828800"/>
                <a:gridCol w="1645920"/>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Διαδρομή</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Καθυστέρηση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Εύρος ζώνης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Τοπική DDR5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80–100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30–50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Απομακρ. NUMA socket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140–180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Μνήμη CXL (x8 Gen5)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b="1" dirty="0">
                          <a:solidFill>
                            <a:srgbClr val="8C2A2A"/>
                          </a:solidFill>
                          <a:latin typeface="Courier New" pitchFamily="34" charset="0"/>
                          <a:ea typeface="Courier New" pitchFamily="34" charset="-122"/>
                          <a:cs typeface="Courier New" pitchFamily="34" charset="-120"/>
                        </a:rPr>
                        <a:t>250–400 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25–30 GB/s</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6126480" cy="20117"/>
          </a:xfrm>
          <a:prstGeom prst="rect">
            <a:avLst/>
          </a:prstGeom>
          <a:solidFill>
            <a:srgbClr val="1A1A1A"/>
          </a:solidFill>
          <a:ln/>
        </p:spPr>
      </p:sp>
      <p:sp>
        <p:nvSpPr>
          <p:cNvPr id="10" name="Shape 7"/>
          <p:cNvSpPr/>
          <p:nvPr/>
        </p:nvSpPr>
        <p:spPr>
          <a:xfrm>
            <a:off x="777240" y="1984248"/>
            <a:ext cx="6126480" cy="9144"/>
          </a:xfrm>
          <a:prstGeom prst="rect">
            <a:avLst/>
          </a:prstGeom>
          <a:solidFill>
            <a:srgbClr val="BFBFBF"/>
          </a:solidFill>
          <a:ln/>
        </p:spPr>
      </p:sp>
      <p:sp>
        <p:nvSpPr>
          <p:cNvPr id="11" name="Shape 8"/>
          <p:cNvSpPr/>
          <p:nvPr/>
        </p:nvSpPr>
        <p:spPr>
          <a:xfrm>
            <a:off x="777240" y="3136392"/>
            <a:ext cx="6126480" cy="20117"/>
          </a:xfrm>
          <a:prstGeom prst="rect">
            <a:avLst/>
          </a:prstGeom>
          <a:solidFill>
            <a:srgbClr val="1A1A1A"/>
          </a:solidFill>
          <a:ln/>
        </p:spPr>
      </p:sp>
      <p:sp>
        <p:nvSpPr>
          <p:cNvPr id="12" name="Text 9"/>
          <p:cNvSpPr/>
          <p:nvPr/>
        </p:nvSpPr>
        <p:spPr>
          <a:xfrm>
            <a:off x="777240" y="3566160"/>
            <a:ext cx="6126480" cy="155448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Η καθυστέρηση είναι </a:t>
            </a:r>
            <a:pPr algn="just" indent="0" marL="0">
              <a:lnSpc>
                <a:spcPts val="2300"/>
              </a:lnSpc>
              <a:buNone/>
            </a:pPr>
            <a:r>
              <a:rPr lang="en-US" sz="1500" b="1" dirty="0">
                <a:solidFill>
                  <a:srgbClr val="8C2A2A"/>
                </a:solidFill>
                <a:latin typeface="Times New Roman" pitchFamily="34" charset="0"/>
                <a:ea typeface="Times New Roman" pitchFamily="34" charset="-122"/>
                <a:cs typeface="Times New Roman" pitchFamily="34" charset="-120"/>
              </a:rPr>
              <a:t>2–3× μεγαλύτερη</a:t>
            </a:r>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 από την τοπική DDR — παρότι η DRAM πάνω στην κάρτα είναι κοινή DDR5. Το τίμημα το πληρώνει η </a:t>
            </a:r>
            <a:pPr algn="just" indent="0" marL="0">
              <a:lnSpc>
                <a:spcPts val="2300"/>
              </a:lnSpc>
              <a:buNone/>
            </a:pPr>
            <a:r>
              <a:rPr lang="en-US" sz="1500" i="1" dirty="0">
                <a:solidFill>
                  <a:srgbClr val="1A1A1A"/>
                </a:solidFill>
                <a:latin typeface="Times New Roman" pitchFamily="34" charset="0"/>
                <a:ea typeface="Times New Roman" pitchFamily="34" charset="-122"/>
                <a:cs typeface="Times New Roman" pitchFamily="34" charset="-120"/>
              </a:rPr>
              <a:t>διασύνδεση</a:t>
            </a:r>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 όχι η μνήμη. Συνεπώς φόρτοι δεσμευμένοι από καθυστέρηση (pointer chasing) υποφέρουν, ενώ φόρτοι δεσμευμένοι από εύρος ζώνης σχεδόν δεν το αντιλαμβάνονται.</a:t>
            </a:r>
            <a:endParaRPr lang="en-US" sz="1500" dirty="0"/>
          </a:p>
        </p:txBody>
      </p:sp>
      <p:sp>
        <p:nvSpPr>
          <p:cNvPr id="13" name="Text 10"/>
          <p:cNvSpPr/>
          <p:nvPr/>
        </p:nvSpPr>
        <p:spPr>
          <a:xfrm>
            <a:off x="7452360" y="1280160"/>
            <a:ext cx="3959352" cy="292608"/>
          </a:xfrm>
          <a:prstGeom prst="rect">
            <a:avLst/>
          </a:prstGeom>
          <a:noFill/>
          <a:ln/>
        </p:spPr>
        <p:txBody>
          <a:bodyPr wrap="square" lIns="0" tIns="0" rIns="0" bIns="0" rtlCol="0" anchor="ctr"/>
          <a:lstStyle/>
          <a:p>
            <a:pPr indent="0" marL="0">
              <a:buNone/>
            </a:pPr>
            <a:r>
              <a:rPr lang="en-US" sz="1350" i="1" dirty="0">
                <a:solidFill>
                  <a:srgbClr val="1A1A1A"/>
                </a:solidFill>
                <a:latin typeface="Times New Roman" pitchFamily="34" charset="0"/>
                <a:ea typeface="Times New Roman" pitchFamily="34" charset="-122"/>
                <a:cs typeface="Times New Roman" pitchFamily="34" charset="-120"/>
              </a:rPr>
              <a:t>Η διαδρομή ενός load που αστοχεί στην LLC:</a:t>
            </a:r>
            <a:endParaRPr lang="en-US" sz="1350" dirty="0"/>
          </a:p>
        </p:txBody>
      </p:sp>
      <p:sp>
        <p:nvSpPr>
          <p:cNvPr id="14" name="Text 11"/>
          <p:cNvSpPr/>
          <p:nvPr/>
        </p:nvSpPr>
        <p:spPr>
          <a:xfrm>
            <a:off x="7452360" y="169164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(1)</a:t>
            </a:r>
            <a:endParaRPr lang="en-US" sz="1200" dirty="0"/>
          </a:p>
        </p:txBody>
      </p:sp>
      <p:sp>
        <p:nvSpPr>
          <p:cNvPr id="15" name="Text 12"/>
          <p:cNvSpPr/>
          <p:nvPr/>
        </p:nvSpPr>
        <p:spPr>
          <a:xfrm>
            <a:off x="7955280" y="169164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Πυρήνας CPU  →  αστοχία LLC</a:t>
            </a:r>
            <a:endParaRPr lang="en-US" sz="1400" dirty="0"/>
          </a:p>
        </p:txBody>
      </p:sp>
      <p:sp>
        <p:nvSpPr>
          <p:cNvPr id="16" name="Text 13"/>
          <p:cNvSpPr/>
          <p:nvPr/>
        </p:nvSpPr>
        <p:spPr>
          <a:xfrm>
            <a:off x="7452360" y="207568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(2)</a:t>
            </a:r>
            <a:endParaRPr lang="en-US" sz="1200" dirty="0"/>
          </a:p>
        </p:txBody>
      </p:sp>
      <p:sp>
        <p:nvSpPr>
          <p:cNvPr id="17" name="Text 14"/>
          <p:cNvSpPr/>
          <p:nvPr/>
        </p:nvSpPr>
        <p:spPr>
          <a:xfrm>
            <a:off x="7955280" y="2075688"/>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CXL Root Complex</a:t>
            </a:r>
            <a:endParaRPr lang="en-US" sz="1400" dirty="0"/>
          </a:p>
        </p:txBody>
      </p:sp>
      <p:sp>
        <p:nvSpPr>
          <p:cNvPr id="18" name="Text 15"/>
          <p:cNvSpPr/>
          <p:nvPr/>
        </p:nvSpPr>
        <p:spPr>
          <a:xfrm>
            <a:off x="7452360" y="2459736"/>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(3)</a:t>
            </a:r>
            <a:endParaRPr lang="en-US" sz="1200" dirty="0"/>
          </a:p>
        </p:txBody>
      </p:sp>
      <p:sp>
        <p:nvSpPr>
          <p:cNvPr id="19" name="Text 16"/>
          <p:cNvSpPr/>
          <p:nvPr/>
        </p:nvSpPr>
        <p:spPr>
          <a:xfrm>
            <a:off x="7955280" y="2459736"/>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πακετοποίηση M2S</a:t>
            </a:r>
            <a:endParaRPr lang="en-US" sz="1400" dirty="0"/>
          </a:p>
        </p:txBody>
      </p:sp>
      <p:sp>
        <p:nvSpPr>
          <p:cNvPr id="20" name="Text 17"/>
          <p:cNvSpPr/>
          <p:nvPr/>
        </p:nvSpPr>
        <p:spPr>
          <a:xfrm>
            <a:off x="7452360" y="2843784"/>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(4)</a:t>
            </a:r>
            <a:endParaRPr lang="en-US" sz="1200" dirty="0"/>
          </a:p>
        </p:txBody>
      </p:sp>
      <p:sp>
        <p:nvSpPr>
          <p:cNvPr id="21" name="Text 18"/>
          <p:cNvSpPr/>
          <p:nvPr/>
        </p:nvSpPr>
        <p:spPr>
          <a:xfrm>
            <a:off x="7955280" y="2843784"/>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σύνδεσμος PCIe (SERDES)</a:t>
            </a:r>
            <a:endParaRPr lang="en-US" sz="1400" dirty="0"/>
          </a:p>
        </p:txBody>
      </p:sp>
      <p:sp>
        <p:nvSpPr>
          <p:cNvPr id="22" name="Text 19"/>
          <p:cNvSpPr/>
          <p:nvPr/>
        </p:nvSpPr>
        <p:spPr>
          <a:xfrm>
            <a:off x="7452360" y="3227832"/>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(5)</a:t>
            </a:r>
            <a:endParaRPr lang="en-US" sz="1200" dirty="0"/>
          </a:p>
        </p:txBody>
      </p:sp>
      <p:sp>
        <p:nvSpPr>
          <p:cNvPr id="23" name="Text 20"/>
          <p:cNvSpPr/>
          <p:nvPr/>
        </p:nvSpPr>
        <p:spPr>
          <a:xfrm>
            <a:off x="7955280" y="3227832"/>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ελεγκτής συσκευής  →  de-packetize</a:t>
            </a:r>
            <a:endParaRPr lang="en-US" sz="1400" dirty="0"/>
          </a:p>
        </p:txBody>
      </p:sp>
      <p:sp>
        <p:nvSpPr>
          <p:cNvPr id="24" name="Text 21"/>
          <p:cNvSpPr/>
          <p:nvPr/>
        </p:nvSpPr>
        <p:spPr>
          <a:xfrm>
            <a:off x="7452360" y="3611880"/>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(6)</a:t>
            </a:r>
            <a:endParaRPr lang="en-US" sz="1200" dirty="0"/>
          </a:p>
        </p:txBody>
      </p:sp>
      <p:sp>
        <p:nvSpPr>
          <p:cNvPr id="25" name="Text 22"/>
          <p:cNvSpPr/>
          <p:nvPr/>
        </p:nvSpPr>
        <p:spPr>
          <a:xfrm>
            <a:off x="7955280" y="3611880"/>
            <a:ext cx="3456432" cy="292608"/>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DRAM στην κάρτα</a:t>
            </a:r>
            <a:endParaRPr lang="en-US" sz="1400" dirty="0"/>
          </a:p>
        </p:txBody>
      </p:sp>
      <p:sp>
        <p:nvSpPr>
          <p:cNvPr id="26" name="Text 23"/>
          <p:cNvSpPr/>
          <p:nvPr/>
        </p:nvSpPr>
        <p:spPr>
          <a:xfrm>
            <a:off x="7452360" y="3995928"/>
            <a:ext cx="457200" cy="292608"/>
          </a:xfrm>
          <a:prstGeom prst="rect">
            <a:avLst/>
          </a:prstGeom>
          <a:noFill/>
          <a:ln/>
        </p:spPr>
        <p:txBody>
          <a:bodyPr wrap="square" lIns="0" tIns="0" rIns="0" bIns="0" rtlCol="0" anchor="ctr"/>
          <a:lstStyle/>
          <a:p>
            <a:pPr indent="0" marL="0">
              <a:buNone/>
            </a:pPr>
            <a:r>
              <a:rPr lang="en-US" sz="1200" dirty="0">
                <a:solidFill>
                  <a:srgbClr val="1F3A63"/>
                </a:solidFill>
                <a:latin typeface="Courier New" pitchFamily="34" charset="0"/>
                <a:ea typeface="Courier New" pitchFamily="34" charset="-122"/>
                <a:cs typeface="Courier New" pitchFamily="34" charset="-120"/>
              </a:rPr>
              <a:t>(7)</a:t>
            </a:r>
            <a:endParaRPr lang="en-US" sz="1200" dirty="0"/>
          </a:p>
        </p:txBody>
      </p:sp>
      <p:sp>
        <p:nvSpPr>
          <p:cNvPr id="27" name="Text 24"/>
          <p:cNvSpPr/>
          <p:nvPr/>
        </p:nvSpPr>
        <p:spPr>
          <a:xfrm>
            <a:off x="7955280" y="3995928"/>
            <a:ext cx="3456432" cy="292608"/>
          </a:xfrm>
          <a:prstGeom prst="rect">
            <a:avLst/>
          </a:prstGeom>
          <a:noFill/>
          <a:ln/>
        </p:spPr>
        <p:txBody>
          <a:bodyPr wrap="square" lIns="0" tIns="0" rIns="0" bIns="0" rtlCol="0" anchor="ctr"/>
          <a:lstStyle/>
          <a:p>
            <a:pPr indent="0" marL="0">
              <a:buNone/>
            </a:pPr>
            <a:r>
              <a:rPr lang="en-US" sz="1400" i="1" dirty="0">
                <a:solidFill>
                  <a:srgbClr val="6E6E6E"/>
                </a:solidFill>
                <a:latin typeface="Times New Roman" pitchFamily="34" charset="0"/>
                <a:ea typeface="Times New Roman" pitchFamily="34" charset="-122"/>
                <a:cs typeface="Times New Roman" pitchFamily="34" charset="-120"/>
              </a:rPr>
              <a:t>και όλη η διαδρομή αντίστροφα (S2M)</a:t>
            </a:r>
            <a:endParaRPr lang="en-US" sz="1400" dirty="0"/>
          </a:p>
        </p:txBody>
      </p:sp>
      <p:sp>
        <p:nvSpPr>
          <p:cNvPr id="28" name="Text 25"/>
          <p:cNvSpPr/>
          <p:nvPr/>
        </p:nvSpPr>
        <p:spPr>
          <a:xfrm>
            <a:off x="7452360" y="4553712"/>
            <a:ext cx="395935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1: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κάθε στάδιο προσθέτει καθυστέρηση· η διασύνδεση κυριαρχεί.</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πρόβλημα του tiering</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2. Το πρόβλημα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4 / 14</a:t>
            </a:r>
            <a:endParaRPr lang="en-US" sz="950" dirty="0"/>
          </a:p>
        </p:txBody>
      </p:sp>
      <p:sp>
        <p:nvSpPr>
          <p:cNvPr id="7" name="Text 5"/>
          <p:cNvSpPr/>
          <p:nvPr/>
        </p:nvSpPr>
        <p:spPr>
          <a:xfrm>
            <a:off x="777240" y="1325880"/>
            <a:ext cx="10634472" cy="86868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Έχουμε δύο βαθμίδες μνήμης — μια γρήγορη και μικρή (τοπική DDR) και μια αργή και μεγάλη (CXL). Σκοπός είναι να διατηρούνται τα «θερμά» δεδομένα στη γρήγορη βαθμίδα. Αν επιτευχθεί, ένα μηχάνημα με μόλις 25% τοπική DRAM αποδίδει σχεδόν σαν να διέθετε 100%.</a:t>
            </a:r>
            <a:endParaRPr lang="en-US" sz="1600" dirty="0"/>
          </a:p>
        </p:txBody>
      </p:sp>
      <p:sp>
        <p:nvSpPr>
          <p:cNvPr id="8" name="Shape 6"/>
          <p:cNvSpPr/>
          <p:nvPr/>
        </p:nvSpPr>
        <p:spPr>
          <a:xfrm>
            <a:off x="777240" y="2331720"/>
            <a:ext cx="5134356" cy="1417320"/>
          </a:xfrm>
          <a:prstGeom prst="rect">
            <a:avLst/>
          </a:prstGeom>
          <a:solidFill>
            <a:srgbClr val="F0F0EE"/>
          </a:solidFill>
          <a:ln/>
        </p:spPr>
      </p:sp>
      <p:sp>
        <p:nvSpPr>
          <p:cNvPr id="9" name="Text 7"/>
          <p:cNvSpPr/>
          <p:nvPr/>
        </p:nvSpPr>
        <p:spPr>
          <a:xfrm>
            <a:off x="960120" y="2441448"/>
            <a:ext cx="4768596"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Ορισμός — Προαγωγή (promotion)</a:t>
            </a:r>
            <a:endParaRPr lang="en-US" sz="1450" dirty="0"/>
          </a:p>
        </p:txBody>
      </p:sp>
      <p:sp>
        <p:nvSpPr>
          <p:cNvPr id="10" name="Text 8"/>
          <p:cNvSpPr/>
          <p:nvPr/>
        </p:nvSpPr>
        <p:spPr>
          <a:xfrm>
            <a:off x="960120" y="2770632"/>
            <a:ext cx="4768596"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Μετακίνηση σελίδας από την αργή στη γρήγορη βαθμίδα. Πρέπει να είναι έγκαιρη: μια σελίδα που προάγεται αφού έχει ήδη κρυώσει αποτελεί καθαρή σπατάλη.</a:t>
            </a:r>
            <a:endParaRPr lang="en-US" sz="1350" dirty="0"/>
          </a:p>
        </p:txBody>
      </p:sp>
      <p:sp>
        <p:nvSpPr>
          <p:cNvPr id="11" name="Shape 9"/>
          <p:cNvSpPr/>
          <p:nvPr/>
        </p:nvSpPr>
        <p:spPr>
          <a:xfrm>
            <a:off x="6277356" y="2331720"/>
            <a:ext cx="5134356" cy="1417320"/>
          </a:xfrm>
          <a:prstGeom prst="rect">
            <a:avLst/>
          </a:prstGeom>
          <a:solidFill>
            <a:srgbClr val="F0F0EE"/>
          </a:solidFill>
          <a:ln/>
        </p:spPr>
      </p:sp>
      <p:sp>
        <p:nvSpPr>
          <p:cNvPr id="12" name="Text 10"/>
          <p:cNvSpPr/>
          <p:nvPr/>
        </p:nvSpPr>
        <p:spPr>
          <a:xfrm>
            <a:off x="6460236" y="2441448"/>
            <a:ext cx="4768596"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Ορισμός — Υποβάθμιση (demotion)</a:t>
            </a:r>
            <a:endParaRPr lang="en-US" sz="1450" dirty="0"/>
          </a:p>
        </p:txBody>
      </p:sp>
      <p:sp>
        <p:nvSpPr>
          <p:cNvPr id="13" name="Text 11"/>
          <p:cNvSpPr/>
          <p:nvPr/>
        </p:nvSpPr>
        <p:spPr>
          <a:xfrm>
            <a:off x="6460236" y="2770632"/>
            <a:ext cx="4768596"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Μετακίνηση σελίδας από τη γρήγορη στην αργή βαθμίδα. Πρέπει να είναι ασφαλής: η υποβάθμιση μιας ακόμη θερμής σελίδας προκαλεί ταλάντωση (ping-pong).</a:t>
            </a:r>
            <a:endParaRPr lang="en-US" sz="1350" dirty="0"/>
          </a:p>
        </p:txBody>
      </p:sp>
      <p:sp>
        <p:nvSpPr>
          <p:cNvPr id="14" name="Text 12"/>
          <p:cNvSpPr/>
          <p:nvPr/>
        </p:nvSpPr>
        <p:spPr>
          <a:xfrm>
            <a:off x="777240" y="4023360"/>
            <a:ext cx="10634472" cy="128016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Η υποβάθμιση είναι το εύκολο μέρος — μια προσέγγιση LRU αρκεί, και ο πυρήνας του Linux ήδη διαθέτει LRU. </a:t>
            </a:r>
            <a:pPr algn="just" indent="0" marL="0">
              <a:lnSpc>
                <a:spcPts val="2400"/>
              </a:lnSpc>
              <a:buNone/>
            </a:pPr>
            <a:r>
              <a:rPr lang="en-US" sz="1600" b="1" dirty="0">
                <a:solidFill>
                  <a:srgbClr val="8C2A2A"/>
                </a:solidFill>
                <a:latin typeface="Times New Roman" pitchFamily="34" charset="0"/>
                <a:ea typeface="Times New Roman" pitchFamily="34" charset="-122"/>
                <a:cs typeface="Times New Roman" pitchFamily="34" charset="-120"/>
              </a:rPr>
              <a:t>Η προαγωγή είναι το ανοιχτό πρόβλημα:</a:t>
            </a:r>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 απαιτεί να γνωρίζουμε ότι μια σελίδα είναι θερμή τη δεδομένη στιγμή, και αυτό κοστίζει. Είναι θέση που διατυπώνει ρητά και η ίδια η κοινότητα του Linux MM.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Αστοχία: το profiling</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αποτυγχάνει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5 / 14</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2: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μηχανισμοί εντοπισμού θερμών σελίδων και το θεμελιώδες ελάττωμα καθενός.</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634472" cy="914400"/>
        </p:xfrm>
        <a:graphic>
          <a:graphicData uri="http://schemas.openxmlformats.org/drawingml/2006/table">
            <a:tbl>
              <a:tblPr/>
              <a:tblGrid>
                <a:gridCol w="2377440"/>
                <a:gridCol w="3657600"/>
                <a:gridCol w="459943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Μηχανισμός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Αρχή λειτουργίας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Θεμελιώδες ελάττωμα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PTE-scan (DAMON)</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Σάρωση των access bits των PTE</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1 bit = δυαδική πληροφορία· η σάρωση διαρκεί δευτερόλεπτα — το θερμό σύνολο έχει ήδη αλλάξει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00" dirty="0">
                          <a:solidFill>
                            <a:srgbClr val="1A1A1A"/>
                          </a:solidFill>
                          <a:latin typeface="Courier New" pitchFamily="34" charset="0"/>
                          <a:ea typeface="Courier New" pitchFamily="34" charset="-122"/>
                          <a:cs typeface="Courier New" pitchFamily="34" charset="-120"/>
                        </a:rPr>
                        <a:t>hint faults (AutoNUMA, TPP)</a:t>
                      </a:r>
                      <a:endParaRPr lang="en-US" sz="11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Σκόπιμη απο-χαρτογράφηση PTE ώστε η προσπέλαση να παγιδεύεται</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8C2A2A"/>
                          </a:solidFill>
                          <a:latin typeface="Times New Roman" pitchFamily="34" charset="0"/>
                          <a:ea typeface="Times New Roman" pitchFamily="34" charset="-122"/>
                          <a:cs typeface="Times New Roman" pitchFamily="34" charset="-120"/>
                        </a:rPr>
                        <a:t>Μετρά αστοχίες TLB, όχι αστοχίες LLC — συσχετίζονται ασθενώς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640080">
                <a:tc>
                  <a:txBody>
                    <a:bodyPr/>
                    <a:lstStyle/>
                    <a:p>
                      <a:pPr indent="0" marL="0">
                        <a:buNone/>
                      </a:pPr>
                      <a:r>
                        <a:rPr lang="en-US" sz="1150" dirty="0">
                          <a:solidFill>
                            <a:srgbClr val="1A1A1A"/>
                          </a:solidFill>
                          <a:latin typeface="Courier New" pitchFamily="34" charset="0"/>
                          <a:ea typeface="Courier New" pitchFamily="34" charset="-122"/>
                          <a:cs typeface="Courier New" pitchFamily="34" charset="-120"/>
                        </a:rPr>
                        <a:t>PEBS / IBS (Memtis)</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Δειγματοληψία της PMU σε αστοχίες LLC</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overhead ακολουθεί τον ρυθμό δειγματοληψίας: &gt;50% επιβράδυνση σε πυκνά δείγματα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150" b="1" dirty="0">
                          <a:solidFill>
                            <a:srgbClr val="1F3A63"/>
                          </a:solidFill>
                          <a:latin typeface="Courier New" pitchFamily="34" charset="0"/>
                          <a:ea typeface="Courier New" pitchFamily="34" charset="-122"/>
                          <a:cs typeface="Courier New" pitchFamily="34" charset="-120"/>
                        </a:rPr>
                        <a:t>υλικό στη συσκευή CXL</a:t>
                      </a:r>
                      <a:endParaRPr lang="en-US" sz="11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Μετρητές μέσα στον ελεγκτή της συσκευής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Σωστό γεγονός, μηδενικό κόστος CPU — αλλά απαιτεί νέο υλικό</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634472" cy="20117"/>
          </a:xfrm>
          <a:prstGeom prst="rect">
            <a:avLst/>
          </a:prstGeom>
          <a:solidFill>
            <a:srgbClr val="1A1A1A"/>
          </a:solidFill>
          <a:ln/>
        </p:spPr>
      </p:sp>
      <p:sp>
        <p:nvSpPr>
          <p:cNvPr id="10" name="Shape 7"/>
          <p:cNvSpPr/>
          <p:nvPr/>
        </p:nvSpPr>
        <p:spPr>
          <a:xfrm>
            <a:off x="777240" y="1984248"/>
            <a:ext cx="10634472" cy="9144"/>
          </a:xfrm>
          <a:prstGeom prst="rect">
            <a:avLst/>
          </a:prstGeom>
          <a:solidFill>
            <a:srgbClr val="BFBFBF"/>
          </a:solidFill>
          <a:ln/>
        </p:spPr>
      </p:sp>
      <p:sp>
        <p:nvSpPr>
          <p:cNvPr id="11" name="Shape 8"/>
          <p:cNvSpPr/>
          <p:nvPr/>
        </p:nvSpPr>
        <p:spPr>
          <a:xfrm>
            <a:off x="777240" y="4471416"/>
            <a:ext cx="10634472" cy="20117"/>
          </a:xfrm>
          <a:prstGeom prst="rect">
            <a:avLst/>
          </a:prstGeom>
          <a:solidFill>
            <a:srgbClr val="1A1A1A"/>
          </a:solidFill>
          <a:ln/>
        </p:spPr>
      </p:sp>
      <p:sp>
        <p:nvSpPr>
          <p:cNvPr id="12" name="Text 9"/>
          <p:cNvSpPr/>
          <p:nvPr/>
        </p:nvSpPr>
        <p:spPr>
          <a:xfrm>
            <a:off x="777240" y="5074920"/>
            <a:ext cx="10634472" cy="1005840"/>
          </a:xfrm>
          <a:prstGeom prst="rect">
            <a:avLst/>
          </a:prstGeom>
          <a:noFill/>
          <a:ln/>
        </p:spPr>
        <p:txBody>
          <a:bodyPr wrap="square" lIns="0" tIns="0" rIns="0" bIns="0" rtlCol="0" anchor="ctr"/>
          <a:lstStyle/>
          <a:p>
            <a:pPr algn="just" indent="0" marL="0">
              <a:lnSpc>
                <a:spcPts val="2200"/>
              </a:lnSpc>
              <a:buNone/>
            </a:pPr>
            <a:r>
              <a:rPr lang="en-US" sz="1500" b="1" dirty="0">
                <a:solidFill>
                  <a:srgbClr val="8C2A2A"/>
                </a:solidFill>
                <a:latin typeface="Times New Roman" pitchFamily="34" charset="0"/>
                <a:ea typeface="Times New Roman" pitchFamily="34" charset="-122"/>
                <a:cs typeface="Times New Roman" pitchFamily="34" charset="-120"/>
              </a:rPr>
              <a:t>Το κρίσιμο σημείο.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Οι AutoNUMA και TPP μετρούν αστοχίες TLB, αλλά την κίνηση προς τη μνήμη CXL την καθορίζουν οι αστοχίες LLC· μια σελίδα μπορεί να είναι έντονα θερμή ως προς το TLB και σχεδόν αόρατη ως προς την κίνηση CXL. Βελτιστοποιούν, δηλαδή, το λάθος σήμα.</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Αστοχία: η κοκκομέτρηση</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αποτυγχάνει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6 / 14</a:t>
            </a:r>
            <a:endParaRPr lang="en-US" sz="950" dirty="0"/>
          </a:p>
        </p:txBody>
      </p:sp>
      <p:sp>
        <p:nvSpPr>
          <p:cNvPr id="7" name="Text 5"/>
          <p:cNvSpPr/>
          <p:nvPr/>
        </p:nvSpPr>
        <p:spPr>
          <a:xfrm>
            <a:off x="777240" y="1298448"/>
            <a:ext cx="10634472" cy="1234440"/>
          </a:xfrm>
          <a:prstGeom prst="rect">
            <a:avLst/>
          </a:prstGeom>
          <a:noFill/>
          <a:ln/>
        </p:spPr>
        <p:txBody>
          <a:bodyPr wrap="square" lIns="0" tIns="0" rIns="0" bIns="0" rtlCol="0" anchor="ctr"/>
          <a:lstStyle/>
          <a:p>
            <a:pPr algn="just" indent="0" marL="0">
              <a:lnSpc>
                <a:spcPts val="2300"/>
              </a:lnSpc>
              <a:buNone/>
            </a:pPr>
            <a:r>
              <a:rPr lang="en-US" sz="1550" dirty="0">
                <a:solidFill>
                  <a:srgbClr val="1A1A1A"/>
                </a:solidFill>
                <a:latin typeface="Times New Roman" pitchFamily="34" charset="0"/>
                <a:ea typeface="Times New Roman" pitchFamily="34" charset="-122"/>
                <a:cs typeface="Times New Roman" pitchFamily="34" charset="-120"/>
              </a:rPr>
              <a:t>Η πυκνότητα των προσπελάσεων μέσα σε μια σελίδα 4 KB είναι εξαιρετικά ανομοιόμορφη: μια αναζήτηση σε πίνακα κατακερματισμού αγγίζει 64 bytes από τα 4096 (βλ. Σχήμα 2). Το 4 KB είναι λάθος μονάδα και προς τις δύο κατευθύνσεις — υπερβολικά χονδρό για ό,τι είναι πραγματικά θερμό, αλλά και υπερβολικά λεπτό για τον μηχανισμό μετανάστευσης, που πληρώνει σταθερό κόστος ανά σελίδα.</a:t>
            </a:r>
            <a:endParaRPr lang="en-US" sz="1550" dirty="0"/>
          </a:p>
        </p:txBody>
      </p:sp>
      <p:sp>
        <p:nvSpPr>
          <p:cNvPr id="8" name="Text 6"/>
          <p:cNvSpPr/>
          <p:nvPr/>
        </p:nvSpPr>
        <p:spPr>
          <a:xfrm>
            <a:off x="777240"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64 B</a:t>
            </a:r>
            <a:endParaRPr lang="en-US" sz="2800" dirty="0"/>
          </a:p>
        </p:txBody>
      </p:sp>
      <p:sp>
        <p:nvSpPr>
          <p:cNvPr id="9" name="Text 7"/>
          <p:cNvSpPr/>
          <p:nvPr/>
        </p:nvSpPr>
        <p:spPr>
          <a:xfrm>
            <a:off x="777240"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cache line</a:t>
            </a:r>
            <a:endParaRPr lang="en-US" sz="1100" dirty="0"/>
          </a:p>
        </p:txBody>
      </p:sp>
      <p:sp>
        <p:nvSpPr>
          <p:cNvPr id="10" name="Text 8"/>
          <p:cNvSpPr/>
          <p:nvPr/>
        </p:nvSpPr>
        <p:spPr>
          <a:xfrm>
            <a:off x="777240"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ελάχιστη σπατάλη· μη διαχειρίσιμα μεταδεδομένα</a:t>
            </a:r>
            <a:endParaRPr lang="en-US" sz="1250" dirty="0"/>
          </a:p>
        </p:txBody>
      </p:sp>
      <p:sp>
        <p:nvSpPr>
          <p:cNvPr id="11" name="Text 9"/>
          <p:cNvSpPr/>
          <p:nvPr/>
        </p:nvSpPr>
        <p:spPr>
          <a:xfrm>
            <a:off x="4017264" y="269748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2" name="Text 10"/>
          <p:cNvSpPr/>
          <p:nvPr/>
        </p:nvSpPr>
        <p:spPr>
          <a:xfrm>
            <a:off x="4474464"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4 KB</a:t>
            </a:r>
            <a:endParaRPr lang="en-US" sz="2800" dirty="0"/>
          </a:p>
        </p:txBody>
      </p:sp>
      <p:sp>
        <p:nvSpPr>
          <p:cNvPr id="13" name="Text 11"/>
          <p:cNvSpPr/>
          <p:nvPr/>
        </p:nvSpPr>
        <p:spPr>
          <a:xfrm>
            <a:off x="4474464"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προεπιλογή Linux</a:t>
            </a:r>
            <a:endParaRPr lang="en-US" sz="1100" dirty="0"/>
          </a:p>
        </p:txBody>
      </p:sp>
      <p:sp>
        <p:nvSpPr>
          <p:cNvPr id="14" name="Text 12"/>
          <p:cNvSpPr/>
          <p:nvPr/>
        </p:nvSpPr>
        <p:spPr>
          <a:xfrm>
            <a:off x="4474464"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μέτριο και στα δύο: σπαταλά και κοστίζει</a:t>
            </a:r>
            <a:endParaRPr lang="en-US" sz="1250" dirty="0"/>
          </a:p>
        </p:txBody>
      </p:sp>
      <p:sp>
        <p:nvSpPr>
          <p:cNvPr id="15" name="Text 13"/>
          <p:cNvSpPr/>
          <p:nvPr/>
        </p:nvSpPr>
        <p:spPr>
          <a:xfrm>
            <a:off x="7714488" y="2697480"/>
            <a:ext cx="457200" cy="457200"/>
          </a:xfrm>
          <a:prstGeom prst="rect">
            <a:avLst/>
          </a:prstGeom>
          <a:noFill/>
          <a:ln/>
        </p:spPr>
        <p:txBody>
          <a:bodyPr wrap="square" lIns="0" tIns="0" rIns="0" bIns="0" rtlCol="0" anchor="ctr"/>
          <a:lstStyle/>
          <a:p>
            <a:pPr algn="ctr" indent="0" marL="0">
              <a:buNone/>
            </a:pPr>
            <a:r>
              <a:rPr lang="en-US" sz="2000" dirty="0">
                <a:solidFill>
                  <a:srgbClr val="6E6E6E"/>
                </a:solidFill>
                <a:latin typeface="Times New Roman" pitchFamily="34" charset="0"/>
                <a:ea typeface="Times New Roman" pitchFamily="34" charset="-122"/>
                <a:cs typeface="Times New Roman" pitchFamily="34" charset="-120"/>
              </a:rPr>
              <a:t>−→</a:t>
            </a:r>
            <a:endParaRPr lang="en-US" sz="2000" dirty="0"/>
          </a:p>
        </p:txBody>
      </p:sp>
      <p:sp>
        <p:nvSpPr>
          <p:cNvPr id="16" name="Text 14"/>
          <p:cNvSpPr/>
          <p:nvPr/>
        </p:nvSpPr>
        <p:spPr>
          <a:xfrm>
            <a:off x="8171688" y="2697480"/>
            <a:ext cx="3240024" cy="457200"/>
          </a:xfrm>
          <a:prstGeom prst="rect">
            <a:avLst/>
          </a:prstGeom>
          <a:noFill/>
          <a:ln/>
        </p:spPr>
        <p:txBody>
          <a:bodyPr wrap="square" lIns="0" tIns="0" rIns="0" bIns="0" rtlCol="0" anchor="ctr"/>
          <a:lstStyle/>
          <a:p>
            <a:pPr algn="ctr" indent="0" marL="0">
              <a:buNone/>
            </a:pPr>
            <a:r>
              <a:rPr lang="en-US" sz="2800" b="1" dirty="0">
                <a:solidFill>
                  <a:srgbClr val="1F3A63"/>
                </a:solidFill>
                <a:latin typeface="Times New Roman" pitchFamily="34" charset="0"/>
                <a:ea typeface="Times New Roman" pitchFamily="34" charset="-122"/>
                <a:cs typeface="Times New Roman" pitchFamily="34" charset="-120"/>
              </a:rPr>
              <a:t>2 MB</a:t>
            </a:r>
            <a:endParaRPr lang="en-US" sz="2800" dirty="0"/>
          </a:p>
        </p:txBody>
      </p:sp>
      <p:sp>
        <p:nvSpPr>
          <p:cNvPr id="17" name="Text 15"/>
          <p:cNvSpPr/>
          <p:nvPr/>
        </p:nvSpPr>
        <p:spPr>
          <a:xfrm>
            <a:off x="8171688" y="3200400"/>
            <a:ext cx="3240024" cy="256032"/>
          </a:xfrm>
          <a:prstGeom prst="rect">
            <a:avLst/>
          </a:prstGeom>
          <a:noFill/>
          <a:ln/>
        </p:spPr>
        <p:txBody>
          <a:bodyPr wrap="square" lIns="0" tIns="0" rIns="0" bIns="0" rtlCol="0" anchor="ctr"/>
          <a:lstStyle/>
          <a:p>
            <a:pPr algn="ctr" indent="0" marL="0">
              <a:buNone/>
            </a:pPr>
            <a:r>
              <a:rPr lang="en-US" sz="1100" dirty="0">
                <a:solidFill>
                  <a:srgbClr val="6E6E6E"/>
                </a:solidFill>
                <a:latin typeface="Courier New" pitchFamily="34" charset="0"/>
                <a:ea typeface="Courier New" pitchFamily="34" charset="-122"/>
                <a:cs typeface="Courier New" pitchFamily="34" charset="-120"/>
              </a:rPr>
              <a:t>huge page</a:t>
            </a:r>
            <a:endParaRPr lang="en-US" sz="1100" dirty="0"/>
          </a:p>
        </p:txBody>
      </p:sp>
      <p:sp>
        <p:nvSpPr>
          <p:cNvPr id="18" name="Text 16"/>
          <p:cNvSpPr/>
          <p:nvPr/>
        </p:nvSpPr>
        <p:spPr>
          <a:xfrm>
            <a:off x="8171688" y="3493008"/>
            <a:ext cx="3240024" cy="548640"/>
          </a:xfrm>
          <a:prstGeom prst="rect">
            <a:avLst/>
          </a:prstGeom>
          <a:noFill/>
          <a:ln/>
        </p:spPr>
        <p:txBody>
          <a:bodyPr wrap="square" lIns="0" tIns="0" rIns="0" bIns="0" rtlCol="0" anchor="ctr"/>
          <a:lstStyle/>
          <a:p>
            <a:pPr algn="ctr" indent="0" marL="0">
              <a:lnSpc>
                <a:spcPts val="1600"/>
              </a:lnSpc>
              <a:buNone/>
            </a:pPr>
            <a:r>
              <a:rPr lang="en-US" sz="1250" i="1" dirty="0">
                <a:solidFill>
                  <a:srgbClr val="1A1A1A"/>
                </a:solidFill>
                <a:latin typeface="Times New Roman" pitchFamily="34" charset="0"/>
                <a:ea typeface="Times New Roman" pitchFamily="34" charset="-122"/>
                <a:cs typeface="Times New Roman" pitchFamily="34" charset="-120"/>
              </a:rPr>
              <a:t>φθηνή μετανάστευση· τεράστια σπατάλη (&gt;99%)</a:t>
            </a:r>
            <a:endParaRPr lang="en-US" sz="1250" dirty="0"/>
          </a:p>
        </p:txBody>
      </p:sp>
      <p:sp>
        <p:nvSpPr>
          <p:cNvPr id="19" name="Text 17"/>
          <p:cNvSpPr/>
          <p:nvPr/>
        </p:nvSpPr>
        <p:spPr>
          <a:xfrm>
            <a:off x="777240" y="4114800"/>
            <a:ext cx="106344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2: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το φάσμα κοκκομέτρησης — καμία επιλογή δεν είναι καλή ταυτόχρονα σε σπατάλη και σε κόστος.</a:t>
            </a:r>
            <a:endParaRPr lang="en-US" sz="1100" dirty="0"/>
          </a:p>
        </p:txBody>
      </p:sp>
      <p:sp>
        <p:nvSpPr>
          <p:cNvPr id="20" name="Shape 18"/>
          <p:cNvSpPr/>
          <p:nvPr/>
        </p:nvSpPr>
        <p:spPr>
          <a:xfrm>
            <a:off x="777240" y="4572000"/>
            <a:ext cx="10634472" cy="1417320"/>
          </a:xfrm>
          <a:prstGeom prst="rect">
            <a:avLst/>
          </a:prstGeom>
          <a:solidFill>
            <a:srgbClr val="F7ECEC"/>
          </a:solidFill>
          <a:ln/>
        </p:spPr>
      </p:sp>
      <p:sp>
        <p:nvSpPr>
          <p:cNvPr id="21" name="Text 19"/>
          <p:cNvSpPr/>
          <p:nvPr/>
        </p:nvSpPr>
        <p:spPr>
          <a:xfrm>
            <a:off x="960120" y="4681728"/>
            <a:ext cx="10268712" cy="292608"/>
          </a:xfrm>
          <a:prstGeom prst="rect">
            <a:avLst/>
          </a:prstGeom>
          <a:noFill/>
          <a:ln/>
        </p:spPr>
        <p:txBody>
          <a:bodyPr wrap="square" lIns="0" tIns="0" rIns="0" bIns="0" rtlCol="0" anchor="ctr"/>
          <a:lstStyle/>
          <a:p>
            <a:pPr indent="0" marL="0">
              <a:buNone/>
            </a:pPr>
            <a:r>
              <a:rPr lang="en-US" sz="1450" b="1" dirty="0">
                <a:solidFill>
                  <a:srgbClr val="8C2A2A"/>
                </a:solidFill>
                <a:latin typeface="Times New Roman" pitchFamily="34" charset="0"/>
                <a:ea typeface="Times New Roman" pitchFamily="34" charset="-122"/>
                <a:cs typeface="Times New Roman" pitchFamily="34" charset="-120"/>
              </a:rPr>
              <a:t>Κρίσιμο σημείο — δεν υπάρχει PTE για μια cache line</a:t>
            </a:r>
            <a:endParaRPr lang="en-US" sz="1450" dirty="0"/>
          </a:p>
        </p:txBody>
      </p:sp>
      <p:sp>
        <p:nvSpPr>
          <p:cNvPr id="22" name="Text 20"/>
          <p:cNvSpPr/>
          <p:nvPr/>
        </p:nvSpPr>
        <p:spPr>
          <a:xfrm>
            <a:off x="960120" y="5010912"/>
            <a:ext cx="10268712" cy="86868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Άρα κανείς δεν μπορεί να «μεταναστεύσει γραμμές αντί για σελίδες» μέσα από το λειτουργικό. Η λύση είναι είτε έμμεση αναφορά σε υλικό (η τοπική DRAM γίνεται κρυφή μνήμη γραμμών), είτε — και εδώ στοχεύει η εργασία — profiling σε λεπτή κοκκομέτρηση (64 B) που οδηγεί αποφάσεις μετανάστευσης σε χονδρή (4 KB). Η κοκκομέτρηση profiling διαφέρει από την κοκκομέτρηση migration· αυτό ακριβώς κάνει το M5.</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§3.3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Αστοχία: το κόστος μεταφοράς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3. Γιατί αποτυγχάνει</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7 / 14</a:t>
            </a:r>
            <a:endParaRPr lang="en-US" sz="950" dirty="0"/>
          </a:p>
        </p:txBody>
      </p:sp>
      <p:sp>
        <p:nvSpPr>
          <p:cNvPr id="7" name="Text 5"/>
          <p:cNvSpPr/>
          <p:nvPr/>
        </p:nvSpPr>
        <p:spPr>
          <a:xfrm>
            <a:off x="777240" y="1298448"/>
            <a:ext cx="10634472" cy="320040"/>
          </a:xfrm>
          <a:prstGeom prst="rect">
            <a:avLst/>
          </a:prstGeom>
          <a:noFill/>
          <a:ln/>
        </p:spPr>
        <p:txBody>
          <a:bodyPr wrap="square" lIns="0" tIns="0" rIns="0" bIns="0" rtlCol="0" anchor="ctr"/>
          <a:lstStyle/>
          <a:p>
            <a:pPr indent="0" marL="0">
              <a:buNone/>
            </a:pPr>
            <a:r>
              <a:rPr lang="en-US" sz="1600" dirty="0">
                <a:solidFill>
                  <a:srgbClr val="1A1A1A"/>
                </a:solidFill>
                <a:latin typeface="Times New Roman" pitchFamily="34" charset="0"/>
                <a:ea typeface="Times New Roman" pitchFamily="34" charset="-122"/>
                <a:cs typeface="Times New Roman" pitchFamily="34" charset="-120"/>
              </a:rPr>
              <a:t>Για να προαχθεί μία σελίδα 4 KB, ο πυρήνας πληρώνει τέσσερα κόστη:</a:t>
            </a:r>
            <a:endParaRPr lang="en-US" sz="1600" dirty="0"/>
          </a:p>
        </p:txBody>
      </p:sp>
      <p:sp>
        <p:nvSpPr>
          <p:cNvPr id="8" name="Text 6"/>
          <p:cNvSpPr/>
          <p:nvPr/>
        </p:nvSpPr>
        <p:spPr>
          <a:xfrm>
            <a:off x="777240" y="1783080"/>
            <a:ext cx="365760" cy="548640"/>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1.</a:t>
            </a:r>
            <a:endParaRPr lang="en-US" sz="1450" dirty="0"/>
          </a:p>
        </p:txBody>
      </p:sp>
      <p:sp>
        <p:nvSpPr>
          <p:cNvPr id="9" name="Text 7"/>
          <p:cNvSpPr/>
          <p:nvPr/>
        </p:nvSpPr>
        <p:spPr>
          <a:xfrm>
            <a:off x="1188720" y="1783080"/>
            <a:ext cx="5943600" cy="640080"/>
          </a:xfrm>
          <a:prstGeom prst="rect">
            <a:avLst/>
          </a:prstGeom>
          <a:noFill/>
          <a:ln/>
        </p:spPr>
        <p:txBody>
          <a:bodyPr wrap="square" lIns="0" tIns="0" rIns="0" bIns="0" rtlCol="0" anchor="ctr"/>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Αντιγραφή.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4 KB ανάγνωση από CXL και 4 KB εγγραφή σε DDR — καταναλώνει το εύρος ζώνης που θέλει να σώσει.</a:t>
            </a:r>
            <a:endParaRPr lang="en-US" sz="1350" dirty="0"/>
          </a:p>
        </p:txBody>
      </p:sp>
      <p:sp>
        <p:nvSpPr>
          <p:cNvPr id="10" name="Text 8"/>
          <p:cNvSpPr/>
          <p:nvPr/>
        </p:nvSpPr>
        <p:spPr>
          <a:xfrm>
            <a:off x="777240" y="2514600"/>
            <a:ext cx="365760" cy="548640"/>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2.</a:t>
            </a:r>
            <a:endParaRPr lang="en-US" sz="1450" dirty="0"/>
          </a:p>
        </p:txBody>
      </p:sp>
      <p:sp>
        <p:nvSpPr>
          <p:cNvPr id="11" name="Text 9"/>
          <p:cNvSpPr/>
          <p:nvPr/>
        </p:nvSpPr>
        <p:spPr>
          <a:xfrm>
            <a:off x="1188720" y="2514600"/>
            <a:ext cx="5943600" cy="640080"/>
          </a:xfrm>
          <a:prstGeom prst="rect">
            <a:avLst/>
          </a:prstGeom>
          <a:noFill/>
          <a:ln/>
        </p:spPr>
        <p:txBody>
          <a:bodyPr wrap="square" lIns="0" tIns="0" rIns="0" bIns="0" rtlCol="0" anchor="ctr"/>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Ενημέρωση πίνακα σελίδων.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Διάσχιση του rmap για κάθε PTE που χαρτογραφεί τη σελίδα.</a:t>
            </a:r>
            <a:endParaRPr lang="en-US" sz="1350" dirty="0"/>
          </a:p>
        </p:txBody>
      </p:sp>
      <p:sp>
        <p:nvSpPr>
          <p:cNvPr id="12" name="Text 10"/>
          <p:cNvSpPr/>
          <p:nvPr/>
        </p:nvSpPr>
        <p:spPr>
          <a:xfrm>
            <a:off x="777240" y="3246120"/>
            <a:ext cx="365760" cy="548640"/>
          </a:xfrm>
          <a:prstGeom prst="rect">
            <a:avLst/>
          </a:prstGeom>
          <a:noFill/>
          <a:ln/>
        </p:spPr>
        <p:txBody>
          <a:bodyPr wrap="square" lIns="0" tIns="0" rIns="0" bIns="0" rtlCol="0" anchor="ctr"/>
          <a:lstStyle/>
          <a:p>
            <a:pPr indent="0" marL="0">
              <a:buNone/>
            </a:pPr>
            <a:r>
              <a:rPr lang="en-US" sz="1450" b="1" dirty="0">
                <a:solidFill>
                  <a:srgbClr val="8C2A2A"/>
                </a:solidFill>
                <a:latin typeface="Times New Roman" pitchFamily="34" charset="0"/>
                <a:ea typeface="Times New Roman" pitchFamily="34" charset="-122"/>
                <a:cs typeface="Times New Roman" pitchFamily="34" charset="-120"/>
              </a:rPr>
              <a:t>3.</a:t>
            </a:r>
            <a:endParaRPr lang="en-US" sz="1450" dirty="0"/>
          </a:p>
        </p:txBody>
      </p:sp>
      <p:sp>
        <p:nvSpPr>
          <p:cNvPr id="13" name="Text 11"/>
          <p:cNvSpPr/>
          <p:nvPr/>
        </p:nvSpPr>
        <p:spPr>
          <a:xfrm>
            <a:off x="1188720" y="3246120"/>
            <a:ext cx="5943600" cy="640080"/>
          </a:xfrm>
          <a:prstGeom prst="rect">
            <a:avLst/>
          </a:prstGeom>
          <a:noFill/>
          <a:ln/>
        </p:spPr>
        <p:txBody>
          <a:bodyPr wrap="square" lIns="0" tIns="0" rIns="0" bIns="0" rtlCol="0" anchor="ctr"/>
          <a:lstStyle/>
          <a:p>
            <a:pPr algn="just" indent="0" marL="0">
              <a:lnSpc>
                <a:spcPts val="1900"/>
              </a:lnSpc>
              <a:buNone/>
            </a:pPr>
            <a:r>
              <a:rPr lang="en-US" sz="1350" b="1" dirty="0">
                <a:solidFill>
                  <a:srgbClr val="8C2A2A"/>
                </a:solidFill>
                <a:latin typeface="Times New Roman" pitchFamily="34" charset="0"/>
                <a:ea typeface="Times New Roman" pitchFamily="34" charset="-122"/>
                <a:cs typeface="Times New Roman" pitchFamily="34" charset="-120"/>
              </a:rPr>
              <a:t>Ακύρωση TLB (shootdown).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IPI προς κάθε πυρήνα με πιθανή cached μετάφραση — συνήθως το κυρίαρχο κόστος.</a:t>
            </a:r>
            <a:endParaRPr lang="en-US" sz="1350" dirty="0"/>
          </a:p>
        </p:txBody>
      </p:sp>
      <p:sp>
        <p:nvSpPr>
          <p:cNvPr id="14" name="Text 12"/>
          <p:cNvSpPr/>
          <p:nvPr/>
        </p:nvSpPr>
        <p:spPr>
          <a:xfrm>
            <a:off x="777240" y="3977640"/>
            <a:ext cx="365760" cy="548640"/>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4.</a:t>
            </a:r>
            <a:endParaRPr lang="en-US" sz="1450" dirty="0"/>
          </a:p>
        </p:txBody>
      </p:sp>
      <p:sp>
        <p:nvSpPr>
          <p:cNvPr id="15" name="Text 13"/>
          <p:cNvSpPr/>
          <p:nvPr/>
        </p:nvSpPr>
        <p:spPr>
          <a:xfrm>
            <a:off x="1188720" y="3977640"/>
            <a:ext cx="5943600" cy="640080"/>
          </a:xfrm>
          <a:prstGeom prst="rect">
            <a:avLst/>
          </a:prstGeom>
          <a:noFill/>
          <a:ln/>
        </p:spPr>
        <p:txBody>
          <a:bodyPr wrap="square" lIns="0" tIns="0" rIns="0" bIns="0" rtlCol="0" anchor="ctr"/>
          <a:lstStyle/>
          <a:p>
            <a:pPr algn="just" indent="0" marL="0">
              <a:lnSpc>
                <a:spcPts val="1900"/>
              </a:lnSpc>
              <a:buNone/>
            </a:pPr>
            <a:r>
              <a:rPr lang="en-US" sz="1350" b="1" dirty="0">
                <a:solidFill>
                  <a:srgbClr val="1A1A1A"/>
                </a:solidFill>
                <a:latin typeface="Times New Roman" pitchFamily="34" charset="0"/>
                <a:ea typeface="Times New Roman" pitchFamily="34" charset="-122"/>
                <a:cs typeface="Times New Roman" pitchFamily="34" charset="-120"/>
              </a:rPr>
              <a:t>Ανταγωνισμός κλειδωμάτων. </a:t>
            </a:r>
            <a:pPr algn="just"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mmap_lock, LRU locks· δεν παραλληλοποιείται καλά.</a:t>
            </a:r>
            <a:endParaRPr lang="en-US" sz="1350" dirty="0"/>
          </a:p>
        </p:txBody>
      </p:sp>
      <p:sp>
        <p:nvSpPr>
          <p:cNvPr id="16" name="Shape 14"/>
          <p:cNvSpPr/>
          <p:nvPr/>
        </p:nvSpPr>
        <p:spPr>
          <a:xfrm>
            <a:off x="7360920" y="1783080"/>
            <a:ext cx="4050792" cy="2880360"/>
          </a:xfrm>
          <a:prstGeom prst="rect">
            <a:avLst/>
          </a:prstGeom>
          <a:solidFill>
            <a:srgbClr val="F0F0EE"/>
          </a:solidFill>
          <a:ln/>
        </p:spPr>
      </p:sp>
      <p:sp>
        <p:nvSpPr>
          <p:cNvPr id="17" name="Text 15"/>
          <p:cNvSpPr/>
          <p:nvPr/>
        </p:nvSpPr>
        <p:spPr>
          <a:xfrm>
            <a:off x="7543800" y="1892808"/>
            <a:ext cx="368503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Τάξη μεγέθους</a:t>
            </a:r>
            <a:endParaRPr lang="en-US" sz="1450" dirty="0"/>
          </a:p>
        </p:txBody>
      </p:sp>
      <p:sp>
        <p:nvSpPr>
          <p:cNvPr id="18" name="Text 16"/>
          <p:cNvSpPr/>
          <p:nvPr/>
        </p:nvSpPr>
        <p:spPr>
          <a:xfrm>
            <a:off x="7543800" y="2221992"/>
            <a:ext cx="3685032" cy="233172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Μια μετανάστευση σελίδας κοστίζει της τάξης των μικροδευτερολέπτων (μs) — χιλιάδες φορές περισσότερο από τα ~250 ns που προσπαθούμε να αποφύγουμε ανά προσπέλαση.</a:t>
            </a:r>
            <a:endParaRPr lang="en-US" sz="1350" dirty="0"/>
          </a:p>
          <a:p>
            <a:pPr indent="0" marL="0">
              <a:lnSpc>
                <a:spcPts val="1900"/>
              </a:lnSpc>
              <a:buNone/>
            </a:pPr>
            <a:endParaRPr lang="en-US" sz="1350" dirty="0"/>
          </a:p>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Συνέπεια: μια σελίδα πρέπει να ξαναπροσπελαστεί πολλές φορές για να αποσβέσει τη μεταφορά της. Γι’ αυτό μια λανθασμένη προαγωγή δεν είναι απλώς άχρηστη — είναι ενεργά επιζήμια.</a:t>
            </a:r>
            <a:endParaRPr lang="en-US" sz="1350" dirty="0"/>
          </a:p>
        </p:txBody>
      </p:sp>
      <p:sp>
        <p:nvSpPr>
          <p:cNvPr id="19" name="Text 17"/>
          <p:cNvSpPr/>
          <p:nvPr/>
        </p:nvSpPr>
        <p:spPr>
          <a:xfrm>
            <a:off x="777240" y="4892040"/>
            <a:ext cx="10634472" cy="777240"/>
          </a:xfrm>
          <a:prstGeom prst="rect">
            <a:avLst/>
          </a:prstGeom>
          <a:noFill/>
          <a:ln/>
        </p:spPr>
        <p:txBody>
          <a:bodyPr wrap="square" lIns="0" tIns="0" rIns="0" bIns="0" rtlCol="0" anchor="ctr"/>
          <a:lstStyle/>
          <a:p>
            <a:pPr algn="just" indent="0" marL="0">
              <a:lnSpc>
                <a:spcPts val="2100"/>
              </a:lnSpc>
              <a:buNone/>
            </a:pPr>
            <a:r>
              <a:rPr lang="en-US" sz="1450" i="1" dirty="0">
                <a:solidFill>
                  <a:srgbClr val="6E6E6E"/>
                </a:solidFill>
                <a:latin typeface="Times New Roman" pitchFamily="34" charset="0"/>
                <a:ea typeface="Times New Roman" pitchFamily="34" charset="-122"/>
                <a:cs typeface="Times New Roman" pitchFamily="34" charset="-120"/>
              </a:rPr>
              <a:t>Το κόστος αυτό είναι που επιβάλλει ποσόστωση (quota) στο εύρος ζώνης μετανάστευσης και υστέρηση (hysteresis) στις αποφάσεις — ώστε ο μηχανισμός να μην καταναλώνει τους πόρους που υποτίθεται ότι σώζει.</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§4.1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Τρεις εργασίες, τρεις διαγνώσεις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Σχετική βιβλιογραφία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8 / 14</a:t>
            </a:r>
            <a:endParaRPr lang="en-US" sz="950" dirty="0"/>
          </a:p>
        </p:txBody>
      </p:sp>
      <p:sp>
        <p:nvSpPr>
          <p:cNvPr id="7" name="Text 5"/>
          <p:cNvSpPr/>
          <p:nvPr/>
        </p:nvSpPr>
        <p:spPr>
          <a:xfrm>
            <a:off x="777240" y="128016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3: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οι τρεις εργασίες αναφοράς εντοπίζουν διαφορετική ρίζα του ίδιου προβλήματος.</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77240" y="1600200"/>
          <a:ext cx="10725912" cy="914400"/>
        </p:xfrm>
        <a:graphic>
          <a:graphicData uri="http://schemas.openxmlformats.org/drawingml/2006/table">
            <a:tbl>
              <a:tblPr/>
              <a:tblGrid>
                <a:gridCol w="1783080"/>
                <a:gridCol w="3703320"/>
                <a:gridCol w="3566160"/>
                <a:gridCol w="1673352"/>
              </a:tblGrid>
              <a:tr h="38404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Εργασία</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Διάγνωση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Λύση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Κοκκομέτρηση</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NeoMem</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(MICRO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profiling είναι αργό και χονδροειδές — διορθώνοντάς το, οι σελίδες 4 KB αρκούν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Count-min sketch μέσα στον ελεγκτή CXL και δυναμικό κατώφλι θερμότητας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4 KB</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F3A63"/>
                          </a:solidFill>
                          <a:latin typeface="Times New Roman" pitchFamily="34" charset="0"/>
                          <a:ea typeface="Times New Roman" pitchFamily="34" charset="-122"/>
                          <a:cs typeface="Times New Roman" pitchFamily="34" charset="-120"/>
                        </a:rPr>
                        <a:t>M5</a:t>
                      </a:r>
                      <a:endParaRPr lang="en-US" sz="1350" dirty="0">
                        <a:latin typeface="Times New Roman" charset="0"/>
                        <a:ea typeface="Times New Roman" charset="0"/>
                        <a:cs typeface="Times New Roman" charset="0"/>
                      </a:endParaRPr>
                    </a:p>
                    <a:p>
                      <a:pPr indent="0" marL="0">
                        <a:buNone/>
                      </a:pPr>
                      <a:r>
                        <a:rPr lang="en-US" sz="1350" b="1" dirty="0">
                          <a:solidFill>
                            <a:srgbClr val="1F3A63"/>
                          </a:solidFill>
                          <a:latin typeface="Times New Roman" pitchFamily="34" charset="0"/>
                          <a:ea typeface="Times New Roman" pitchFamily="34" charset="-122"/>
                          <a:cs typeface="Times New Roman" pitchFamily="34" charset="-120"/>
                        </a:rPr>
                        <a:t>(ASPLOS ’25)</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Η θερμότητα είναι υπο-σελιδική — το πλήθος προσπελάσεων ανά σελίδα παραπλανά</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F3A63"/>
                          </a:solidFill>
                          <a:latin typeface="Times New Roman" pitchFamily="34" charset="0"/>
                          <a:ea typeface="Times New Roman" pitchFamily="34" charset="-122"/>
                          <a:cs typeface="Times New Roman" pitchFamily="34" charset="-120"/>
                        </a:rPr>
                        <a:t>Top-K trackers για σελίδες (HPT) και για λέξεις 64 B (HWT)</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1F3A63"/>
                          </a:solidFill>
                          <a:latin typeface="Courier New" pitchFamily="34" charset="0"/>
                          <a:ea typeface="Courier New" pitchFamily="34" charset="-122"/>
                          <a:cs typeface="Courier New" pitchFamily="34" charset="-120"/>
                        </a:rPr>
                        <a:t>profiling 64 B</a:t>
                      </a:r>
                      <a:endParaRPr lang="en-US" sz="1050" dirty="0">
                        <a:latin typeface="Courier New" charset="0"/>
                        <a:ea typeface="Courier New" charset="0"/>
                        <a:cs typeface="Courier New" charset="0"/>
                      </a:endParaRPr>
                    </a:p>
                    <a:p>
                      <a:pPr indent="0" marL="0">
                        <a:buNone/>
                      </a:pPr>
                      <a:r>
                        <a:rPr lang="en-US" sz="1050" b="1" dirty="0">
                          <a:solidFill>
                            <a:srgbClr val="1F3A63"/>
                          </a:solidFill>
                          <a:latin typeface="Courier New" pitchFamily="34" charset="0"/>
                          <a:ea typeface="Courier New" pitchFamily="34" charset="-122"/>
                          <a:cs typeface="Courier New" pitchFamily="34" charset="-120"/>
                        </a:rPr>
                        <a:t>migration 4 KB</a:t>
                      </a:r>
                      <a:endParaRPr lang="en-US" sz="105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749808">
                <a:tc>
                  <a:txBody>
                    <a:bodyPr/>
                    <a:lstStyle/>
                    <a:p>
                      <a:pPr indent="0" marL="0">
                        <a:buNone/>
                      </a:pPr>
                      <a:r>
                        <a:rPr lang="en-US" sz="1350" b="1" dirty="0">
                          <a:solidFill>
                            <a:srgbClr val="1A1A1A"/>
                          </a:solidFill>
                          <a:latin typeface="Times New Roman" pitchFamily="34" charset="0"/>
                          <a:ea typeface="Times New Roman" pitchFamily="34" charset="-122"/>
                          <a:cs typeface="Times New Roman" pitchFamily="34" charset="-120"/>
                        </a:rPr>
                        <a:t>Memstrata</a:t>
                      </a:r>
                      <a:endParaRPr lang="en-US" sz="1350" dirty="0">
                        <a:latin typeface="Times New Roman" charset="0"/>
                        <a:ea typeface="Times New Roman" charset="0"/>
                        <a:cs typeface="Times New Roman" charset="0"/>
                      </a:endParaRPr>
                    </a:p>
                    <a:p>
                      <a:pPr indent="0" marL="0">
                        <a:buNone/>
                      </a:pPr>
                      <a:r>
                        <a:rPr lang="en-US" sz="1350" b="1" dirty="0">
                          <a:solidFill>
                            <a:srgbClr val="1A1A1A"/>
                          </a:solidFill>
                          <a:latin typeface="Times New Roman" pitchFamily="34" charset="0"/>
                          <a:ea typeface="Times New Roman" pitchFamily="34" charset="-122"/>
                          <a:cs typeface="Times New Roman" pitchFamily="34" charset="-120"/>
                        </a:rPr>
                        <a:t>(OSDI ’24)</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Το tiering σε υλικό λειτουργεί — έως ότου συνυπάρξουν πολλές VM και συγκρουστούν</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50" dirty="0">
                          <a:solidFill>
                            <a:srgbClr val="1A1A1A"/>
                          </a:solidFill>
                          <a:latin typeface="Times New Roman" pitchFamily="34" charset="0"/>
                          <a:ea typeface="Times New Roman" pitchFamily="34" charset="-122"/>
                          <a:cs typeface="Times New Roman" pitchFamily="34" charset="-120"/>
                        </a:rPr>
                        <a:t>Χρωματισμός σελίδων και online εκτιμητής επιβράδυνσης</a:t>
                      </a:r>
                      <a:endParaRPr lang="en-US" sz="135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64 B (υλικό)</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600200"/>
            <a:ext cx="10725912" cy="20117"/>
          </a:xfrm>
          <a:prstGeom prst="rect">
            <a:avLst/>
          </a:prstGeom>
          <a:solidFill>
            <a:srgbClr val="1A1A1A"/>
          </a:solidFill>
          <a:ln/>
        </p:spPr>
      </p:sp>
      <p:sp>
        <p:nvSpPr>
          <p:cNvPr id="10" name="Shape 7"/>
          <p:cNvSpPr/>
          <p:nvPr/>
        </p:nvSpPr>
        <p:spPr>
          <a:xfrm>
            <a:off x="777240" y="1984248"/>
            <a:ext cx="10725912" cy="9144"/>
          </a:xfrm>
          <a:prstGeom prst="rect">
            <a:avLst/>
          </a:prstGeom>
          <a:solidFill>
            <a:srgbClr val="BFBFBF"/>
          </a:solidFill>
          <a:ln/>
        </p:spPr>
      </p:sp>
      <p:sp>
        <p:nvSpPr>
          <p:cNvPr id="11" name="Shape 8"/>
          <p:cNvSpPr/>
          <p:nvPr/>
        </p:nvSpPr>
        <p:spPr>
          <a:xfrm>
            <a:off x="777240" y="4233672"/>
            <a:ext cx="10725912" cy="20117"/>
          </a:xfrm>
          <a:prstGeom prst="rect">
            <a:avLst/>
          </a:prstGeom>
          <a:solidFill>
            <a:srgbClr val="1A1A1A"/>
          </a:solidFill>
          <a:ln/>
        </p:spPr>
      </p:sp>
      <p:sp>
        <p:nvSpPr>
          <p:cNvPr id="12" name="Text 9"/>
          <p:cNvSpPr/>
          <p:nvPr/>
        </p:nvSpPr>
        <p:spPr>
          <a:xfrm>
            <a:off x="777240" y="5029200"/>
            <a:ext cx="10634472" cy="1005840"/>
          </a:xfrm>
          <a:prstGeom prst="rect">
            <a:avLst/>
          </a:prstGeom>
          <a:noFill/>
          <a:ln/>
        </p:spPr>
        <p:txBody>
          <a:bodyPr wrap="square" lIns="0" tIns="0" rIns="0" bIns="0" rtlCol="0" anchor="ctr"/>
          <a:lstStyle/>
          <a:p>
            <a:pPr algn="just" indent="0" marL="0">
              <a:lnSpc>
                <a:spcPts val="2200"/>
              </a:lnSpc>
              <a:buNone/>
            </a:pPr>
            <a:r>
              <a:rPr lang="en-US" sz="1500" b="1" dirty="0">
                <a:solidFill>
                  <a:srgbClr val="1A1A1A"/>
                </a:solidFill>
                <a:latin typeface="Times New Roman" pitchFamily="34" charset="0"/>
                <a:ea typeface="Times New Roman" pitchFamily="34" charset="-122"/>
                <a:cs typeface="Times New Roman" pitchFamily="34" charset="-120"/>
              </a:rPr>
              <a:t>Οι τρεις διαγνώσεις διαφωνούν, και αυτό είναι διαφωτιστικό: </a:t>
            </a:r>
            <a:pPr algn="just" indent="0" marL="0">
              <a:lnSpc>
                <a:spcPts val="2200"/>
              </a:lnSpc>
              <a:buNone/>
            </a:pPr>
            <a:r>
              <a:rPr lang="en-US" sz="1500" dirty="0">
                <a:solidFill>
                  <a:srgbClr val="1A1A1A"/>
                </a:solidFill>
                <a:latin typeface="Times New Roman" pitchFamily="34" charset="0"/>
                <a:ea typeface="Times New Roman" pitchFamily="34" charset="-122"/>
                <a:cs typeface="Times New Roman" pitchFamily="34" charset="-120"/>
              </a:rPr>
              <a:t>το NeoMem εντοπίζει έλλειψη ανάλυσης στον χρόνο, το M5 έλλειψη ανάλυσης στον χώρο, ενώ το Memstrata δείχνει ότι το πρόβλημα εκδηλώνεται μόνο υπό συστέγαση πολλών φόρτων. Η εργασία εστιάζει στο M5, ως το πλησιέστερο στην υπόθεση της υπο-σελιδικής θερμότητας.</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§4.2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Ο έντιμος συμβιβασμός: σελίδες ή γραμμές;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4. Σχετική βιβλιογραφία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9 / 14</a:t>
            </a:r>
            <a:endParaRPr lang="en-US" sz="950" dirty="0"/>
          </a:p>
        </p:txBody>
      </p:sp>
      <p:sp>
        <p:nvSpPr>
          <p:cNvPr id="7" name="Text 5"/>
          <p:cNvSpPr/>
          <p:nvPr/>
        </p:nvSpPr>
        <p:spPr>
          <a:xfrm>
            <a:off x="777240" y="1234440"/>
            <a:ext cx="10634472" cy="292608"/>
          </a:xfrm>
          <a:prstGeom prst="rect">
            <a:avLst/>
          </a:prstGeom>
          <a:noFill/>
          <a:ln/>
        </p:spPr>
        <p:txBody>
          <a:bodyPr wrap="square" lIns="0" tIns="0" rIns="0" bIns="0" rtlCol="0" anchor="ctr"/>
          <a:lstStyle/>
          <a:p>
            <a:pPr algn="l" indent="0" marL="0">
              <a:buNone/>
            </a:pPr>
            <a:r>
              <a:rPr lang="en-US" sz="1100" b="1" i="1" dirty="0">
                <a:solidFill>
                  <a:srgbClr val="6E6E6E"/>
                </a:solidFill>
                <a:latin typeface="Times New Roman" pitchFamily="34" charset="0"/>
                <a:ea typeface="Times New Roman" pitchFamily="34" charset="-122"/>
                <a:cs typeface="Times New Roman" pitchFamily="34" charset="-120"/>
              </a:rPr>
              <a:t>Πίνακας 4: </a:t>
            </a:r>
            <a:pPr algn="l" indent="0" marL="0">
              <a:buNone/>
            </a:pPr>
            <a:r>
              <a:rPr lang="en-US" sz="1100" i="1" dirty="0">
                <a:solidFill>
                  <a:srgbClr val="6E6E6E"/>
                </a:solidFill>
                <a:latin typeface="Times New Roman" pitchFamily="34" charset="0"/>
                <a:ea typeface="Times New Roman" pitchFamily="34" charset="-122"/>
                <a:cs typeface="Times New Roman" pitchFamily="34" charset="-120"/>
              </a:rPr>
              <a:t>σύγκριση μετανάστευσης σελίδων (λογισμικό) και caching γραμμών (υλικό).</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77240" y="1536192"/>
          <a:ext cx="10634472" cy="914400"/>
        </p:xfrm>
        <a:graphic>
          <a:graphicData uri="http://schemas.openxmlformats.org/drawingml/2006/table">
            <a:tbl>
              <a:tblPr/>
              <a:tblGrid>
                <a:gridCol w="3657600"/>
                <a:gridCol w="3474720"/>
                <a:gridCol w="3502152"/>
              </a:tblGrid>
              <a:tr h="384048">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Ιδιότητα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Μετανάστευση σελίδων (OS)</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b="1" dirty="0">
                          <a:solidFill>
                            <a:srgbClr val="1A1A1A"/>
                          </a:solidFill>
                          <a:latin typeface="Times New Roman" pitchFamily="34" charset="0"/>
                          <a:ea typeface="Times New Roman" pitchFamily="34" charset="-122"/>
                          <a:cs typeface="Times New Roman" pitchFamily="34" charset="-120"/>
                        </a:rPr>
                        <a:t>Caching γραμμών (υλικό)</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Μονάδα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4 KB / 2 MB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64 B</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Ποιος αποφασίζει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OS, με παρωχημένη πληροφορία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Υλικό, αντιδραστικά</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Χαμένη μεταφορά</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Υψηλή</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Σχεδόν μηδενική</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Σταθερό κόστος ανά κίνηση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μs (TLB shootdown)</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200" dirty="0">
                          <a:solidFill>
                            <a:srgbClr val="1A1A1A"/>
                          </a:solidFill>
                          <a:latin typeface="Courier New" pitchFamily="34" charset="0"/>
                          <a:ea typeface="Courier New" pitchFamily="34" charset="-122"/>
                          <a:cs typeface="Courier New" pitchFamily="34" charset="-120"/>
                        </a:rPr>
                        <a:t>ns</a:t>
                      </a:r>
                      <a:endParaRPr lang="en-US" sz="1200" dirty="0">
                        <a:latin typeface="Courier New" charset="0"/>
                        <a:ea typeface="Courier New" charset="0"/>
                        <a:cs typeface="Courier New"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Μεταδεδομένα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Πίνακες σελίδων (ήδη υπάρχουν)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Πίνακας ετικετών — τεράστιος</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Χωρητικότητα</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100% αξιοποιήσιμη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Γρήγορη βαθμίδα → κρυφή μνήμη</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Αστοχίες σύγκρουσης</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Δεν υφίστανται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 — και μεταξύ ενοίκων</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r h="365760">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Νέο υλικό</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Όχι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A1A1A"/>
                          </a:solidFill>
                          <a:latin typeface="Times New Roman" pitchFamily="34" charset="0"/>
                          <a:ea typeface="Times New Roman" pitchFamily="34" charset="-122"/>
                          <a:cs typeface="Times New Roman" pitchFamily="34" charset="-120"/>
                        </a:rPr>
                        <a:t>Ναι</a:t>
                      </a:r>
                      <a:endParaRPr lang="en-US" sz="1300" dirty="0">
                        <a:latin typeface="Times New Roman" charset="0"/>
                        <a:ea typeface="Times New Roman" charset="0"/>
                        <a:cs typeface="Times New Roman" charset="0"/>
                      </a:endParaRPr>
                    </a:p>
                  </a:txBody>
                  <a:tcPr marL="91440" marR="91440" marT="45720" marB="4572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9" name="Shape 6"/>
          <p:cNvSpPr/>
          <p:nvPr/>
        </p:nvSpPr>
        <p:spPr>
          <a:xfrm>
            <a:off x="777240" y="1536192"/>
            <a:ext cx="10634472" cy="20117"/>
          </a:xfrm>
          <a:prstGeom prst="rect">
            <a:avLst/>
          </a:prstGeom>
          <a:solidFill>
            <a:srgbClr val="1A1A1A"/>
          </a:solidFill>
          <a:ln/>
        </p:spPr>
      </p:sp>
      <p:sp>
        <p:nvSpPr>
          <p:cNvPr id="10" name="Shape 7"/>
          <p:cNvSpPr/>
          <p:nvPr/>
        </p:nvSpPr>
        <p:spPr>
          <a:xfrm>
            <a:off x="777240" y="1920240"/>
            <a:ext cx="10634472" cy="9144"/>
          </a:xfrm>
          <a:prstGeom prst="rect">
            <a:avLst/>
          </a:prstGeom>
          <a:solidFill>
            <a:srgbClr val="BFBFBF"/>
          </a:solidFill>
          <a:ln/>
        </p:spPr>
      </p:sp>
      <p:sp>
        <p:nvSpPr>
          <p:cNvPr id="11" name="Shape 8"/>
          <p:cNvSpPr/>
          <p:nvPr/>
        </p:nvSpPr>
        <p:spPr>
          <a:xfrm>
            <a:off x="777240" y="4846320"/>
            <a:ext cx="10634472" cy="20117"/>
          </a:xfrm>
          <a:prstGeom prst="rect">
            <a:avLst/>
          </a:prstGeom>
          <a:solidFill>
            <a:srgbClr val="1A1A1A"/>
          </a:solidFill>
          <a:ln/>
        </p:spPr>
      </p:sp>
      <p:sp>
        <p:nvSpPr>
          <p:cNvPr id="12" name="Text 9"/>
          <p:cNvSpPr/>
          <p:nvPr/>
        </p:nvSpPr>
        <p:spPr>
          <a:xfrm>
            <a:off x="777240" y="5212080"/>
            <a:ext cx="10634472" cy="914400"/>
          </a:xfrm>
          <a:prstGeom prst="rect">
            <a:avLst/>
          </a:prstGeom>
          <a:noFill/>
          <a:ln/>
        </p:spPr>
        <p:txBody>
          <a:bodyPr wrap="square" lIns="0" tIns="0" rIns="0" bIns="0" rtlCol="0" anchor="ctr"/>
          <a:lstStyle/>
          <a:p>
            <a:pPr algn="just" indent="0" marL="0">
              <a:lnSpc>
                <a:spcPts val="2100"/>
              </a:lnSpc>
              <a:buNone/>
            </a:pPr>
            <a:r>
              <a:rPr lang="en-US" sz="1450" b="1" dirty="0">
                <a:solidFill>
                  <a:srgbClr val="8C2A2A"/>
                </a:solidFill>
                <a:latin typeface="Times New Roman" pitchFamily="34" charset="0"/>
                <a:ea typeface="Times New Roman" pitchFamily="34" charset="-122"/>
                <a:cs typeface="Times New Roman" pitchFamily="34" charset="-120"/>
              </a:rPr>
              <a:t>Συμπέρασμα: </a:t>
            </a:r>
            <a:pPr algn="just" indent="0" marL="0">
              <a:lnSpc>
                <a:spcPts val="2100"/>
              </a:lnSpc>
              <a:buNone/>
            </a:pPr>
            <a:r>
              <a:rPr lang="en-US" sz="1450" dirty="0">
                <a:solidFill>
                  <a:srgbClr val="1A1A1A"/>
                </a:solidFill>
                <a:latin typeface="Times New Roman" pitchFamily="34" charset="0"/>
                <a:ea typeface="Times New Roman" pitchFamily="34" charset="-122"/>
                <a:cs typeface="Times New Roman" pitchFamily="34" charset="-120"/>
              </a:rPr>
              <a:t>η κοκκομέτρηση γραμμής εξαλείφει τη σπατάλη και το σταθερό κόστος, αλλά αγοράζει αστοχίες σύγκρουσης, αποθήκευση ετικετών και απώλεια της γρήγορης χωρητικότητας ως διευθυνσιοδοτήσιμης μνήμης. Δεν είναι καθαρή νίκη — γι’ αυτό και το πεδίο δεν έχει συγκλίνει.</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εργαλείο: CXLRAMSim</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10 / 14</a:t>
            </a:r>
            <a:endParaRPr lang="en-US" sz="950" dirty="0"/>
          </a:p>
        </p:txBody>
      </p:sp>
      <p:sp>
        <p:nvSpPr>
          <p:cNvPr id="7" name="Text 5"/>
          <p:cNvSpPr/>
          <p:nvPr/>
        </p:nvSpPr>
        <p:spPr>
          <a:xfrm>
            <a:off x="777240" y="1325880"/>
            <a:ext cx="10634472" cy="822960"/>
          </a:xfrm>
          <a:prstGeom prst="rect">
            <a:avLst/>
          </a:prstGeom>
          <a:noFill/>
          <a:ln/>
        </p:spPr>
        <p:txBody>
          <a:bodyPr wrap="square" lIns="0" tIns="0" rIns="0" bIns="0" rtlCol="0" anchor="ctr"/>
          <a:lstStyle/>
          <a:p>
            <a:pPr algn="just" indent="0" marL="0">
              <a:lnSpc>
                <a:spcPts val="2400"/>
              </a:lnSpc>
              <a:buNone/>
            </a:pPr>
            <a:r>
              <a:rPr lang="en-US" sz="1600" dirty="0">
                <a:solidFill>
                  <a:srgbClr val="1A1A1A"/>
                </a:solidFill>
                <a:latin typeface="Times New Roman" pitchFamily="34" charset="0"/>
                <a:ea typeface="Times New Roman" pitchFamily="34" charset="-122"/>
                <a:cs typeface="Times New Roman" pitchFamily="34" charset="-120"/>
              </a:rPr>
              <a:t>Ο CXLRAMSim είναι προσομοιωτής πλήρους συστήματος πάνω στο gem5 v25, με εκκίνηση Linux 6.14. Μοντελοποιεί τη συσκευή CXL στη σωστή θέση πάνω στον δίαυλο I/O, επιτρέποντας αναλλοίωτο πυρήνα, οδηγούς και στοίβα λογισμικού.</a:t>
            </a:r>
            <a:endParaRPr lang="en-US" sz="1600" dirty="0"/>
          </a:p>
        </p:txBody>
      </p:sp>
      <p:sp>
        <p:nvSpPr>
          <p:cNvPr id="8" name="Text 6"/>
          <p:cNvSpPr/>
          <p:nvPr/>
        </p:nvSpPr>
        <p:spPr>
          <a:xfrm>
            <a:off x="777240" y="2240280"/>
            <a:ext cx="10634472" cy="292608"/>
          </a:xfrm>
          <a:prstGeom prst="rect">
            <a:avLst/>
          </a:prstGeom>
          <a:noFill/>
          <a:ln/>
        </p:spPr>
        <p:txBody>
          <a:bodyPr wrap="square" lIns="0" tIns="0" rIns="0" bIns="0" rtlCol="0" anchor="ctr"/>
          <a:lstStyle/>
          <a:p>
            <a:pPr indent="0" marL="0">
              <a:buNone/>
            </a:pPr>
            <a:r>
              <a:rPr lang="en-US" sz="1450" b="1" dirty="0">
                <a:solidFill>
                  <a:srgbClr val="1A1A1A"/>
                </a:solidFill>
                <a:latin typeface="Times New Roman" pitchFamily="34" charset="0"/>
                <a:ea typeface="Times New Roman" pitchFamily="34" charset="-122"/>
                <a:cs typeface="Times New Roman" pitchFamily="34" charset="-120"/>
              </a:rPr>
              <a:t>Βασικά δομικά στοιχεία που μοντελοποιεί:</a:t>
            </a:r>
            <a:endParaRPr lang="en-US" sz="1450" dirty="0"/>
          </a:p>
        </p:txBody>
      </p:sp>
      <p:sp>
        <p:nvSpPr>
          <p:cNvPr id="9" name="Text 7"/>
          <p:cNvSpPr/>
          <p:nvPr/>
        </p:nvSpPr>
        <p:spPr>
          <a:xfrm>
            <a:off x="868680" y="2578608"/>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0" name="Text 8"/>
          <p:cNvSpPr/>
          <p:nvPr/>
        </p:nvSpPr>
        <p:spPr>
          <a:xfrm>
            <a:off x="1188720" y="2578608"/>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Firmware. </a:t>
            </a:r>
            <a:pPr indent="0" marL="0">
              <a:buNone/>
            </a:pPr>
            <a:r>
              <a:rPr lang="en-US" sz="1400" dirty="0">
                <a:solidFill>
                  <a:srgbClr val="1A1A1A"/>
                </a:solidFill>
                <a:latin typeface="Times New Roman" pitchFamily="34" charset="0"/>
                <a:ea typeface="Times New Roman" pitchFamily="34" charset="-122"/>
                <a:cs typeface="Times New Roman" pitchFamily="34" charset="-120"/>
              </a:rPr>
              <a:t>πίνακες ACPI (MCFG, DSDT, CEDT, SRAT) για ανακάλυψη της τοπολογίας.</a:t>
            </a:r>
            <a:endParaRPr lang="en-US" sz="1400" dirty="0"/>
          </a:p>
        </p:txBody>
      </p:sp>
      <p:sp>
        <p:nvSpPr>
          <p:cNvPr id="11" name="Text 9"/>
          <p:cNvSpPr/>
          <p:nvPr/>
        </p:nvSpPr>
        <p:spPr>
          <a:xfrm>
            <a:off x="868680" y="2962656"/>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2" name="Text 10"/>
          <p:cNvSpPr/>
          <p:nvPr/>
        </p:nvSpPr>
        <p:spPr>
          <a:xfrm>
            <a:off x="1188720" y="2962656"/>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CXL.io. </a:t>
            </a:r>
            <a:pPr indent="0" marL="0">
              <a:buNone/>
            </a:pPr>
            <a:r>
              <a:rPr lang="en-US" sz="1400" dirty="0">
                <a:solidFill>
                  <a:srgbClr val="1A1A1A"/>
                </a:solidFill>
                <a:latin typeface="Times New Roman" pitchFamily="34" charset="0"/>
                <a:ea typeface="Times New Roman" pitchFamily="34" charset="-122"/>
                <a:cs typeface="Times New Roman" pitchFamily="34" charset="-120"/>
              </a:rPr>
              <a:t>Root Complex και σύνολα καταχωρητών για απαρίθμηση της συσκευής.</a:t>
            </a:r>
            <a:endParaRPr lang="en-US" sz="1400" dirty="0"/>
          </a:p>
        </p:txBody>
      </p:sp>
      <p:sp>
        <p:nvSpPr>
          <p:cNvPr id="13" name="Text 11"/>
          <p:cNvSpPr/>
          <p:nvPr/>
        </p:nvSpPr>
        <p:spPr>
          <a:xfrm>
            <a:off x="868680" y="3346704"/>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4" name="Text 12"/>
          <p:cNvSpPr/>
          <p:nvPr/>
        </p:nvSpPr>
        <p:spPr>
          <a:xfrm>
            <a:off x="1188720" y="3346704"/>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CXL.mem. </a:t>
            </a:r>
            <a:pPr indent="0" marL="0">
              <a:buNone/>
            </a:pPr>
            <a:r>
              <a:rPr lang="en-US" sz="1400" dirty="0">
                <a:solidFill>
                  <a:srgbClr val="1A1A1A"/>
                </a:solidFill>
                <a:latin typeface="Times New Roman" pitchFamily="34" charset="0"/>
                <a:ea typeface="Times New Roman" pitchFamily="34" charset="-122"/>
                <a:cs typeface="Times New Roman" pitchFamily="34" charset="-120"/>
              </a:rPr>
              <a:t>επίπεδο συναλλαγών με κανάλια M2S / S2M και πακετοποίηση στα άκρα.</a:t>
            </a:r>
            <a:endParaRPr lang="en-US" sz="1400" dirty="0"/>
          </a:p>
        </p:txBody>
      </p:sp>
      <p:sp>
        <p:nvSpPr>
          <p:cNvPr id="15" name="Text 13"/>
          <p:cNvSpPr/>
          <p:nvPr/>
        </p:nvSpPr>
        <p:spPr>
          <a:xfrm>
            <a:off x="868680" y="3730752"/>
            <a:ext cx="274320" cy="292608"/>
          </a:xfrm>
          <a:prstGeom prst="rect">
            <a:avLst/>
          </a:prstGeom>
          <a:noFill/>
          <a:ln/>
        </p:spPr>
        <p:txBody>
          <a:bodyPr wrap="square" lIns="0" tIns="0" rIns="0" bIns="0" rtlCol="0" anchor="ctr"/>
          <a:lstStyle/>
          <a:p>
            <a:pPr indent="0" marL="0">
              <a:buNone/>
            </a:pPr>
            <a:r>
              <a:rPr lang="en-US" sz="1450" dirty="0">
                <a:solidFill>
                  <a:srgbClr val="1F3A63"/>
                </a:solidFill>
                <a:latin typeface="Times New Roman" pitchFamily="34" charset="0"/>
                <a:ea typeface="Times New Roman" pitchFamily="34" charset="-122"/>
                <a:cs typeface="Times New Roman" pitchFamily="34" charset="-120"/>
              </a:rPr>
              <a:t>–</a:t>
            </a:r>
            <a:endParaRPr lang="en-US" sz="1450" dirty="0"/>
          </a:p>
        </p:txBody>
      </p:sp>
      <p:sp>
        <p:nvSpPr>
          <p:cNvPr id="16" name="Text 14"/>
          <p:cNvSpPr/>
          <p:nvPr/>
        </p:nvSpPr>
        <p:spPr>
          <a:xfrm>
            <a:off x="1188720" y="3730752"/>
            <a:ext cx="10222992" cy="310896"/>
          </a:xfrm>
          <a:prstGeom prst="rect">
            <a:avLst/>
          </a:prstGeom>
          <a:noFill/>
          <a:ln/>
        </p:spPr>
        <p:txBody>
          <a:bodyPr wrap="square" lIns="0" tIns="0" rIns="0" bIns="0" rtlCol="0" anchor="ctr"/>
          <a:lstStyle/>
          <a:p>
            <a:pPr indent="0" marL="0">
              <a:buNone/>
            </a:pPr>
            <a:r>
              <a:rPr lang="en-US" sz="1250" b="1" dirty="0">
                <a:solidFill>
                  <a:srgbClr val="1A1A1A"/>
                </a:solidFill>
                <a:latin typeface="Courier New" pitchFamily="34" charset="0"/>
                <a:ea typeface="Courier New" pitchFamily="34" charset="-122"/>
                <a:cs typeface="Courier New" pitchFamily="34" charset="-120"/>
              </a:rPr>
              <a:t>Συνοχή. </a:t>
            </a:r>
            <a:pPr indent="0" marL="0">
              <a:buNone/>
            </a:pPr>
            <a:r>
              <a:rPr lang="en-US" sz="1400" dirty="0">
                <a:solidFill>
                  <a:srgbClr val="1A1A1A"/>
                </a:solidFill>
                <a:latin typeface="Times New Roman" pitchFamily="34" charset="0"/>
                <a:ea typeface="Times New Roman" pitchFamily="34" charset="-122"/>
                <a:cs typeface="Times New Roman" pitchFamily="34" charset="-120"/>
              </a:rPr>
              <a:t>πρωτόκολλο MESI δύο επιπέδων με κατανεμημένο κατάλογο (Ruby).</a:t>
            </a:r>
            <a:endParaRPr lang="en-US" sz="1400" dirty="0"/>
          </a:p>
        </p:txBody>
      </p:sp>
      <p:sp>
        <p:nvSpPr>
          <p:cNvPr id="17" name="Shape 15"/>
          <p:cNvSpPr/>
          <p:nvPr/>
        </p:nvSpPr>
        <p:spPr>
          <a:xfrm>
            <a:off x="777240" y="4343400"/>
            <a:ext cx="10634472" cy="1600200"/>
          </a:xfrm>
          <a:prstGeom prst="rect">
            <a:avLst/>
          </a:prstGeom>
          <a:solidFill>
            <a:srgbClr val="F0F0EE"/>
          </a:solidFill>
          <a:ln/>
        </p:spPr>
      </p:sp>
      <p:sp>
        <p:nvSpPr>
          <p:cNvPr id="18" name="Text 16"/>
          <p:cNvSpPr/>
          <p:nvPr/>
        </p:nvSpPr>
        <p:spPr>
          <a:xfrm>
            <a:off x="960120" y="4453128"/>
            <a:ext cx="10268712" cy="292608"/>
          </a:xfrm>
          <a:prstGeom prst="rect">
            <a:avLst/>
          </a:prstGeom>
          <a:noFill/>
          <a:ln/>
        </p:spPr>
        <p:txBody>
          <a:bodyPr wrap="square" lIns="0" tIns="0" rIns="0" bIns="0" rtlCol="0" anchor="ctr"/>
          <a:lstStyle/>
          <a:p>
            <a:pPr indent="0" marL="0">
              <a:buNone/>
            </a:pPr>
            <a:r>
              <a:rPr lang="en-US" sz="1450" b="1" dirty="0">
                <a:solidFill>
                  <a:srgbClr val="1F3A63"/>
                </a:solidFill>
                <a:latin typeface="Times New Roman" pitchFamily="34" charset="0"/>
                <a:ea typeface="Times New Roman" pitchFamily="34" charset="-122"/>
                <a:cs typeface="Times New Roman" pitchFamily="34" charset="-120"/>
              </a:rPr>
              <a:t>Πού παρεμβάλλεται ο κώδικας της εργασίας</a:t>
            </a:r>
            <a:endParaRPr lang="en-US" sz="1450" dirty="0"/>
          </a:p>
        </p:txBody>
      </p:sp>
      <p:sp>
        <p:nvSpPr>
          <p:cNvPr id="19" name="Text 17"/>
          <p:cNvSpPr/>
          <p:nvPr/>
        </p:nvSpPr>
        <p:spPr>
          <a:xfrm>
            <a:off x="960120" y="4782312"/>
            <a:ext cx="10268712" cy="1051560"/>
          </a:xfrm>
          <a:prstGeom prst="rect">
            <a:avLst/>
          </a:prstGeom>
          <a:noFill/>
          <a:ln/>
        </p:spPr>
        <p:txBody>
          <a:bodyPr wrap="square" lIns="0" tIns="0" rIns="0" bIns="0" rtlCol="0" anchor="t"/>
          <a:lstStyle/>
          <a:p>
            <a:pPr indent="0" marL="0">
              <a:lnSpc>
                <a:spcPts val="1900"/>
              </a:lnSpc>
              <a:buNone/>
            </a:pPr>
            <a:r>
              <a:rPr lang="en-US" sz="1350" dirty="0">
                <a:solidFill>
                  <a:srgbClr val="1A1A1A"/>
                </a:solidFill>
                <a:latin typeface="Times New Roman" pitchFamily="34" charset="0"/>
                <a:ea typeface="Times New Roman" pitchFamily="34" charset="-122"/>
                <a:cs typeface="Times New Roman" pitchFamily="34" charset="-120"/>
              </a:rPr>
              <a:t>Στο σημείο όπου ο κόμβος CXL απο-πακετοποιεί ένα αίτημα M2S σε προσπέλαση της DRAM, διατίθεται η πλειάδα {φυσική διεύθυνση, ανάγνωση/εγγραφή, χρονική στιγμή}. Αυτή είναι ακριβώς η ροή αστοχιών LLC προς τη CXL την οποία κάνουν profiling τα NeoMem και M5· τίποτε άλλο δεν είναι ορατό από εκεί. Ο profiler υλοποιείται ως λήψη (tap) πάνω σε αυτό το μονοπάτι αιτημάτων.</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Σχέδιο πειράματος</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11 / 14</a:t>
            </a:r>
            <a:endParaRPr lang="en-US" sz="950" dirty="0"/>
          </a:p>
        </p:txBody>
      </p:sp>
      <p:sp>
        <p:nvSpPr>
          <p:cNvPr id="7" name="Text 5"/>
          <p:cNvSpPr/>
          <p:nvPr/>
        </p:nvSpPr>
        <p:spPr>
          <a:xfrm>
            <a:off x="777240" y="1298448"/>
            <a:ext cx="512064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Πέντε σκέλη σύγκρισης.</a:t>
            </a:r>
            <a:endParaRPr lang="en-US" sz="1500" dirty="0"/>
          </a:p>
        </p:txBody>
      </p:sp>
      <p:sp>
        <p:nvSpPr>
          <p:cNvPr id="8" name="Text 6"/>
          <p:cNvSpPr/>
          <p:nvPr/>
        </p:nvSpPr>
        <p:spPr>
          <a:xfrm>
            <a:off x="777240" y="1664208"/>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1.</a:t>
            </a:r>
            <a:endParaRPr lang="en-US" sz="1400" dirty="0"/>
          </a:p>
        </p:txBody>
      </p:sp>
      <p:sp>
        <p:nvSpPr>
          <p:cNvPr id="9" name="Text 7"/>
          <p:cNvSpPr/>
          <p:nvPr/>
        </p:nvSpPr>
        <p:spPr>
          <a:xfrm>
            <a:off x="1143000" y="1664208"/>
            <a:ext cx="493776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σε CXL</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κάτω φράγμα</a:t>
            </a:r>
            <a:endParaRPr lang="en-US" sz="1400" dirty="0"/>
          </a:p>
        </p:txBody>
      </p:sp>
      <p:sp>
        <p:nvSpPr>
          <p:cNvPr id="10" name="Text 8"/>
          <p:cNvSpPr/>
          <p:nvPr/>
        </p:nvSpPr>
        <p:spPr>
          <a:xfrm>
            <a:off x="777240" y="2066544"/>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2.</a:t>
            </a:r>
            <a:endParaRPr lang="en-US" sz="1400" dirty="0"/>
          </a:p>
        </p:txBody>
      </p:sp>
      <p:sp>
        <p:nvSpPr>
          <p:cNvPr id="11" name="Text 9"/>
          <p:cNvSpPr/>
          <p:nvPr/>
        </p:nvSpPr>
        <p:spPr>
          <a:xfrm>
            <a:off x="1143000" y="2066544"/>
            <a:ext cx="493776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Όλα σε τοπική DRAM</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άνω φράγμα</a:t>
            </a:r>
            <a:endParaRPr lang="en-US" sz="1400" dirty="0"/>
          </a:p>
        </p:txBody>
      </p:sp>
      <p:sp>
        <p:nvSpPr>
          <p:cNvPr id="12" name="Text 10"/>
          <p:cNvSpPr/>
          <p:nvPr/>
        </p:nvSpPr>
        <p:spPr>
          <a:xfrm>
            <a:off x="777240" y="2468880"/>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3.</a:t>
            </a:r>
            <a:endParaRPr lang="en-US" sz="1400" dirty="0"/>
          </a:p>
        </p:txBody>
      </p:sp>
      <p:sp>
        <p:nvSpPr>
          <p:cNvPr id="13" name="Text 11"/>
          <p:cNvSpPr/>
          <p:nvPr/>
        </p:nvSpPr>
        <p:spPr>
          <a:xfrm>
            <a:off x="1143000" y="2468880"/>
            <a:ext cx="493776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Αφελής μετανάστευση σελίδων</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το «πρόβλημα»</a:t>
            </a:r>
            <a:endParaRPr lang="en-US" sz="1400" dirty="0"/>
          </a:p>
        </p:txBody>
      </p:sp>
      <p:sp>
        <p:nvSpPr>
          <p:cNvPr id="14" name="Text 12"/>
          <p:cNvSpPr/>
          <p:nvPr/>
        </p:nvSpPr>
        <p:spPr>
          <a:xfrm>
            <a:off x="777240" y="2871216"/>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4.</a:t>
            </a:r>
            <a:endParaRPr lang="en-US" sz="1400" dirty="0"/>
          </a:p>
        </p:txBody>
      </p:sp>
      <p:sp>
        <p:nvSpPr>
          <p:cNvPr id="15" name="Text 13"/>
          <p:cNvSpPr/>
          <p:nvPr/>
        </p:nvSpPr>
        <p:spPr>
          <a:xfrm>
            <a:off x="1143000" y="2871216"/>
            <a:ext cx="4937760" cy="310896"/>
          </a:xfrm>
          <a:prstGeom prst="rect">
            <a:avLst/>
          </a:prstGeom>
          <a:noFill/>
          <a:ln/>
        </p:spPr>
        <p:txBody>
          <a:bodyPr wrap="square" lIns="0" tIns="0" rIns="0" bIns="0" rtlCol="0" anchor="ctr"/>
          <a:lstStyle/>
          <a:p>
            <a:pPr indent="0" marL="0">
              <a:buNone/>
            </a:pPr>
            <a:r>
              <a:rPr lang="en-US" sz="1400" b="1" dirty="0">
                <a:solidFill>
                  <a:srgbClr val="1A1A1A"/>
                </a:solidFill>
                <a:latin typeface="Times New Roman" pitchFamily="34" charset="0"/>
                <a:ea typeface="Times New Roman" pitchFamily="34" charset="-122"/>
                <a:cs typeface="Times New Roman" pitchFamily="34" charset="-120"/>
              </a:rPr>
              <a:t>Σχήμα του M5 (HPT + HWT)</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η πρόταση</a:t>
            </a:r>
            <a:endParaRPr lang="en-US" sz="1400" dirty="0"/>
          </a:p>
        </p:txBody>
      </p:sp>
      <p:sp>
        <p:nvSpPr>
          <p:cNvPr id="16" name="Text 14"/>
          <p:cNvSpPr/>
          <p:nvPr/>
        </p:nvSpPr>
        <p:spPr>
          <a:xfrm>
            <a:off x="777240" y="3273552"/>
            <a:ext cx="320040" cy="274320"/>
          </a:xfrm>
          <a:prstGeom prst="rect">
            <a:avLst/>
          </a:prstGeom>
          <a:noFill/>
          <a:ln/>
        </p:spPr>
        <p:txBody>
          <a:bodyPr wrap="square" lIns="0" tIns="0" rIns="0" bIns="0" rtlCol="0" anchor="ctr"/>
          <a:lstStyle/>
          <a:p>
            <a:pPr indent="0" marL="0">
              <a:buNone/>
            </a:pPr>
            <a:r>
              <a:rPr lang="en-US" sz="1400" dirty="0">
                <a:solidFill>
                  <a:srgbClr val="1F3A63"/>
                </a:solidFill>
                <a:latin typeface="Times New Roman" pitchFamily="34" charset="0"/>
                <a:ea typeface="Times New Roman" pitchFamily="34" charset="-122"/>
                <a:cs typeface="Times New Roman" pitchFamily="34" charset="-120"/>
              </a:rPr>
              <a:t>5.</a:t>
            </a:r>
            <a:endParaRPr lang="en-US" sz="1400" dirty="0"/>
          </a:p>
        </p:txBody>
      </p:sp>
      <p:sp>
        <p:nvSpPr>
          <p:cNvPr id="17" name="Text 15"/>
          <p:cNvSpPr/>
          <p:nvPr/>
        </p:nvSpPr>
        <p:spPr>
          <a:xfrm>
            <a:off x="1143000" y="3273552"/>
            <a:ext cx="4937760" cy="310896"/>
          </a:xfrm>
          <a:prstGeom prst="rect">
            <a:avLst/>
          </a:prstGeom>
          <a:noFill/>
          <a:ln/>
        </p:spPr>
        <p:txBody>
          <a:bodyPr wrap="square" lIns="0" tIns="0" rIns="0" bIns="0" rtlCol="0" anchor="ctr"/>
          <a:lstStyle/>
          <a:p>
            <a:pPr indent="0" marL="0">
              <a:buNone/>
            </a:pPr>
            <a:r>
              <a:rPr lang="en-US" sz="1400" dirty="0">
                <a:solidFill>
                  <a:srgbClr val="1A1A1A"/>
                </a:solidFill>
                <a:latin typeface="Times New Roman" pitchFamily="34" charset="0"/>
                <a:ea typeface="Times New Roman" pitchFamily="34" charset="-122"/>
                <a:cs typeface="Times New Roman" pitchFamily="34" charset="-120"/>
              </a:rPr>
              <a:t>Oracle τοποθέτηση</a:t>
            </a:r>
            <a:pPr indent="0" marL="0">
              <a:buNone/>
            </a:pPr>
            <a:r>
              <a:rPr lang="en-US" sz="1400" i="1" dirty="0">
                <a:solidFill>
                  <a:srgbClr val="6E6E6E"/>
                </a:solidFill>
                <a:latin typeface="Times New Roman" pitchFamily="34" charset="0"/>
                <a:ea typeface="Times New Roman" pitchFamily="34" charset="-122"/>
                <a:cs typeface="Times New Roman" pitchFamily="34" charset="-120"/>
              </a:rPr>
              <a:t>  — βέλτιστο offline</a:t>
            </a:r>
            <a:endParaRPr lang="en-US" sz="1400" dirty="0"/>
          </a:p>
        </p:txBody>
      </p:sp>
      <p:sp>
        <p:nvSpPr>
          <p:cNvPr id="18" name="Text 16"/>
          <p:cNvSpPr/>
          <p:nvPr/>
        </p:nvSpPr>
        <p:spPr>
          <a:xfrm>
            <a:off x="777240" y="3794760"/>
            <a:ext cx="5120640" cy="640080"/>
          </a:xfrm>
          <a:prstGeom prst="rect">
            <a:avLst/>
          </a:prstGeom>
          <a:noFill/>
          <a:ln/>
        </p:spPr>
        <p:txBody>
          <a:bodyPr wrap="square" lIns="0" tIns="0" rIns="0" bIns="0" rtlCol="0" anchor="ctr"/>
          <a:lstStyle/>
          <a:p>
            <a:pPr algn="just" indent="0" marL="0">
              <a:lnSpc>
                <a:spcPts val="2000"/>
              </a:lnSpc>
              <a:buNone/>
            </a:pPr>
            <a:r>
              <a:rPr lang="en-US" sz="1400" i="1" dirty="0">
                <a:solidFill>
                  <a:srgbClr val="8C2A2A"/>
                </a:solidFill>
                <a:latin typeface="Times New Roman" pitchFamily="34" charset="0"/>
                <a:ea typeface="Times New Roman" pitchFamily="34" charset="-122"/>
                <a:cs typeface="Times New Roman" pitchFamily="34" charset="-120"/>
              </a:rPr>
              <a:t>Η απόσταση μεταξύ του αφελούς σκέλους και του oracle είναι, επακριβώς, το πρόβλημα που αναπαράγεται.</a:t>
            </a:r>
            <a:endParaRPr lang="en-US" sz="1400" dirty="0"/>
          </a:p>
        </p:txBody>
      </p:sp>
      <p:sp>
        <p:nvSpPr>
          <p:cNvPr id="19" name="Shape 17"/>
          <p:cNvSpPr/>
          <p:nvPr/>
        </p:nvSpPr>
        <p:spPr>
          <a:xfrm>
            <a:off x="6172200" y="1325880"/>
            <a:ext cx="9144" cy="4023360"/>
          </a:xfrm>
          <a:prstGeom prst="rect">
            <a:avLst/>
          </a:prstGeom>
          <a:solidFill>
            <a:srgbClr val="BFBFBF"/>
          </a:solidFill>
          <a:ln/>
        </p:spPr>
      </p:sp>
      <p:sp>
        <p:nvSpPr>
          <p:cNvPr id="20" name="Text 18"/>
          <p:cNvSpPr/>
          <p:nvPr/>
        </p:nvSpPr>
        <p:spPr>
          <a:xfrm>
            <a:off x="6492240" y="1298448"/>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Φόρτοι εργασίας.</a:t>
            </a:r>
            <a:endParaRPr lang="en-US" sz="1500" dirty="0"/>
          </a:p>
        </p:txBody>
      </p:sp>
      <p:sp>
        <p:nvSpPr>
          <p:cNvPr id="21" name="Text 19"/>
          <p:cNvSpPr/>
          <p:nvPr/>
        </p:nvSpPr>
        <p:spPr>
          <a:xfrm>
            <a:off x="6492240" y="1645920"/>
            <a:ext cx="4937760" cy="1554480"/>
          </a:xfrm>
          <a:prstGeom prst="rect">
            <a:avLst/>
          </a:prstGeom>
          <a:noFill/>
          <a:ln/>
        </p:spPr>
        <p:txBody>
          <a:bodyPr wrap="square" lIns="0" tIns="0" rIns="0" bIns="0" rtlCol="0" anchor="ctr"/>
          <a:lstStyle/>
          <a:p>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GUPS</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τυχαίες ενημερώσεις 8 B, μηδενική χωρική τοπικότητα (η αντίπαλη περίπτωση)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XSBench</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αναζητήσεις Monte Carlo σε μεγάλους πίνακες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PageRank</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άτακτη προσπέλαση γράφου, μετακινούμενο θερμό σύνολο
</a:t>
            </a:r>
            <a:pPr indent="0" marL="0">
              <a:lnSpc>
                <a:spcPts val="2000"/>
              </a:lnSpc>
              <a:buNone/>
            </a:pPr>
            <a:r>
              <a:rPr lang="en-US" sz="1200" dirty="0">
                <a:solidFill>
                  <a:srgbClr val="1A1A1A"/>
                </a:solidFill>
                <a:latin typeface="Courier New" pitchFamily="34" charset="0"/>
                <a:ea typeface="Courier New" pitchFamily="34" charset="-122"/>
                <a:cs typeface="Courier New" pitchFamily="34" charset="-120"/>
              </a:rPr>
              <a:t>Btree / YCSB-C</a:t>
            </a:r>
            <a:pPr indent="0" marL="0">
              <a:lnSpc>
                <a:spcPts val="2000"/>
              </a:lnSpc>
              <a:buNone/>
            </a:pPr>
            <a:r>
              <a:rPr lang="en-US" sz="1350" dirty="0">
                <a:solidFill>
                  <a:srgbClr val="1A1A1A"/>
                </a:solidFill>
                <a:latin typeface="Times New Roman" pitchFamily="34" charset="0"/>
                <a:ea typeface="Times New Roman" pitchFamily="34" charset="-122"/>
                <a:cs typeface="Times New Roman" pitchFamily="34" charset="-120"/>
              </a:rPr>
              <a:t> — κατανομή Zipf, ακραία υπο-σελιδική θερμότητα</a:t>
            </a:r>
            <a:endParaRPr lang="en-US" sz="1350" dirty="0"/>
          </a:p>
        </p:txBody>
      </p:sp>
      <p:sp>
        <p:nvSpPr>
          <p:cNvPr id="22" name="Text 20"/>
          <p:cNvSpPr/>
          <p:nvPr/>
        </p:nvSpPr>
        <p:spPr>
          <a:xfrm>
            <a:off x="6492240" y="3520440"/>
            <a:ext cx="4937760" cy="292608"/>
          </a:xfrm>
          <a:prstGeom prst="rect">
            <a:avLst/>
          </a:prstGeom>
          <a:noFill/>
          <a:ln/>
        </p:spPr>
        <p:txBody>
          <a:bodyPr wrap="square" lIns="0" tIns="0" rIns="0" bIns="0" rtlCol="0" anchor="ctr"/>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Μετρικές.</a:t>
            </a:r>
            <a:endParaRPr lang="en-US" sz="1500" dirty="0"/>
          </a:p>
        </p:txBody>
      </p:sp>
      <p:sp>
        <p:nvSpPr>
          <p:cNvPr id="23" name="Text 21"/>
          <p:cNvSpPr/>
          <p:nvPr/>
        </p:nvSpPr>
        <p:spPr>
          <a:xfrm>
            <a:off x="6492240" y="3867912"/>
            <a:ext cx="4937760" cy="1783080"/>
          </a:xfrm>
          <a:prstGeom prst="rect">
            <a:avLst/>
          </a:prstGeom>
          <a:noFill/>
          <a:ln/>
        </p:spPr>
        <p:txBody>
          <a:bodyPr wrap="square" lIns="0" tIns="0" rIns="0" bIns="0" rtlCol="0" anchor="ctr"/>
          <a:lstStyle/>
          <a:p>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αθροιστική κατανομή πυκνότητας προσπελάσεων ανά γραμμή 64 B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απόδοση μεταφοράς: bytes που μεταφέρθηκαν ÷ bytes που χρησιμοποιήθηκαν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επικαιρότητα προαγωγής και ποσοστό σελίδων ακόμη θερμών κατά την προαγωγή
</a:t>
            </a:r>
            <a:pPr indent="0" marL="0">
              <a:lnSpc>
                <a:spcPts val="1900"/>
              </a:lnSpc>
              <a:buNone/>
            </a:pPr>
            <a:r>
              <a:rPr lang="en-US" sz="1300" dirty="0">
                <a:solidFill>
                  <a:srgbClr val="1A1A1A"/>
                </a:solidFill>
                <a:latin typeface="Times New Roman" pitchFamily="34" charset="0"/>
                <a:ea typeface="Times New Roman" pitchFamily="34" charset="-122"/>
                <a:cs typeface="Times New Roman" pitchFamily="34" charset="-120"/>
              </a:rPr>
              <a:t>– επιβράδυνση συναρτήσει του λόγου βαθμίδων· πλήθος ταλαντώσεων (ping-pong)</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§5.3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Το ζητούμενο σχήμα</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5. Μεθοδολογία</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12 / 14</a:t>
            </a:r>
            <a:endParaRPr lang="en-US" sz="950" dirty="0"/>
          </a:p>
        </p:txBody>
      </p:sp>
      <p:sp>
        <p:nvSpPr>
          <p:cNvPr id="7" name="Text 5"/>
          <p:cNvSpPr/>
          <p:nvPr/>
        </p:nvSpPr>
        <p:spPr>
          <a:xfrm>
            <a:off x="777240" y="1325880"/>
            <a:ext cx="4709160" cy="1463040"/>
          </a:xfrm>
          <a:prstGeom prst="rect">
            <a:avLst/>
          </a:prstGeom>
          <a:noFill/>
          <a:ln/>
        </p:spPr>
        <p:txBody>
          <a:bodyPr wrap="square" lIns="0" tIns="0" rIns="0" bIns="0" rtlCol="0" anchor="ctr"/>
          <a:lstStyle/>
          <a:p>
            <a:pPr algn="just" indent="0" marL="0">
              <a:lnSpc>
                <a:spcPts val="2300"/>
              </a:lnSpc>
              <a:buNone/>
            </a:pPr>
            <a:r>
              <a:rPr lang="en-US" sz="1500" dirty="0">
                <a:solidFill>
                  <a:srgbClr val="1A1A1A"/>
                </a:solidFill>
                <a:latin typeface="Times New Roman" pitchFamily="34" charset="0"/>
                <a:ea typeface="Times New Roman" pitchFamily="34" charset="-122"/>
                <a:cs typeface="Times New Roman" pitchFamily="34" charset="-120"/>
              </a:rPr>
              <a:t>Για κάθε σελίδα 4 KB μετράμε τι ποσοστό των προσπελάσεών της συγκεντρώνεται στις k θερμότερες γραμμές των 64 B. Αν το 80% των προσπελάσεων πέφτει σε λιγότερο από το 10% της σελίδας, το επιχείρημα της κοκκομέτρησης αποδεικνύεται σε ένα και μόνο διάγραμμα (Σχήμα 3).</a:t>
            </a:r>
            <a:endParaRPr lang="en-US" sz="1500" dirty="0"/>
          </a:p>
        </p:txBody>
      </p:sp>
      <p:sp>
        <p:nvSpPr>
          <p:cNvPr id="8" name="Text 6"/>
          <p:cNvSpPr/>
          <p:nvPr/>
        </p:nvSpPr>
        <p:spPr>
          <a:xfrm>
            <a:off x="777240" y="2971800"/>
            <a:ext cx="4709160" cy="1737360"/>
          </a:xfrm>
          <a:prstGeom prst="rect">
            <a:avLst/>
          </a:prstGeom>
          <a:noFill/>
          <a:ln/>
        </p:spPr>
        <p:txBody>
          <a:bodyPr wrap="square" lIns="0" tIns="0" rIns="0" bIns="0" rtlCol="0" anchor="ctr"/>
          <a:lstStyle/>
          <a:p>
            <a:pPr algn="just" indent="0" marL="0">
              <a:lnSpc>
                <a:spcPts val="2100"/>
              </a:lnSpc>
              <a:buNone/>
            </a:pPr>
            <a:r>
              <a:rPr lang="en-US" sz="1400" b="1" dirty="0">
                <a:solidFill>
                  <a:srgbClr val="8C2A2A"/>
                </a:solidFill>
                <a:latin typeface="Times New Roman" pitchFamily="34" charset="0"/>
                <a:ea typeface="Times New Roman" pitchFamily="34" charset="-122"/>
                <a:cs typeface="Times New Roman" pitchFamily="34" charset="-120"/>
              </a:rPr>
              <a:t>Επιφύλαξη. </a:t>
            </a:r>
            <a:pPr algn="just" indent="0" marL="0">
              <a:lnSpc>
                <a:spcPts val="2100"/>
              </a:lnSpc>
              <a:buNone/>
            </a:pPr>
            <a:r>
              <a:rPr lang="en-US" sz="1400" dirty="0">
                <a:solidFill>
                  <a:srgbClr val="1A1A1A"/>
                </a:solidFill>
                <a:latin typeface="Times New Roman" pitchFamily="34" charset="0"/>
                <a:ea typeface="Times New Roman" pitchFamily="34" charset="-122"/>
                <a:cs typeface="Times New Roman" pitchFamily="34" charset="-120"/>
              </a:rPr>
              <a:t>Η καμπύλη είναι η αναμενόμενη μορφή, όχι μετρημένα δεδομένα· ο προσομοιωτής δεν έχει ακόμη εκτελεστεί. Αν βγει επίπεδη, το επιχείρημα της υπο-σελιδικής θερμότητας καταρρέει για τον φόρτο αυτόν — αποτέλεσμα εξίσου χρήσιμο.</a:t>
            </a:r>
            <a:endParaRPr lang="en-US" sz="1400" dirty="0"/>
          </a:p>
        </p:txBody>
      </p:sp>
      <p:graphicFrame>
        <p:nvGraphicFramePr>
          <p:cNvPr id="9" name="Chart 0" descr=""/>
          <p:cNvGraphicFramePr/>
          <p:nvPr/>
        </p:nvGraphicFramePr>
        <p:xfrm>
          <a:off x="5806440" y="1371600"/>
          <a:ext cx="5605272" cy="370332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5806440" y="5166360"/>
            <a:ext cx="5605272" cy="292608"/>
          </a:xfrm>
          <a:prstGeom prst="rect">
            <a:avLst/>
          </a:prstGeom>
          <a:noFill/>
          <a:ln/>
        </p:spPr>
        <p:txBody>
          <a:bodyPr wrap="square" lIns="0" tIns="0" rIns="0" bIns="0" rtlCol="0" anchor="ctr"/>
          <a:lstStyle/>
          <a:p>
            <a:pPr algn="ctr" indent="0" marL="0">
              <a:buNone/>
            </a:pPr>
            <a:r>
              <a:rPr lang="en-US" sz="1100" b="1" i="1" dirty="0">
                <a:solidFill>
                  <a:srgbClr val="6E6E6E"/>
                </a:solidFill>
                <a:latin typeface="Times New Roman" pitchFamily="34" charset="0"/>
                <a:ea typeface="Times New Roman" pitchFamily="34" charset="-122"/>
                <a:cs typeface="Times New Roman" pitchFamily="34" charset="-120"/>
              </a:rPr>
              <a:t>Σχήμα 3: </a:t>
            </a:r>
            <a:pPr algn="ctr" indent="0" marL="0">
              <a:buNone/>
            </a:pPr>
            <a:r>
              <a:rPr lang="en-US" sz="1100" i="1" dirty="0">
                <a:solidFill>
                  <a:srgbClr val="6E6E6E"/>
                </a:solidFill>
                <a:latin typeface="Times New Roman" pitchFamily="34" charset="0"/>
                <a:ea typeface="Times New Roman" pitchFamily="34" charset="-122"/>
                <a:cs typeface="Times New Roman" pitchFamily="34" charset="-120"/>
              </a:rPr>
              <a:t>αθροιστικό ποσοστό προσπελάσεων στις k θερμότερες γραμμές 64 B (αναμενόμενη μορφή).</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§6.1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Φάσεις υλοποίησης και διαχείριση ρίσκου</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Πλάνο &amp; συζήτηση</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13 / 14</a:t>
            </a:r>
            <a:endParaRPr lang="en-US" sz="950" dirty="0"/>
          </a:p>
        </p:txBody>
      </p:sp>
      <p:sp>
        <p:nvSpPr>
          <p:cNvPr id="7" name="Text 5"/>
          <p:cNvSpPr/>
          <p:nvPr/>
        </p:nvSpPr>
        <p:spPr>
          <a:xfrm>
            <a:off x="777240" y="1371600"/>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1.</a:t>
            </a:r>
            <a:endParaRPr lang="en-US" sz="1500" dirty="0"/>
          </a:p>
        </p:txBody>
      </p:sp>
      <p:sp>
        <p:nvSpPr>
          <p:cNvPr id="8" name="Text 6"/>
          <p:cNvSpPr/>
          <p:nvPr/>
        </p:nvSpPr>
        <p:spPr>
          <a:xfrm>
            <a:off x="1874520" y="1371600"/>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Εκκίνηση και checkpoint.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Boot έως shell, επιβεβαίωση κόμβου zNUMA, microbenchmark καθυστέρησης («απόδειξη ότι η CXL είναι αργή»).</a:t>
            </a:r>
            <a:endParaRPr lang="en-US" sz="1450" dirty="0"/>
          </a:p>
        </p:txBody>
      </p:sp>
      <p:sp>
        <p:nvSpPr>
          <p:cNvPr id="9" name="Shape 7"/>
          <p:cNvSpPr/>
          <p:nvPr/>
        </p:nvSpPr>
        <p:spPr>
          <a:xfrm>
            <a:off x="1874520" y="2011680"/>
            <a:ext cx="9537192" cy="5486"/>
          </a:xfrm>
          <a:prstGeom prst="rect">
            <a:avLst/>
          </a:prstGeom>
          <a:solidFill>
            <a:srgbClr val="E8E8E8"/>
          </a:solidFill>
          <a:ln/>
        </p:spPr>
      </p:sp>
      <p:sp>
        <p:nvSpPr>
          <p:cNvPr id="10" name="Text 8"/>
          <p:cNvSpPr/>
          <p:nvPr/>
        </p:nvSpPr>
        <p:spPr>
          <a:xfrm>
            <a:off x="777240" y="2121408"/>
            <a:ext cx="1051560" cy="292608"/>
          </a:xfrm>
          <a:prstGeom prst="rect">
            <a:avLst/>
          </a:prstGeom>
          <a:noFill/>
          <a:ln/>
        </p:spPr>
        <p:txBody>
          <a:bodyPr wrap="square" lIns="0" tIns="0" rIns="0" bIns="0" rtlCol="0" anchor="t"/>
          <a:lstStyle/>
          <a:p>
            <a:pPr indent="0" marL="0">
              <a:buNone/>
            </a:pPr>
            <a:r>
              <a:rPr lang="en-US" sz="1500" b="1" dirty="0">
                <a:solidFill>
                  <a:srgbClr val="8C2A2A"/>
                </a:solidFill>
                <a:latin typeface="Times New Roman" pitchFamily="34" charset="0"/>
                <a:ea typeface="Times New Roman" pitchFamily="34" charset="-122"/>
                <a:cs typeface="Times New Roman" pitchFamily="34" charset="-120"/>
              </a:rPr>
              <a:t>Φάση 2.</a:t>
            </a:r>
            <a:endParaRPr lang="en-US" sz="1500" dirty="0"/>
          </a:p>
        </p:txBody>
      </p:sp>
      <p:sp>
        <p:nvSpPr>
          <p:cNvPr id="11" name="Text 9"/>
          <p:cNvSpPr/>
          <p:nvPr/>
        </p:nvSpPr>
        <p:spPr>
          <a:xfrm>
            <a:off x="1874520" y="2121408"/>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8C2A2A"/>
                </a:solidFill>
                <a:latin typeface="Times New Roman" pitchFamily="34" charset="0"/>
                <a:ea typeface="Times New Roman" pitchFamily="34" charset="-122"/>
                <a:cs typeface="Times New Roman" pitchFamily="34" charset="-120"/>
              </a:rPr>
              <a:t>Λήψη ιχνών προσπέλασης.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Σημείο λήψης στη ροή αιτημάτων της συσκευής και κατανομή πυκνότητας — το πρώτο πραγματικό αποτέλεσμα.</a:t>
            </a:r>
            <a:endParaRPr lang="en-US" sz="1450" dirty="0"/>
          </a:p>
        </p:txBody>
      </p:sp>
      <p:sp>
        <p:nvSpPr>
          <p:cNvPr id="12" name="Shape 10"/>
          <p:cNvSpPr/>
          <p:nvPr/>
        </p:nvSpPr>
        <p:spPr>
          <a:xfrm>
            <a:off x="1874520" y="2761488"/>
            <a:ext cx="9537192" cy="5486"/>
          </a:xfrm>
          <a:prstGeom prst="rect">
            <a:avLst/>
          </a:prstGeom>
          <a:solidFill>
            <a:srgbClr val="E8E8E8"/>
          </a:solidFill>
          <a:ln/>
        </p:spPr>
      </p:sp>
      <p:sp>
        <p:nvSpPr>
          <p:cNvPr id="13" name="Text 11"/>
          <p:cNvSpPr/>
          <p:nvPr/>
        </p:nvSpPr>
        <p:spPr>
          <a:xfrm>
            <a:off x="777240" y="2871216"/>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3.</a:t>
            </a:r>
            <a:endParaRPr lang="en-US" sz="1500" dirty="0"/>
          </a:p>
        </p:txBody>
      </p:sp>
      <p:sp>
        <p:nvSpPr>
          <p:cNvPr id="14" name="Text 12"/>
          <p:cNvSpPr/>
          <p:nvPr/>
        </p:nvSpPr>
        <p:spPr>
          <a:xfrm>
            <a:off x="1874520" y="2871216"/>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Βασική γραμμή μετανάστευσης.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Αφελής μετανάστευση σελίδων με έντιμο μοντέλο κόστους και ποσόστωση εύρους ζώνης.</a:t>
            </a:r>
            <a:endParaRPr lang="en-US" sz="1450" dirty="0"/>
          </a:p>
        </p:txBody>
      </p:sp>
      <p:sp>
        <p:nvSpPr>
          <p:cNvPr id="15" name="Shape 13"/>
          <p:cNvSpPr/>
          <p:nvPr/>
        </p:nvSpPr>
        <p:spPr>
          <a:xfrm>
            <a:off x="1874520" y="3511296"/>
            <a:ext cx="9537192" cy="5486"/>
          </a:xfrm>
          <a:prstGeom prst="rect">
            <a:avLst/>
          </a:prstGeom>
          <a:solidFill>
            <a:srgbClr val="E8E8E8"/>
          </a:solidFill>
          <a:ln/>
        </p:spPr>
      </p:sp>
      <p:sp>
        <p:nvSpPr>
          <p:cNvPr id="16" name="Text 14"/>
          <p:cNvSpPr/>
          <p:nvPr/>
        </p:nvSpPr>
        <p:spPr>
          <a:xfrm>
            <a:off x="777240" y="3621024"/>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4.</a:t>
            </a:r>
            <a:endParaRPr lang="en-US" sz="1500" dirty="0"/>
          </a:p>
        </p:txBody>
      </p:sp>
      <p:sp>
        <p:nvSpPr>
          <p:cNvPr id="17" name="Text 15"/>
          <p:cNvSpPr/>
          <p:nvPr/>
        </p:nvSpPr>
        <p:spPr>
          <a:xfrm>
            <a:off x="1874520" y="3621024"/>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Υλοποίηση M5.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Πρώτα ο HPT (θερμές σελίδες), κατόπιν ο HWT (θερμές λέξεις 64 B) ως το διαφοροποιητικό στοιχείο.</a:t>
            </a:r>
            <a:endParaRPr lang="en-US" sz="1450" dirty="0"/>
          </a:p>
        </p:txBody>
      </p:sp>
      <p:sp>
        <p:nvSpPr>
          <p:cNvPr id="18" name="Shape 16"/>
          <p:cNvSpPr/>
          <p:nvPr/>
        </p:nvSpPr>
        <p:spPr>
          <a:xfrm>
            <a:off x="1874520" y="4261104"/>
            <a:ext cx="9537192" cy="5486"/>
          </a:xfrm>
          <a:prstGeom prst="rect">
            <a:avLst/>
          </a:prstGeom>
          <a:solidFill>
            <a:srgbClr val="E8E8E8"/>
          </a:solidFill>
          <a:ln/>
        </p:spPr>
      </p:sp>
      <p:sp>
        <p:nvSpPr>
          <p:cNvPr id="19" name="Text 17"/>
          <p:cNvSpPr/>
          <p:nvPr/>
        </p:nvSpPr>
        <p:spPr>
          <a:xfrm>
            <a:off x="777240" y="4370832"/>
            <a:ext cx="1051560" cy="292608"/>
          </a:xfrm>
          <a:prstGeom prst="rect">
            <a:avLst/>
          </a:prstGeom>
          <a:noFill/>
          <a:ln/>
        </p:spPr>
        <p:txBody>
          <a:bodyPr wrap="square" lIns="0" tIns="0" rIns="0" bIns="0" rtlCol="0" anchor="t"/>
          <a:lstStyle/>
          <a:p>
            <a:pPr indent="0" marL="0">
              <a:buNone/>
            </a:pPr>
            <a:r>
              <a:rPr lang="en-US" sz="1500" b="1" dirty="0">
                <a:solidFill>
                  <a:srgbClr val="1F3A63"/>
                </a:solidFill>
                <a:latin typeface="Times New Roman" pitchFamily="34" charset="0"/>
                <a:ea typeface="Times New Roman" pitchFamily="34" charset="-122"/>
                <a:cs typeface="Times New Roman" pitchFamily="34" charset="-120"/>
              </a:rPr>
              <a:t>Φάση 5.</a:t>
            </a:r>
            <a:endParaRPr lang="en-US" sz="1500" dirty="0"/>
          </a:p>
        </p:txBody>
      </p:sp>
      <p:sp>
        <p:nvSpPr>
          <p:cNvPr id="20" name="Text 18"/>
          <p:cNvSpPr/>
          <p:nvPr/>
        </p:nvSpPr>
        <p:spPr>
          <a:xfrm>
            <a:off x="1874520" y="4370832"/>
            <a:ext cx="9537192" cy="640080"/>
          </a:xfrm>
          <a:prstGeom prst="rect">
            <a:avLst/>
          </a:prstGeom>
          <a:noFill/>
          <a:ln/>
        </p:spPr>
        <p:txBody>
          <a:bodyPr wrap="square" lIns="0" tIns="0" rIns="0" bIns="0" rtlCol="0" anchor="t"/>
          <a:lstStyle/>
          <a:p>
            <a:pPr algn="just" indent="0" marL="0">
              <a:lnSpc>
                <a:spcPts val="2000"/>
              </a:lnSpc>
              <a:buNone/>
            </a:pPr>
            <a:r>
              <a:rPr lang="en-US" sz="1450" b="1" dirty="0">
                <a:solidFill>
                  <a:srgbClr val="1A1A1A"/>
                </a:solidFill>
                <a:latin typeface="Times New Roman" pitchFamily="34" charset="0"/>
                <a:ea typeface="Times New Roman" pitchFamily="34" charset="-122"/>
                <a:cs typeface="Times New Roman" pitchFamily="34" charset="-120"/>
              </a:rPr>
              <a:t>Αξιολόγηση και συγγραφή. </a:t>
            </a:r>
            <a:pPr algn="just" indent="0" marL="0">
              <a:lnSpc>
                <a:spcPts val="2000"/>
              </a:lnSpc>
              <a:buNone/>
            </a:pPr>
            <a:r>
              <a:rPr lang="en-US" sz="1450" dirty="0">
                <a:solidFill>
                  <a:srgbClr val="1A1A1A"/>
                </a:solidFill>
                <a:latin typeface="Times New Roman" pitchFamily="34" charset="0"/>
                <a:ea typeface="Times New Roman" pitchFamily="34" charset="-122"/>
                <a:cs typeface="Times New Roman" pitchFamily="34" charset="-120"/>
              </a:rPr>
              <a:t>Ανάλυση ευαισθησίας ως προς K, διάστημα, ποσόστωση και καθυστέρηση CXL.</a:t>
            </a:r>
            <a:endParaRPr lang="en-US" sz="1450" dirty="0"/>
          </a:p>
        </p:txBody>
      </p:sp>
      <p:sp>
        <p:nvSpPr>
          <p:cNvPr id="21" name="Text 19"/>
          <p:cNvSpPr/>
          <p:nvPr/>
        </p:nvSpPr>
        <p:spPr>
          <a:xfrm>
            <a:off x="777240" y="5257800"/>
            <a:ext cx="10634472" cy="731520"/>
          </a:xfrm>
          <a:prstGeom prst="rect">
            <a:avLst/>
          </a:prstGeom>
          <a:noFill/>
          <a:ln/>
        </p:spPr>
        <p:txBody>
          <a:bodyPr wrap="square" lIns="0" tIns="0" rIns="0" bIns="0" rtlCol="0" anchor="ctr"/>
          <a:lstStyle/>
          <a:p>
            <a:pPr algn="just" indent="0" marL="0">
              <a:lnSpc>
                <a:spcPts val="2100"/>
              </a:lnSpc>
              <a:buNone/>
            </a:pPr>
            <a:r>
              <a:rPr lang="en-US" sz="1400" i="1" dirty="0">
                <a:solidFill>
                  <a:srgbClr val="6E6E6E"/>
                </a:solidFill>
                <a:latin typeface="Times New Roman" pitchFamily="34" charset="0"/>
                <a:ea typeface="Times New Roman" pitchFamily="34" charset="-122"/>
                <a:cs typeface="Times New Roman" pitchFamily="34" charset="-120"/>
              </a:rPr>
              <a:t>Η Φάση 2 απομειώνει το ρίσκο όλων των υπολοίπων, παράγοντας παρουσιάσιμο αποτέλεσμα πριν γραφτεί οποιαδήποτε πολιτική. Προαιρετικές επεκτάσεις: μοντέλο κόστους υλικού, σάρωση καθυστέρησης, δύο συντρέχοντες φόρτοι.</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34472" cy="502920"/>
          </a:xfrm>
          <a:prstGeom prst="rect">
            <a:avLst/>
          </a:prstGeom>
          <a:noFill/>
          <a:ln/>
        </p:spPr>
        <p:txBody>
          <a:bodyPr wrap="square" lIns="0" tIns="0" rIns="0" bIns="0" rtlCol="0" anchor="ctr"/>
          <a:lstStyle/>
          <a:p>
            <a:pPr indent="0" marL="0">
              <a:buNone/>
            </a:pPr>
            <a:r>
              <a:rPr lang="en-US" sz="2400" b="1" dirty="0">
                <a:solidFill>
                  <a:srgbClr val="1F3A63"/>
                </a:solidFill>
                <a:latin typeface="Times New Roman" pitchFamily="34" charset="0"/>
                <a:ea typeface="Times New Roman" pitchFamily="34" charset="-122"/>
                <a:cs typeface="Times New Roman" pitchFamily="34" charset="-120"/>
              </a:rPr>
              <a:t>§6.2  </a:t>
            </a:r>
            <a:pPr indent="0" marL="0">
              <a:buNone/>
            </a:pPr>
            <a:r>
              <a:rPr lang="en-US" sz="2400" b="1" dirty="0">
                <a:solidFill>
                  <a:srgbClr val="1A1A1A"/>
                </a:solidFill>
                <a:latin typeface="Times New Roman" pitchFamily="34" charset="0"/>
                <a:ea typeface="Times New Roman" pitchFamily="34" charset="-122"/>
                <a:cs typeface="Times New Roman" pitchFamily="34" charset="-120"/>
              </a:rPr>
              <a:t>Ανοιχτά ερωτήματα προς συζήτηση</a:t>
            </a:r>
            <a:endParaRPr lang="en-US" sz="2400" dirty="0"/>
          </a:p>
        </p:txBody>
      </p:sp>
      <p:sp>
        <p:nvSpPr>
          <p:cNvPr id="3" name="Shape 1"/>
          <p:cNvSpPr/>
          <p:nvPr/>
        </p:nvSpPr>
        <p:spPr>
          <a:xfrm>
            <a:off x="777240" y="6437376"/>
            <a:ext cx="10634472" cy="7315"/>
          </a:xfrm>
          <a:prstGeom prst="rect">
            <a:avLst/>
          </a:prstGeom>
          <a:solidFill>
            <a:srgbClr val="BFBFBF"/>
          </a:solidFill>
          <a:ln/>
        </p:spPr>
      </p:sp>
      <p:sp>
        <p:nvSpPr>
          <p:cNvPr id="4" name="Text 2"/>
          <p:cNvSpPr/>
          <p:nvPr/>
        </p:nvSpPr>
        <p:spPr>
          <a:xfrm>
            <a:off x="777240" y="6492240"/>
            <a:ext cx="5943600" cy="274320"/>
          </a:xfrm>
          <a:prstGeom prst="rect">
            <a:avLst/>
          </a:prstGeom>
          <a:noFill/>
          <a:ln/>
        </p:spPr>
        <p:txBody>
          <a:bodyPr wrap="square" lIns="0" tIns="0" rIns="0" bIns="0" rtlCol="0" anchor="ctr"/>
          <a:lstStyle/>
          <a:p>
            <a:pPr indent="0" marL="0">
              <a:buNone/>
            </a:pPr>
            <a:r>
              <a:rPr lang="en-US" sz="950" dirty="0">
                <a:solidFill>
                  <a:srgbClr val="6E6E6E"/>
                </a:solidFill>
                <a:latin typeface="Times New Roman" pitchFamily="34" charset="0"/>
                <a:ea typeface="Times New Roman" pitchFamily="34" charset="-122"/>
                <a:cs typeface="Times New Roman" pitchFamily="34" charset="-120"/>
              </a:rPr>
              <a:t>Memory Tiering σε συστήματα CXL  ·  el23408</a:t>
            </a:r>
            <a:endParaRPr lang="en-US" sz="950" dirty="0"/>
          </a:p>
        </p:txBody>
      </p:sp>
      <p:sp>
        <p:nvSpPr>
          <p:cNvPr id="5" name="Text 3"/>
          <p:cNvSpPr/>
          <p:nvPr/>
        </p:nvSpPr>
        <p:spPr>
          <a:xfrm>
            <a:off x="6720840" y="6492240"/>
            <a:ext cx="3200400" cy="274320"/>
          </a:xfrm>
          <a:prstGeom prst="rect">
            <a:avLst/>
          </a:prstGeom>
          <a:noFill/>
          <a:ln/>
        </p:spPr>
        <p:txBody>
          <a:bodyPr wrap="square" lIns="0" tIns="0" rIns="0" bIns="0" rtlCol="0" anchor="ctr"/>
          <a:lstStyle/>
          <a:p>
            <a:pPr algn="ctr" indent="0" marL="0">
              <a:buNone/>
            </a:pPr>
            <a:r>
              <a:rPr lang="en-US" sz="950" i="1" dirty="0">
                <a:solidFill>
                  <a:srgbClr val="6E6E6E"/>
                </a:solidFill>
                <a:latin typeface="Times New Roman" pitchFamily="34" charset="0"/>
                <a:ea typeface="Times New Roman" pitchFamily="34" charset="-122"/>
                <a:cs typeface="Times New Roman" pitchFamily="34" charset="-120"/>
              </a:rPr>
              <a:t>6. Πλάνο &amp; συζήτηση</a:t>
            </a:r>
            <a:endParaRPr lang="en-US" sz="950" dirty="0"/>
          </a:p>
        </p:txBody>
      </p:sp>
      <p:sp>
        <p:nvSpPr>
          <p:cNvPr id="6" name="Text 4"/>
          <p:cNvSpPr/>
          <p:nvPr/>
        </p:nvSpPr>
        <p:spPr>
          <a:xfrm>
            <a:off x="10040112" y="6492240"/>
            <a:ext cx="1371600" cy="274320"/>
          </a:xfrm>
          <a:prstGeom prst="rect">
            <a:avLst/>
          </a:prstGeom>
          <a:noFill/>
          <a:ln/>
        </p:spPr>
        <p:txBody>
          <a:bodyPr wrap="square" lIns="0" tIns="0" rIns="0" bIns="0" rtlCol="0" anchor="ctr"/>
          <a:lstStyle/>
          <a:p>
            <a:pPr algn="r" indent="0" marL="0">
              <a:buNone/>
            </a:pPr>
            <a:r>
              <a:rPr lang="en-US" sz="950" dirty="0">
                <a:solidFill>
                  <a:srgbClr val="6E6E6E"/>
                </a:solidFill>
                <a:latin typeface="Times New Roman" pitchFamily="34" charset="0"/>
                <a:ea typeface="Times New Roman" pitchFamily="34" charset="-122"/>
                <a:cs typeface="Times New Roman" pitchFamily="34" charset="-120"/>
              </a:rPr>
              <a:t>14 / 14</a:t>
            </a:r>
            <a:endParaRPr lang="en-US" sz="950" dirty="0"/>
          </a:p>
        </p:txBody>
      </p:sp>
      <p:sp>
        <p:nvSpPr>
          <p:cNvPr id="7" name="Text 5"/>
          <p:cNvSpPr/>
          <p:nvPr/>
        </p:nvSpPr>
        <p:spPr>
          <a:xfrm>
            <a:off x="777240" y="141732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1.</a:t>
            </a:r>
            <a:endParaRPr lang="en-US" sz="1600" dirty="0"/>
          </a:p>
        </p:txBody>
      </p:sp>
      <p:sp>
        <p:nvSpPr>
          <p:cNvPr id="8" name="Text 6"/>
          <p:cNvSpPr/>
          <p:nvPr/>
        </p:nvSpPr>
        <p:spPr>
          <a:xfrm>
            <a:off x="1234440" y="141732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Πρόσβαση στον CXLRAMSim.</a:t>
            </a:r>
            <a:endParaRPr lang="en-US" sz="1600" dirty="0"/>
          </a:p>
        </p:txBody>
      </p:sp>
      <p:sp>
        <p:nvSpPr>
          <p:cNvPr id="9" name="Text 7"/>
          <p:cNvSpPr/>
          <p:nvPr/>
        </p:nvSpPr>
        <p:spPr>
          <a:xfrm>
            <a:off x="1234440" y="174650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Υπάρχει διαθέσιμο αποθετήριο και οδηγίες build; Ιδανικά και έτοιμο disk image — το χτίσιμο από το μηδέν είναι παράκαμψη ημερών που δεν διδάσκει τίποτε για το tiering.</a:t>
            </a:r>
            <a:endParaRPr lang="en-US" sz="1400" dirty="0"/>
          </a:p>
        </p:txBody>
      </p:sp>
      <p:sp>
        <p:nvSpPr>
          <p:cNvPr id="10" name="Text 8"/>
          <p:cNvSpPr/>
          <p:nvPr/>
        </p:nvSpPr>
        <p:spPr>
          <a:xfrm>
            <a:off x="777240" y="237744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2.</a:t>
            </a:r>
            <a:endParaRPr lang="en-US" sz="1600" dirty="0"/>
          </a:p>
        </p:txBody>
      </p:sp>
      <p:sp>
        <p:nvSpPr>
          <p:cNvPr id="11" name="Text 9"/>
          <p:cNvSpPr/>
          <p:nvPr/>
        </p:nvSpPr>
        <p:spPr>
          <a:xfrm>
            <a:off x="1234440" y="237744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Κλίμακα φόρτων.</a:t>
            </a:r>
            <a:endParaRPr lang="en-US" sz="1600" dirty="0"/>
          </a:p>
        </p:txBody>
      </p:sp>
      <p:sp>
        <p:nvSpPr>
          <p:cNvPr id="12" name="Text 10"/>
          <p:cNvSpPr/>
          <p:nvPr/>
        </p:nvSpPr>
        <p:spPr>
          <a:xfrm>
            <a:off x="1234440" y="270662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αποδεκτό να μειωθεί το μέγεθος σε εκατοντάδες MB αντί για 10–20 GB RSS, διατηρώντας ρεαλιστικό τον λόγο των βαθμίδων;</a:t>
            </a:r>
            <a:endParaRPr lang="en-US" sz="1400" dirty="0"/>
          </a:p>
        </p:txBody>
      </p:sp>
      <p:sp>
        <p:nvSpPr>
          <p:cNvPr id="13" name="Text 11"/>
          <p:cNvSpPr/>
          <p:nvPr/>
        </p:nvSpPr>
        <p:spPr>
          <a:xfrm>
            <a:off x="777240" y="333756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3.</a:t>
            </a:r>
            <a:endParaRPr lang="en-US" sz="1600" dirty="0"/>
          </a:p>
        </p:txBody>
      </p:sp>
      <p:sp>
        <p:nvSpPr>
          <p:cNvPr id="14" name="Text 12"/>
          <p:cNvSpPr/>
          <p:nvPr/>
        </p:nvSpPr>
        <p:spPr>
          <a:xfrm>
            <a:off x="1234440" y="333756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Εύρος υλοποίησης.</a:t>
            </a:r>
            <a:endParaRPr lang="en-US" sz="1600" dirty="0"/>
          </a:p>
        </p:txBody>
      </p:sp>
      <p:sp>
        <p:nvSpPr>
          <p:cNvPr id="15" name="Text 13"/>
          <p:cNvSpPr/>
          <p:nvPr/>
        </p:nvSpPr>
        <p:spPr>
          <a:xfrm>
            <a:off x="1234440" y="366674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Αρκεί profiler HPT+HWT με μοντελοποιημένη μηχανή μετανάστευσης, ή ζητείται πραγματική μετανάστευση Linux οδηγούμενη από kernel module;</a:t>
            </a:r>
            <a:endParaRPr lang="en-US" sz="1400" dirty="0"/>
          </a:p>
        </p:txBody>
      </p:sp>
      <p:sp>
        <p:nvSpPr>
          <p:cNvPr id="16" name="Text 14"/>
          <p:cNvSpPr/>
          <p:nvPr/>
        </p:nvSpPr>
        <p:spPr>
          <a:xfrm>
            <a:off x="777240" y="4297680"/>
            <a:ext cx="411480" cy="292608"/>
          </a:xfrm>
          <a:prstGeom prst="rect">
            <a:avLst/>
          </a:prstGeom>
          <a:noFill/>
          <a:ln/>
        </p:spPr>
        <p:txBody>
          <a:bodyPr wrap="square" lIns="0" tIns="0" rIns="0" bIns="0" rtlCol="0" anchor="ctr"/>
          <a:lstStyle/>
          <a:p>
            <a:pPr indent="0" marL="0">
              <a:buNone/>
            </a:pPr>
            <a:r>
              <a:rPr lang="en-US" sz="1600" b="1" dirty="0">
                <a:solidFill>
                  <a:srgbClr val="1F3A63"/>
                </a:solidFill>
                <a:latin typeface="Times New Roman" pitchFamily="34" charset="0"/>
                <a:ea typeface="Times New Roman" pitchFamily="34" charset="-122"/>
                <a:cs typeface="Times New Roman" pitchFamily="34" charset="-120"/>
              </a:rPr>
              <a:t>4.</a:t>
            </a:r>
            <a:endParaRPr lang="en-US" sz="1600" dirty="0"/>
          </a:p>
        </p:txBody>
      </p:sp>
      <p:sp>
        <p:nvSpPr>
          <p:cNvPr id="17" name="Text 15"/>
          <p:cNvSpPr/>
          <p:nvPr/>
        </p:nvSpPr>
        <p:spPr>
          <a:xfrm>
            <a:off x="1234440" y="4297680"/>
            <a:ext cx="10177272" cy="310896"/>
          </a:xfrm>
          <a:prstGeom prst="rect">
            <a:avLst/>
          </a:prstGeom>
          <a:noFill/>
          <a:ln/>
        </p:spPr>
        <p:txBody>
          <a:bodyPr wrap="square" lIns="0" tIns="0" rIns="0" bIns="0" rtlCol="0" anchor="ctr"/>
          <a:lstStyle/>
          <a:p>
            <a:pPr indent="0" marL="0">
              <a:buNone/>
            </a:pPr>
            <a:r>
              <a:rPr lang="en-US" sz="1600" b="1" dirty="0">
                <a:solidFill>
                  <a:srgbClr val="1A1A1A"/>
                </a:solidFill>
                <a:latin typeface="Times New Roman" pitchFamily="34" charset="0"/>
                <a:ea typeface="Times New Roman" pitchFamily="34" charset="-122"/>
                <a:cs typeface="Times New Roman" pitchFamily="34" charset="-120"/>
              </a:rPr>
              <a:t>Επιλογή εργασίας.</a:t>
            </a:r>
            <a:endParaRPr lang="en-US" sz="1600" dirty="0"/>
          </a:p>
        </p:txBody>
      </p:sp>
      <p:sp>
        <p:nvSpPr>
          <p:cNvPr id="18" name="Text 16"/>
          <p:cNvSpPr/>
          <p:nvPr/>
        </p:nvSpPr>
        <p:spPr>
          <a:xfrm>
            <a:off x="1234440" y="4626864"/>
            <a:ext cx="10177272" cy="548640"/>
          </a:xfrm>
          <a:prstGeom prst="rect">
            <a:avLst/>
          </a:prstGeom>
          <a:noFill/>
          <a:ln/>
        </p:spPr>
        <p:txBody>
          <a:bodyPr wrap="square" lIns="0" tIns="0" rIns="0" bIns="0" rtlCol="0" anchor="ctr"/>
          <a:lstStyle/>
          <a:p>
            <a:pPr algn="just" indent="0" marL="0">
              <a:lnSpc>
                <a:spcPts val="2000"/>
              </a:lnSpc>
              <a:buNone/>
            </a:pPr>
            <a:r>
              <a:rPr lang="en-US" sz="1400" dirty="0">
                <a:solidFill>
                  <a:srgbClr val="1A1A1A"/>
                </a:solidFill>
                <a:latin typeface="Times New Roman" pitchFamily="34" charset="0"/>
                <a:ea typeface="Times New Roman" pitchFamily="34" charset="-122"/>
                <a:cs typeface="Times New Roman" pitchFamily="34" charset="-120"/>
              </a:rPr>
              <a:t>Είναι το M5 η ενδεδειγμένη επιλογή, ή προτιμάται υλοποίηση του NeoMem;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Memory Tiering σε συστήματα CXL</dc:title>
  <dc:subject>PptxGenJS Presentation</dc:subject>
  <dc:creator>el23408</dc:creator>
  <cp:lastModifiedBy>el23408</cp:lastModifiedBy>
  <cp:revision>1</cp:revision>
  <dcterms:created xsi:type="dcterms:W3CDTF">2026-07-24T23:28:31Z</dcterms:created>
  <dcterms:modified xsi:type="dcterms:W3CDTF">2026-07-24T23:28:31Z</dcterms:modified>
</cp:coreProperties>
</file>