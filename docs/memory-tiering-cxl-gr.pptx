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Zipf (Btree / YCSB)</c:v>
                </c:pt>
              </c:strCache>
            </c:strRef>
          </c:tx>
          <c:spPr>
            <a:solidFill>
              <a:srgbClr val="1F3A63"/>
            </a:solidFill>
            <a:ln w="28575" cap="flat">
              <a:solidFill>
                <a:srgbClr val="1F3A63"/>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A63"/>
              </a:solidFill>
              <a:ln w="9525" cap="flat">
                <a:solidFill>
                  <a:srgbClr val="1F3A63"/>
                </a:solidFill>
                <a:prstDash val="solid"/>
                <a:round/>
              </a:ln>
              <a:effectLst/>
            </c:spPr>
          </c:marker>
          <c:cat>
            <c:multiLvlStrRef>
              <c:f>Sheet1!$A$2:$A$9</c:f>
              <c:multiLvlStrCache>
                <c:ptCount val="8"/>
                <c:lvl>
                  <c:pt idx="0">
                    <c:v>1</c:v>
                  </c:pt>
                  <c:pt idx="1">
                    <c:v>4</c:v>
                  </c:pt>
                  <c:pt idx="2">
                    <c:v>8</c:v>
                  </c:pt>
                  <c:pt idx="3">
                    <c:v>16</c:v>
                  </c:pt>
                  <c:pt idx="4">
                    <c:v>24</c:v>
                  </c:pt>
                  <c:pt idx="5">
                    <c:v>32</c:v>
                  </c:pt>
                  <c:pt idx="6">
                    <c:v>48</c:v>
                  </c:pt>
                  <c:pt idx="7">
                    <c:v>64</c:v>
                  </c:pt>
                </c:lvl>
              </c:multiLvlStrCache>
            </c:multiLvlStrRef>
          </c:cat>
          <c:val>
            <c:numRef>
              <c:f>Sheet1!$B$2:$B$9</c:f>
              <c:numCache>
                <c:formatCode>General</c:formatCode>
                <c:ptCount val="8"/>
                <c:pt idx="0">
                  <c:v>31</c:v>
                </c:pt>
                <c:pt idx="1">
                  <c:v>62</c:v>
                </c:pt>
                <c:pt idx="2">
                  <c:v>78</c:v>
                </c:pt>
                <c:pt idx="3">
                  <c:v>88</c:v>
                </c:pt>
                <c:pt idx="4">
                  <c:v>93</c:v>
                </c:pt>
                <c:pt idx="5">
                  <c:v>96</c:v>
                </c:pt>
                <c:pt idx="6">
                  <c:v>99</c:v>
                </c:pt>
                <c:pt idx="7">
                  <c:v>100</c:v>
                </c:pt>
              </c:numCache>
            </c:numRef>
          </c:val>
          <c:smooth val="1"/>
        </c:ser>
        <c:ser>
          <c:idx val="1"/>
          <c:order val="1"/>
          <c:tx>
            <c:strRef>
              <c:f>Sheet1!$C$1</c:f>
              <c:strCache>
                <c:ptCount val="1"/>
                <c:pt idx="0">
                  <c:v>Uniform (GUPS)</c:v>
                </c:pt>
              </c:strCache>
            </c:strRef>
          </c:tx>
          <c:spPr>
            <a:solidFill>
              <a:srgbClr val="8C2A2A"/>
            </a:solidFill>
            <a:ln w="28575" cap="flat">
              <a:solidFill>
                <a:srgbClr val="8C2A2A"/>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C2A2A"/>
              </a:solidFill>
              <a:ln w="9525" cap="flat">
                <a:solidFill>
                  <a:srgbClr val="8C2A2A"/>
                </a:solidFill>
                <a:prstDash val="solid"/>
                <a:round/>
              </a:ln>
              <a:effectLst/>
            </c:spPr>
          </c:marker>
          <c:cat>
            <c:multiLvlStrRef>
              <c:f>Sheet1!$A$2:$A$9</c:f>
              <c:multiLvlStrCache>
                <c:ptCount val="8"/>
                <c:lvl>
                  <c:pt idx="0">
                    <c:v>1</c:v>
                  </c:pt>
                  <c:pt idx="1">
                    <c:v>4</c:v>
                  </c:pt>
                  <c:pt idx="2">
                    <c:v>8</c:v>
                  </c:pt>
                  <c:pt idx="3">
                    <c:v>16</c:v>
                  </c:pt>
                  <c:pt idx="4">
                    <c:v>24</c:v>
                  </c:pt>
                  <c:pt idx="5">
                    <c:v>32</c:v>
                  </c:pt>
                  <c:pt idx="6">
                    <c:v>48</c:v>
                  </c:pt>
                  <c:pt idx="7">
                    <c:v>64</c:v>
                  </c:pt>
                </c:lvl>
              </c:multiLvlStrCache>
            </c:multiLvlStrRef>
          </c:cat>
          <c:val>
            <c:numRef>
              <c:f>Sheet1!$C$2:$C$9</c:f>
              <c:numCache>
                <c:formatCode>General</c:formatCode>
                <c:ptCount val="8"/>
                <c:pt idx="0">
                  <c:v>2</c:v>
                </c:pt>
                <c:pt idx="1">
                  <c:v>6</c:v>
                </c:pt>
                <c:pt idx="2">
                  <c:v>13</c:v>
                </c:pt>
                <c:pt idx="3">
                  <c:v>25</c:v>
                </c:pt>
                <c:pt idx="4">
                  <c:v>38</c:v>
                </c:pt>
                <c:pt idx="5">
                  <c:v>50</c:v>
                </c:pt>
                <c:pt idx="6">
                  <c:v>75</c:v>
                </c:pt>
                <c:pt idx="7">
                  <c:v>100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E6E6E"/>
                    </a:solidFill>
                    <a:latin typeface="Times New Roman"/>
                  </a:defRPr>
                </a:pPr>
                <a:r>
                  <a:rPr sz="1100" b="0" i="0" u="none" strike="noStrike">
                    <a:solidFill>
                      <a:srgbClr val="6E6E6E"/>
                    </a:solidFill>
                    <a:latin typeface="Times New Roman"/>
                  </a:rPr>
                  <a:t>k πιο hot 64 B lines (από 64)</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Times New Roman"/>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3E3E3"/>
              </a:solidFill>
              <a:prstDash val="solid"/>
              <a:round/>
            </a:ln>
          </c:spPr>
        </c:majorGridlines>
        <c:title>
          <c:tx>
            <c:rich>
              <a:bodyPr/>
              <a:lstStyle/>
              <a:p>
                <a:pPr>
                  <a:defRPr sz="1100" b="0" i="0" u="none" strike="noStrike">
                    <a:solidFill>
                      <a:srgbClr val="6E6E6E"/>
                    </a:solidFill>
                    <a:latin typeface="Times New Roman"/>
                  </a:defRPr>
                </a:pPr>
                <a:r>
                  <a:rPr sz="1100" b="0" i="0" u="none" strike="noStrike">
                    <a:solidFill>
                      <a:srgbClr val="6E6E6E"/>
                    </a:solidFill>
                    <a:latin typeface="Times New Roman"/>
                  </a:rPr>
                  <a:t>cumulative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Times New Roman"/>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A1A1A"/>
              </a:solidFill>
              <a:latin typeface="Times New Roman"/>
              <a:cs typeface="Times New Roman"/>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λεπτά ομιλία. Στόχος: δείχνω ότι κατάλαβα το πρόβλημα και έχω πλάνο. Δεν έχω ακόμα αποτελέσματα, και το λέω ανοιχτά.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Οδικός χάρτης. Το βάρος πέφτει στις ενότητες 4 και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Ένα νούμερο να μείνει: ~25% stranded DRAM.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Η DRAM στην κάρτα είναι κανονική DDR5. Το interconnect είναι ο φόρος — γι' αυτό υπάρχει tiering.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Γιατί δύσκολο το promotion: πρέπει να ξέρεις ότι ένα page είναι hot ΤΩΡΑ.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 timeliness × overhead — διάλεξε δύο.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profiling granularity ≠ migration granularity. Το M5 profiling στα 64 B, migration στα 4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μsec έναντι ns. Χιλιαπλάσιο κόστος. Ένα λάθος promotion είναι επιζήμιο.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slide του granularity. Το access-density CDF (Σχήμα 7) θα το μετρήσει στην πράξη.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line caching δεν είναι δωρεάν: conflict misses, tag storage, 1:1 capacity. Γέφυρα προς Memstrata.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ότι δεν υπάρχει καθαρός νικητής είναι ο λόγος που υπάρχουν 3 διαφορετικά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Οι επόμενες 3 διαφάνειες είναι το detail ανά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επιλεγμένο paper. HPT+HWT, top-K counters. Profiling 64B, migration 4KB.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Δεύτερη επιλογή. Sketch εύκολο, αλλά το ενδιαφέρον είναι στο kernel daemon.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αντιπαράδειγμα. Line granularity σε silicon, και τι κοστίζει. Δεν το υλοποιώ.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Ανοιχτό θέμα: χρειάζομαι το repo του CXLRAMSim — δεν βρήκα δημόσιο.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Πάντα αναφέρω και τα δύο bounds δίπλα σε κάθε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Σκίτσο, όχι δεδομένα — το δηλώνω. Ο Zipf δείχνει συγκέντρωση· το GUPS είναι negative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vs stretch. Η Φάση 2 είναι το de-risking.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Έτοιμη απάντηση για «γιατί όχι κατευθείαν cache lines»: δεν υπάρχει PTE για line → hardware indirection → Flat Memory Mode → conflict misses/capacity → αυτό λύνει το Memstrata.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868680"/>
            <a:ext cx="10634472" cy="320040"/>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Προηγμένα Θέματα Αρχιτεκτονικής Υπολογιστών</a:t>
            </a:r>
            <a:endParaRPr lang="en-US" sz="1400" dirty="0"/>
          </a:p>
        </p:txBody>
      </p:sp>
      <p:sp>
        <p:nvSpPr>
          <p:cNvPr id="3" name="Text 1"/>
          <p:cNvSpPr/>
          <p:nvPr/>
        </p:nvSpPr>
        <p:spPr>
          <a:xfrm>
            <a:off x="777240" y="1371600"/>
            <a:ext cx="10634472" cy="731520"/>
          </a:xfrm>
          <a:prstGeom prst="rect">
            <a:avLst/>
          </a:prstGeom>
          <a:noFill/>
          <a:ln/>
        </p:spPr>
        <p:txBody>
          <a:bodyPr wrap="square" lIns="0" tIns="0" rIns="0" bIns="0" rtlCol="0" anchor="ctr"/>
          <a:lstStyle/>
          <a:p>
            <a:pPr indent="0" marL="0">
              <a:buNone/>
            </a:pPr>
            <a:r>
              <a:rPr lang="en-US" sz="4000" b="1" dirty="0">
                <a:solidFill>
                  <a:srgbClr val="1A1A1A"/>
                </a:solidFill>
                <a:latin typeface="Times New Roman" pitchFamily="34" charset="0"/>
                <a:ea typeface="Times New Roman" pitchFamily="34" charset="-122"/>
                <a:cs typeface="Times New Roman" pitchFamily="34" charset="-120"/>
              </a:rPr>
              <a:t>Memory Tiering σε συστήματα CXL</a:t>
            </a:r>
            <a:endParaRPr lang="en-US" sz="4000" dirty="0"/>
          </a:p>
        </p:txBody>
      </p:sp>
      <p:sp>
        <p:nvSpPr>
          <p:cNvPr id="4" name="Text 2"/>
          <p:cNvSpPr/>
          <p:nvPr/>
        </p:nvSpPr>
        <p:spPr>
          <a:xfrm>
            <a:off x="777240" y="2148840"/>
            <a:ext cx="10634472" cy="658368"/>
          </a:xfrm>
          <a:prstGeom prst="rect">
            <a:avLst/>
          </a:prstGeom>
          <a:noFill/>
          <a:ln/>
        </p:spPr>
        <p:txBody>
          <a:bodyPr wrap="square" lIns="0" tIns="0" rIns="0" bIns="0" rtlCol="0" anchor="ctr"/>
          <a:lstStyle/>
          <a:p>
            <a:pPr indent="0" marL="0">
              <a:lnSpc>
                <a:spcPts val="2400"/>
              </a:lnSpc>
              <a:buNone/>
            </a:pPr>
            <a:r>
              <a:rPr lang="en-US" sz="1800" i="1" dirty="0">
                <a:solidFill>
                  <a:srgbClr val="1F3A63"/>
                </a:solidFill>
                <a:latin typeface="Times New Roman" pitchFamily="34" charset="0"/>
                <a:ea typeface="Times New Roman" pitchFamily="34" charset="-122"/>
                <a:cs typeface="Times New Roman" pitchFamily="34" charset="-120"/>
              </a:rPr>
              <a:t>Προσομοίωση τεχνικών memory tiering με υποστήριξη hardware, πάνω στον προσομοιωτή CXLRAMSim</a:t>
            </a:r>
            <a:endParaRPr lang="en-US" sz="1800" dirty="0"/>
          </a:p>
        </p:txBody>
      </p:sp>
      <p:sp>
        <p:nvSpPr>
          <p:cNvPr id="5" name="Shape 3"/>
          <p:cNvSpPr/>
          <p:nvPr/>
        </p:nvSpPr>
        <p:spPr>
          <a:xfrm>
            <a:off x="777240" y="2907792"/>
            <a:ext cx="10634472" cy="12802"/>
          </a:xfrm>
          <a:prstGeom prst="rect">
            <a:avLst/>
          </a:prstGeom>
          <a:solidFill>
            <a:srgbClr val="BFBFBF"/>
          </a:solidFill>
          <a:ln/>
        </p:spPr>
      </p:sp>
      <p:sp>
        <p:nvSpPr>
          <p:cNvPr id="6" name="Text 4"/>
          <p:cNvSpPr/>
          <p:nvPr/>
        </p:nvSpPr>
        <p:spPr>
          <a:xfrm>
            <a:off x="777240" y="3063240"/>
            <a:ext cx="1828800" cy="274320"/>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Περίληψη.</a:t>
            </a:r>
            <a:endParaRPr lang="en-US" sz="1400" dirty="0"/>
          </a:p>
        </p:txBody>
      </p:sp>
      <p:sp>
        <p:nvSpPr>
          <p:cNvPr id="7" name="Text 5"/>
          <p:cNvSpPr/>
          <p:nvPr/>
        </p:nvSpPr>
        <p:spPr>
          <a:xfrm>
            <a:off x="1097280" y="3364992"/>
            <a:ext cx="10314432" cy="1371600"/>
          </a:xfrm>
          <a:prstGeom prst="rect">
            <a:avLst/>
          </a:prstGeom>
          <a:noFill/>
          <a:ln/>
        </p:spPr>
        <p:txBody>
          <a:bodyPr wrap="square" lIns="0" tIns="0" rIns="0" bIns="0" rtlCol="0" anchor="ctr"/>
          <a:lstStyle/>
          <a:p>
            <a:pPr algn="just" indent="0" marL="0">
              <a:lnSpc>
                <a:spcPts val="2100"/>
              </a:lnSpc>
              <a:buNone/>
            </a:pPr>
            <a:r>
              <a:rPr lang="en-US" sz="1450" dirty="0">
                <a:solidFill>
                  <a:srgbClr val="1A1A1A"/>
                </a:solidFill>
                <a:latin typeface="Times New Roman" pitchFamily="34" charset="0"/>
                <a:ea typeface="Times New Roman" pitchFamily="34" charset="-122"/>
                <a:cs typeface="Times New Roman" pitchFamily="34" charset="-120"/>
              </a:rPr>
              <a:t>Οι μνήμες CXL δίνουν φθηνή capacity πάνω από το PCIe, αλλά με ~2–3× μεγαλύτερο latency. Έτσι προκύπτει ένα σύστημα μνήμης δύο επιπέδων (tiering). Η εργασία δείχνει, μέσα στον CXLRAMSim, γιατί το page migration των 4 KB από το OS δεν φτάνει για να καλύψει το χάσμα απόδοσης με την τοπική DRAM, και εξετάζει λύσεις σε hardware (M5, NeoMem, Memstrata) που κάνουν profiling μέσα στη συσκευή CXL.</a:t>
            </a:r>
            <a:endParaRPr lang="en-US" sz="1450" dirty="0"/>
          </a:p>
        </p:txBody>
      </p:sp>
      <p:sp>
        <p:nvSpPr>
          <p:cNvPr id="8" name="Text 6"/>
          <p:cNvSpPr/>
          <p:nvPr/>
        </p:nvSpPr>
        <p:spPr>
          <a:xfrm>
            <a:off x="1097280" y="4709160"/>
            <a:ext cx="10314432" cy="292608"/>
          </a:xfrm>
          <a:prstGeom prst="rect">
            <a:avLst/>
          </a:prstGeom>
          <a:noFill/>
          <a:ln/>
        </p:spPr>
        <p:txBody>
          <a:bodyPr wrap="square" lIns="0" tIns="0" rIns="0" bIns="0" rtlCol="0" anchor="ctr"/>
          <a:lstStyle/>
          <a:p>
            <a:pPr indent="0" marL="0">
              <a:buNone/>
            </a:pPr>
            <a:r>
              <a:rPr lang="en-US" sz="1300" b="1" dirty="0">
                <a:solidFill>
                  <a:srgbClr val="6E6E6E"/>
                </a:solidFill>
                <a:latin typeface="Times New Roman" pitchFamily="34" charset="0"/>
                <a:ea typeface="Times New Roman" pitchFamily="34" charset="-122"/>
                <a:cs typeface="Times New Roman" pitchFamily="34" charset="-120"/>
              </a:rPr>
              <a:t>Keywords:  </a:t>
            </a:r>
            <a:pPr indent="0" marL="0">
              <a:buNone/>
            </a:pPr>
            <a:r>
              <a:rPr lang="en-US" sz="1300" i="1" dirty="0">
                <a:solidFill>
                  <a:srgbClr val="6E6E6E"/>
                </a:solidFill>
                <a:latin typeface="Times New Roman" pitchFamily="34" charset="0"/>
                <a:ea typeface="Times New Roman" pitchFamily="34" charset="-122"/>
                <a:cs typeface="Times New Roman" pitchFamily="34" charset="-120"/>
              </a:rPr>
              <a:t>CXL · memory tiering · page migration · hardware profiling · granularity</a:t>
            </a:r>
            <a:endParaRPr lang="en-US" sz="1300" dirty="0"/>
          </a:p>
        </p:txBody>
      </p:sp>
      <p:sp>
        <p:nvSpPr>
          <p:cNvPr id="9" name="Shape 7"/>
          <p:cNvSpPr/>
          <p:nvPr/>
        </p:nvSpPr>
        <p:spPr>
          <a:xfrm>
            <a:off x="777240" y="5257800"/>
            <a:ext cx="10634472" cy="12802"/>
          </a:xfrm>
          <a:prstGeom prst="rect">
            <a:avLst/>
          </a:prstGeom>
          <a:solidFill>
            <a:srgbClr val="BFBFBF"/>
          </a:solidFill>
          <a:ln/>
        </p:spPr>
      </p:sp>
      <p:sp>
        <p:nvSpPr>
          <p:cNvPr id="10" name="Text 8"/>
          <p:cNvSpPr/>
          <p:nvPr/>
        </p:nvSpPr>
        <p:spPr>
          <a:xfrm>
            <a:off x="777240" y="5440680"/>
            <a:ext cx="10634472" cy="320040"/>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el23408</a:t>
            </a:r>
            <a:pPr indent="0" marL="0">
              <a:buNone/>
            </a:pPr>
            <a:r>
              <a:rPr lang="en-US" sz="1400" dirty="0">
                <a:solidFill>
                  <a:srgbClr val="1A1A1A"/>
                </a:solidFill>
                <a:latin typeface="Times New Roman" pitchFamily="34" charset="0"/>
                <a:ea typeface="Times New Roman" pitchFamily="34" charset="-122"/>
                <a:cs typeface="Times New Roman" pitchFamily="34" charset="-120"/>
              </a:rPr>
              <a:t>   ·   Εθνικό Μετσόβιο Πολυτεχνείο   ·   Ιούλιος 2026</a:t>
            </a:r>
            <a:endParaRPr lang="en-US" sz="1400" dirty="0"/>
          </a:p>
        </p:txBody>
      </p:sp>
      <p:sp>
        <p:nvSpPr>
          <p:cNvPr id="11" name="Text 9"/>
          <p:cNvSpPr/>
          <p:nvPr/>
        </p:nvSpPr>
        <p:spPr>
          <a:xfrm>
            <a:off x="777240" y="5806440"/>
            <a:ext cx="10634472" cy="274320"/>
          </a:xfrm>
          <a:prstGeom prst="rect">
            <a:avLst/>
          </a:prstGeom>
          <a:noFill/>
          <a:ln/>
        </p:spPr>
        <p:txBody>
          <a:bodyPr wrap="square" lIns="0" tIns="0" rIns="0" bIns="0" rtlCol="0" anchor="ctr"/>
          <a:lstStyle/>
          <a:p>
            <a:pPr indent="0" marL="0">
              <a:buNone/>
            </a:pPr>
            <a:r>
              <a:rPr lang="en-US" sz="1100" dirty="0">
                <a:solidFill>
                  <a:srgbClr val="6E6E6E"/>
                </a:solidFill>
                <a:latin typeface="Courier New" pitchFamily="34" charset="0"/>
                <a:ea typeface="Courier New" pitchFamily="34" charset="-122"/>
                <a:cs typeface="Courier New" pitchFamily="34" charset="-120"/>
              </a:rPr>
              <a:t>github.com/Zajason/memory_tiering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pPr indent="0" marL="0">
              <a:buNone/>
            </a:pPr>
            <a:r>
              <a:rPr lang="en-US" sz="2300" b="1" dirty="0">
                <a:solidFill>
                  <a:srgbClr val="1A1A1A"/>
                </a:solidFill>
                <a:latin typeface="Times New Roman" pitchFamily="34" charset="0"/>
                <a:ea typeface="Times New Roman" pitchFamily="34" charset="-122"/>
                <a:cs typeface="Times New Roman" pitchFamily="34" charset="-120"/>
              </a:rPr>
              <a:t>Περιεχόμενα</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Περιεχόμενα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2 / 20</a:t>
            </a:r>
            <a:endParaRPr lang="en-US" sz="950" dirty="0"/>
          </a:p>
        </p:txBody>
      </p:sp>
      <p:sp>
        <p:nvSpPr>
          <p:cNvPr id="7" name="Text 5"/>
          <p:cNvSpPr/>
          <p:nvPr/>
        </p:nvSpPr>
        <p:spPr>
          <a:xfrm>
            <a:off x="1051560" y="1508760"/>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1.</a:t>
            </a:r>
            <a:endParaRPr lang="en-US" sz="2000" dirty="0"/>
          </a:p>
        </p:txBody>
      </p:sp>
      <p:sp>
        <p:nvSpPr>
          <p:cNvPr id="8" name="Text 6"/>
          <p:cNvSpPr/>
          <p:nvPr/>
        </p:nvSpPr>
        <p:spPr>
          <a:xfrm>
            <a:off x="1691640" y="1508760"/>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Κίνητρο</a:t>
            </a:r>
            <a:endParaRPr lang="en-US" sz="1800" dirty="0"/>
          </a:p>
        </p:txBody>
      </p:sp>
      <p:sp>
        <p:nvSpPr>
          <p:cNvPr id="9" name="Text 7"/>
          <p:cNvSpPr/>
          <p:nvPr/>
        </p:nvSpPr>
        <p:spPr>
          <a:xfrm>
            <a:off x="5989320" y="1508760"/>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γιατί CXL, και ποιο είναι το κόστος του</a:t>
            </a:r>
            <a:endParaRPr lang="en-US" sz="1450" dirty="0"/>
          </a:p>
        </p:txBody>
      </p:sp>
      <p:sp>
        <p:nvSpPr>
          <p:cNvPr id="10" name="Text 8"/>
          <p:cNvSpPr/>
          <p:nvPr/>
        </p:nvSpPr>
        <p:spPr>
          <a:xfrm>
            <a:off x="1051560" y="2167128"/>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2.</a:t>
            </a:r>
            <a:endParaRPr lang="en-US" sz="2000" dirty="0"/>
          </a:p>
        </p:txBody>
      </p:sp>
      <p:sp>
        <p:nvSpPr>
          <p:cNvPr id="11" name="Text 9"/>
          <p:cNvSpPr/>
          <p:nvPr/>
        </p:nvSpPr>
        <p:spPr>
          <a:xfrm>
            <a:off x="1691640" y="2167128"/>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Το πρόβλημα του tiering</a:t>
            </a:r>
            <a:endParaRPr lang="en-US" sz="1800" dirty="0"/>
          </a:p>
        </p:txBody>
      </p:sp>
      <p:sp>
        <p:nvSpPr>
          <p:cNvPr id="12" name="Text 10"/>
          <p:cNvSpPr/>
          <p:nvPr/>
        </p:nvSpPr>
        <p:spPr>
          <a:xfrm>
            <a:off x="5989320" y="2167128"/>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promotion vs demotion</a:t>
            </a:r>
            <a:endParaRPr lang="en-US" sz="1450" dirty="0"/>
          </a:p>
        </p:txBody>
      </p:sp>
      <p:sp>
        <p:nvSpPr>
          <p:cNvPr id="13" name="Text 11"/>
          <p:cNvSpPr/>
          <p:nvPr/>
        </p:nvSpPr>
        <p:spPr>
          <a:xfrm>
            <a:off x="1051560" y="2825496"/>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3.</a:t>
            </a:r>
            <a:endParaRPr lang="en-US" sz="2000" dirty="0"/>
          </a:p>
        </p:txBody>
      </p:sp>
      <p:sp>
        <p:nvSpPr>
          <p:cNvPr id="14" name="Text 12"/>
          <p:cNvSpPr/>
          <p:nvPr/>
        </p:nvSpPr>
        <p:spPr>
          <a:xfrm>
            <a:off x="1691640" y="2825496"/>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Γιατί δεν δουλεύει σήμερα</a:t>
            </a:r>
            <a:endParaRPr lang="en-US" sz="1800" dirty="0"/>
          </a:p>
        </p:txBody>
      </p:sp>
      <p:sp>
        <p:nvSpPr>
          <p:cNvPr id="15" name="Text 13"/>
          <p:cNvSpPr/>
          <p:nvPr/>
        </p:nvSpPr>
        <p:spPr>
          <a:xfrm>
            <a:off x="5989320" y="2825496"/>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profiling, granularity, κόστος του migration</a:t>
            </a:r>
            <a:endParaRPr lang="en-US" sz="1450" dirty="0"/>
          </a:p>
        </p:txBody>
      </p:sp>
      <p:sp>
        <p:nvSpPr>
          <p:cNvPr id="16" name="Text 14"/>
          <p:cNvSpPr/>
          <p:nvPr/>
        </p:nvSpPr>
        <p:spPr>
          <a:xfrm>
            <a:off x="1051560" y="3483864"/>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4.</a:t>
            </a:r>
            <a:endParaRPr lang="en-US" sz="2000" dirty="0"/>
          </a:p>
        </p:txBody>
      </p:sp>
      <p:sp>
        <p:nvSpPr>
          <p:cNvPr id="17" name="Text 15"/>
          <p:cNvSpPr/>
          <p:nvPr/>
        </p:nvSpPr>
        <p:spPr>
          <a:xfrm>
            <a:off x="1691640" y="3483864"/>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Pages vs lines</a:t>
            </a:r>
            <a:endParaRPr lang="en-US" sz="1800" dirty="0"/>
          </a:p>
        </p:txBody>
      </p:sp>
      <p:sp>
        <p:nvSpPr>
          <p:cNvPr id="18" name="Text 16"/>
          <p:cNvSpPr/>
          <p:nvPr/>
        </p:nvSpPr>
        <p:spPr>
          <a:xfrm>
            <a:off x="5989320" y="3483864"/>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το κρίσιμο trade-off — σε τι εστιάζω</a:t>
            </a:r>
            <a:endParaRPr lang="en-US" sz="1450" dirty="0"/>
          </a:p>
        </p:txBody>
      </p:sp>
      <p:sp>
        <p:nvSpPr>
          <p:cNvPr id="19" name="Text 17"/>
          <p:cNvSpPr/>
          <p:nvPr/>
        </p:nvSpPr>
        <p:spPr>
          <a:xfrm>
            <a:off x="1051560" y="4142232"/>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5.</a:t>
            </a:r>
            <a:endParaRPr lang="en-US" sz="2000" dirty="0"/>
          </a:p>
        </p:txBody>
      </p:sp>
      <p:sp>
        <p:nvSpPr>
          <p:cNvPr id="20" name="Text 18"/>
          <p:cNvSpPr/>
          <p:nvPr/>
        </p:nvSpPr>
        <p:spPr>
          <a:xfrm>
            <a:off x="1691640" y="4142232"/>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Τα σχετικά papers</a:t>
            </a:r>
            <a:endParaRPr lang="en-US" sz="1800" dirty="0"/>
          </a:p>
        </p:txBody>
      </p:sp>
      <p:sp>
        <p:nvSpPr>
          <p:cNvPr id="21" name="Text 19"/>
          <p:cNvSpPr/>
          <p:nvPr/>
        </p:nvSpPr>
        <p:spPr>
          <a:xfrm>
            <a:off x="5989320" y="4142232"/>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M5, NeoMem, Memstrata</a:t>
            </a:r>
            <a:endParaRPr lang="en-US" sz="1450" dirty="0"/>
          </a:p>
        </p:txBody>
      </p:sp>
      <p:sp>
        <p:nvSpPr>
          <p:cNvPr id="22" name="Text 20"/>
          <p:cNvSpPr/>
          <p:nvPr/>
        </p:nvSpPr>
        <p:spPr>
          <a:xfrm>
            <a:off x="1051560" y="4800600"/>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6.</a:t>
            </a:r>
            <a:endParaRPr lang="en-US" sz="2000" dirty="0"/>
          </a:p>
        </p:txBody>
      </p:sp>
      <p:sp>
        <p:nvSpPr>
          <p:cNvPr id="23" name="Text 21"/>
          <p:cNvSpPr/>
          <p:nvPr/>
        </p:nvSpPr>
        <p:spPr>
          <a:xfrm>
            <a:off x="1691640" y="4800600"/>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Μεθοδολογία &amp; πλάνο</a:t>
            </a:r>
            <a:endParaRPr lang="en-US" sz="1800" dirty="0"/>
          </a:p>
        </p:txBody>
      </p:sp>
      <p:sp>
        <p:nvSpPr>
          <p:cNvPr id="24" name="Text 22"/>
          <p:cNvSpPr/>
          <p:nvPr/>
        </p:nvSpPr>
        <p:spPr>
          <a:xfrm>
            <a:off x="5989320" y="4800600"/>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CXLRAMSim, πείραμα, φάσεις</a:t>
            </a:r>
            <a:endParaRPr lang="en-US" sz="1450" dirty="0"/>
          </a:p>
        </p:txBody>
      </p:sp>
      <p:sp>
        <p:nvSpPr>
          <p:cNvPr id="25" name="Text 23"/>
          <p:cNvSpPr/>
          <p:nvPr/>
        </p:nvSpPr>
        <p:spPr>
          <a:xfrm>
            <a:off x="1051560" y="5458968"/>
            <a:ext cx="548640" cy="457200"/>
          </a:xfrm>
          <a:prstGeom prst="rect">
            <a:avLst/>
          </a:prstGeom>
          <a:noFill/>
          <a:ln/>
        </p:spPr>
        <p:txBody>
          <a:bodyPr wrap="square" lIns="0" tIns="0" rIns="0" bIns="0" rtlCol="0" anchor="ctr"/>
          <a:lstStyle/>
          <a:p>
            <a:pPr indent="0" marL="0">
              <a:buNone/>
            </a:pPr>
            <a:r>
              <a:rPr lang="en-US" sz="2000" b="1" dirty="0">
                <a:solidFill>
                  <a:srgbClr val="1F3A63"/>
                </a:solidFill>
                <a:latin typeface="Times New Roman" pitchFamily="34" charset="0"/>
                <a:ea typeface="Times New Roman" pitchFamily="34" charset="-122"/>
                <a:cs typeface="Times New Roman" pitchFamily="34" charset="-120"/>
              </a:rPr>
              <a:t>7.</a:t>
            </a:r>
            <a:endParaRPr lang="en-US" sz="2000" dirty="0"/>
          </a:p>
        </p:txBody>
      </p:sp>
      <p:sp>
        <p:nvSpPr>
          <p:cNvPr id="26" name="Text 24"/>
          <p:cNvSpPr/>
          <p:nvPr/>
        </p:nvSpPr>
        <p:spPr>
          <a:xfrm>
            <a:off x="1691640" y="5458968"/>
            <a:ext cx="4206240" cy="457200"/>
          </a:xfrm>
          <a:prstGeom prst="rect">
            <a:avLst/>
          </a:prstGeom>
          <a:noFill/>
          <a:ln/>
        </p:spPr>
        <p:txBody>
          <a:bodyPr wrap="square" lIns="0" tIns="0" rIns="0" bIns="0" rtlCol="0" anchor="ctr"/>
          <a:lstStyle/>
          <a:p>
            <a:pPr indent="0" marL="0">
              <a:buNone/>
            </a:pPr>
            <a:r>
              <a:rPr lang="en-US" sz="1800" dirty="0">
                <a:solidFill>
                  <a:srgbClr val="1A1A1A"/>
                </a:solidFill>
                <a:latin typeface="Times New Roman" pitchFamily="34" charset="0"/>
                <a:ea typeface="Times New Roman" pitchFamily="34" charset="-122"/>
                <a:cs typeface="Times New Roman" pitchFamily="34" charset="-120"/>
              </a:rPr>
              <a:t>Ανοιχτά ερωτήματα</a:t>
            </a:r>
            <a:endParaRPr lang="en-US" sz="1800" dirty="0"/>
          </a:p>
        </p:txBody>
      </p:sp>
      <p:sp>
        <p:nvSpPr>
          <p:cNvPr id="27" name="Text 25"/>
          <p:cNvSpPr/>
          <p:nvPr/>
        </p:nvSpPr>
        <p:spPr>
          <a:xfrm>
            <a:off x="5989320" y="5458968"/>
            <a:ext cx="5669280" cy="457200"/>
          </a:xfrm>
          <a:prstGeom prst="rect">
            <a:avLst/>
          </a:prstGeom>
          <a:noFill/>
          <a:ln/>
        </p:spPr>
        <p:txBody>
          <a:bodyPr wrap="square" lIns="0" tIns="0" rIns="0" bIns="0" rtlCol="0" anchor="ctr"/>
          <a:lstStyle/>
          <a:p>
            <a:pPr indent="0" marL="0">
              <a:buNone/>
            </a:pPr>
            <a:r>
              <a:rPr lang="en-US" sz="1450" i="1" dirty="0">
                <a:solidFill>
                  <a:srgbClr val="6E6E6E"/>
                </a:solidFill>
                <a:latin typeface="Times New Roman" pitchFamily="34" charset="0"/>
                <a:ea typeface="Times New Roman" pitchFamily="34" charset="-122"/>
                <a:cs typeface="Times New Roman" pitchFamily="34" charset="-120"/>
              </a:rPr>
              <a:t>για συζήτηση</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§1.1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Η μνήμη είναι το bottleneck</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1. Κίνητρο</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3 / 20</a:t>
            </a:r>
            <a:endParaRPr lang="en-US" sz="950" dirty="0"/>
          </a:p>
        </p:txBody>
      </p:sp>
      <p:sp>
        <p:nvSpPr>
          <p:cNvPr id="7" name="Text 5"/>
          <p:cNvSpPr/>
          <p:nvPr/>
        </p:nvSpPr>
        <p:spPr>
          <a:xfrm>
            <a:off x="777240" y="1325880"/>
            <a:ext cx="10634472" cy="100584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Η capacity της μνήμης ανά socket έχει κολλήσει: λίγα DIMM slots, λίγα pins στο DDR. Για παραπάνω μνήμη πρέπει να πάρεις κι άλλους επεξεργαστές που δεν σου χρειάζονται. Το CXL το σπάει αυτό: βάζεις μνήμη πάνω από το PCIe, ανεξάρτητα από τα cores.</a:t>
            </a:r>
            <a:endParaRPr lang="en-US" sz="1600" dirty="0"/>
          </a:p>
        </p:txBody>
      </p:sp>
      <p:sp>
        <p:nvSpPr>
          <p:cNvPr id="8" name="Shape 6"/>
          <p:cNvSpPr/>
          <p:nvPr/>
        </p:nvSpPr>
        <p:spPr>
          <a:xfrm>
            <a:off x="777240" y="2651760"/>
            <a:ext cx="10634472" cy="1234440"/>
          </a:xfrm>
          <a:prstGeom prst="rect">
            <a:avLst/>
          </a:prstGeom>
          <a:solidFill>
            <a:srgbClr val="F0F0EE"/>
          </a:solidFill>
          <a:ln/>
        </p:spPr>
      </p:sp>
      <p:sp>
        <p:nvSpPr>
          <p:cNvPr id="9" name="Text 7"/>
          <p:cNvSpPr/>
          <p:nvPr/>
        </p:nvSpPr>
        <p:spPr>
          <a:xfrm>
            <a:off x="960120" y="2761488"/>
            <a:ext cx="1026871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Το νούμερο — stranded μνήμη</a:t>
            </a:r>
            <a:endParaRPr lang="en-US" sz="1400" dirty="0"/>
          </a:p>
        </p:txBody>
      </p:sp>
      <p:sp>
        <p:nvSpPr>
          <p:cNvPr id="10" name="Text 8"/>
          <p:cNvSpPr/>
          <p:nvPr/>
        </p:nvSpPr>
        <p:spPr>
          <a:xfrm>
            <a:off x="960120" y="3072384"/>
            <a:ext cx="10268712" cy="70408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Σε μεγάλα cloud datacenters, ~25% της DRAM μένει αχρησιμοποίητο (stranded), γιατί τα cores του μηχανήματος έχουν ήδη νοικιαστεί σε άλλους. Το CXL στοχεύει ακριβώς σε αυτή τη χαμένη capacity (Azure — Pond, ASPLOS ’23).</a:t>
            </a:r>
            <a:endParaRPr lang="en-US" sz="1300" dirty="0"/>
          </a:p>
        </p:txBody>
      </p:sp>
      <p:sp>
        <p:nvSpPr>
          <p:cNvPr id="11" name="Text 9"/>
          <p:cNvSpPr/>
          <p:nvPr/>
        </p:nvSpPr>
        <p:spPr>
          <a:xfrm>
            <a:off x="777240" y="4206240"/>
            <a:ext cx="10634472" cy="548640"/>
          </a:xfrm>
          <a:prstGeom prst="rect">
            <a:avLst/>
          </a:prstGeom>
          <a:noFill/>
          <a:ln/>
        </p:spPr>
        <p:txBody>
          <a:bodyPr wrap="square" lIns="0" tIns="0" rIns="0" bIns="0" rtlCol="0" anchor="ctr"/>
          <a:lstStyle/>
          <a:p>
            <a:pPr indent="0" marL="0">
              <a:lnSpc>
                <a:spcPts val="2200"/>
              </a:lnSpc>
              <a:buNone/>
            </a:pPr>
            <a:r>
              <a:rPr lang="en-US" sz="1500" i="1" dirty="0">
                <a:solidFill>
                  <a:srgbClr val="6E6E6E"/>
                </a:solidFill>
                <a:latin typeface="Times New Roman" pitchFamily="34" charset="0"/>
                <a:ea typeface="Times New Roman" pitchFamily="34" charset="-122"/>
                <a:cs typeface="Times New Roman" pitchFamily="34" charset="-120"/>
              </a:rPr>
              <a:t>Το κίνητρο είναι η φθηνή, κοινή capacity. Το κόστος είναι το latency — το βλέπουμε στην επόμενη διαφάνεια.</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§1.2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Το κόστος: το latency της CXL</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1. Κίνητρο</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4 / 20</a:t>
            </a:r>
            <a:endParaRPr lang="en-US" sz="950" dirty="0"/>
          </a:p>
        </p:txBody>
      </p:sp>
      <p:sp>
        <p:nvSpPr>
          <p:cNvPr id="7" name="Text 5"/>
          <p:cNvSpPr/>
          <p:nvPr/>
        </p:nvSpPr>
        <p:spPr>
          <a:xfrm>
            <a:off x="777240" y="1280160"/>
            <a:ext cx="6126480"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1: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τυπικές τιμές latency και bandwidth ανά διαδρομή.</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6126480" cy="914400"/>
        </p:xfrm>
        <a:graphic>
          <a:graphicData uri="http://schemas.openxmlformats.org/drawingml/2006/table">
            <a:tbl>
              <a:tblPr/>
              <a:tblGrid>
                <a:gridCol w="2651760"/>
                <a:gridCol w="1828800"/>
                <a:gridCol w="1645920"/>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Διαδρομή</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Latency</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Bandwidth</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Τοπική DDR5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80–100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30–50 GB/s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Άλλο NUMA socket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140–180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CXL (x8 Gen5)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b="1" dirty="0">
                          <a:solidFill>
                            <a:srgbClr val="8C2A2A"/>
                          </a:solidFill>
                          <a:latin typeface="Courier New" pitchFamily="34" charset="0"/>
                          <a:ea typeface="Courier New" pitchFamily="34" charset="-122"/>
                          <a:cs typeface="Courier New" pitchFamily="34" charset="-120"/>
                        </a:rPr>
                        <a:t>250–400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25–30 GB/s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6126480" cy="20117"/>
          </a:xfrm>
          <a:prstGeom prst="rect">
            <a:avLst/>
          </a:prstGeom>
          <a:solidFill>
            <a:srgbClr val="1A1A1A"/>
          </a:solidFill>
          <a:ln/>
        </p:spPr>
      </p:sp>
      <p:sp>
        <p:nvSpPr>
          <p:cNvPr id="10" name="Shape 7"/>
          <p:cNvSpPr/>
          <p:nvPr/>
        </p:nvSpPr>
        <p:spPr>
          <a:xfrm>
            <a:off x="777240" y="1984248"/>
            <a:ext cx="6126480" cy="9144"/>
          </a:xfrm>
          <a:prstGeom prst="rect">
            <a:avLst/>
          </a:prstGeom>
          <a:solidFill>
            <a:srgbClr val="BFBFBF"/>
          </a:solidFill>
          <a:ln/>
        </p:spPr>
      </p:sp>
      <p:sp>
        <p:nvSpPr>
          <p:cNvPr id="11" name="Shape 8"/>
          <p:cNvSpPr/>
          <p:nvPr/>
        </p:nvSpPr>
        <p:spPr>
          <a:xfrm>
            <a:off x="777240" y="3136392"/>
            <a:ext cx="6126480" cy="20117"/>
          </a:xfrm>
          <a:prstGeom prst="rect">
            <a:avLst/>
          </a:prstGeom>
          <a:solidFill>
            <a:srgbClr val="1A1A1A"/>
          </a:solidFill>
          <a:ln/>
        </p:spPr>
      </p:sp>
      <p:sp>
        <p:nvSpPr>
          <p:cNvPr id="12" name="Text 9"/>
          <p:cNvSpPr/>
          <p:nvPr/>
        </p:nvSpPr>
        <p:spPr>
          <a:xfrm>
            <a:off x="777240" y="3566160"/>
            <a:ext cx="6126480" cy="1554480"/>
          </a:xfrm>
          <a:prstGeom prst="rect">
            <a:avLst/>
          </a:prstGeom>
          <a:noFill/>
          <a:ln/>
        </p:spPr>
        <p:txBody>
          <a:bodyPr wrap="square" lIns="0" tIns="0" rIns="0" bIns="0" rtlCol="0" anchor="ctr"/>
          <a:lstStyle/>
          <a:p>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Το latency είναι </a:t>
            </a:r>
            <a:pPr algn="just" indent="0" marL="0">
              <a:lnSpc>
                <a:spcPts val="2300"/>
              </a:lnSpc>
              <a:buNone/>
            </a:pPr>
            <a:r>
              <a:rPr lang="en-US" sz="1500" b="1" dirty="0">
                <a:solidFill>
                  <a:srgbClr val="8C2A2A"/>
                </a:solidFill>
                <a:latin typeface="Times New Roman" pitchFamily="34" charset="0"/>
                <a:ea typeface="Times New Roman" pitchFamily="34" charset="-122"/>
                <a:cs typeface="Times New Roman" pitchFamily="34" charset="-120"/>
              </a:rPr>
              <a:t>2–3× μεγαλύτερο</a:t>
            </a:r>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 από την τοπική DDR, παρόλο που η DRAM πάνω στην κάρτα είναι κοινή DDR5. Το κόστος το βάζει το interconnect, όχι η μνήμη. Οπότε τα latency-bound workloads (pointer chasing) υποφέρουν· τα bandwidth-bound σχεδόν δεν το καταλαβαίνουν.</a:t>
            </a:r>
            <a:endParaRPr lang="en-US" sz="1500" dirty="0"/>
          </a:p>
        </p:txBody>
      </p:sp>
      <p:sp>
        <p:nvSpPr>
          <p:cNvPr id="13" name="Text 10"/>
          <p:cNvSpPr/>
          <p:nvPr/>
        </p:nvSpPr>
        <p:spPr>
          <a:xfrm>
            <a:off x="7452360" y="1280160"/>
            <a:ext cx="3959352" cy="292608"/>
          </a:xfrm>
          <a:prstGeom prst="rect">
            <a:avLst/>
          </a:prstGeom>
          <a:noFill/>
          <a:ln/>
        </p:spPr>
        <p:txBody>
          <a:bodyPr wrap="square" lIns="0" tIns="0" rIns="0" bIns="0" rtlCol="0" anchor="ctr"/>
          <a:lstStyle/>
          <a:p>
            <a:pPr indent="0" marL="0">
              <a:buNone/>
            </a:pPr>
            <a:r>
              <a:rPr lang="en-US" sz="1350" i="1" dirty="0">
                <a:solidFill>
                  <a:srgbClr val="1A1A1A"/>
                </a:solidFill>
                <a:latin typeface="Times New Roman" pitchFamily="34" charset="0"/>
                <a:ea typeface="Times New Roman" pitchFamily="34" charset="-122"/>
                <a:cs typeface="Times New Roman" pitchFamily="34" charset="-120"/>
              </a:rPr>
              <a:t>Διαδρομή ενός load με LLC miss:</a:t>
            </a:r>
            <a:endParaRPr lang="en-US" sz="1350" dirty="0"/>
          </a:p>
        </p:txBody>
      </p:sp>
      <p:sp>
        <p:nvSpPr>
          <p:cNvPr id="14" name="Text 11"/>
          <p:cNvSpPr/>
          <p:nvPr/>
        </p:nvSpPr>
        <p:spPr>
          <a:xfrm>
            <a:off x="7452360" y="1691640"/>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(1)</a:t>
            </a:r>
            <a:endParaRPr lang="en-US" sz="1200" dirty="0"/>
          </a:p>
        </p:txBody>
      </p:sp>
      <p:sp>
        <p:nvSpPr>
          <p:cNvPr id="15" name="Text 12"/>
          <p:cNvSpPr/>
          <p:nvPr/>
        </p:nvSpPr>
        <p:spPr>
          <a:xfrm>
            <a:off x="7955280" y="1691640"/>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Core  →  LLC miss</a:t>
            </a:r>
            <a:endParaRPr lang="en-US" sz="1400" dirty="0"/>
          </a:p>
        </p:txBody>
      </p:sp>
      <p:sp>
        <p:nvSpPr>
          <p:cNvPr id="16" name="Text 13"/>
          <p:cNvSpPr/>
          <p:nvPr/>
        </p:nvSpPr>
        <p:spPr>
          <a:xfrm>
            <a:off x="7452360" y="2075688"/>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(2)</a:t>
            </a:r>
            <a:endParaRPr lang="en-US" sz="1200" dirty="0"/>
          </a:p>
        </p:txBody>
      </p:sp>
      <p:sp>
        <p:nvSpPr>
          <p:cNvPr id="17" name="Text 14"/>
          <p:cNvSpPr/>
          <p:nvPr/>
        </p:nvSpPr>
        <p:spPr>
          <a:xfrm>
            <a:off x="7955280" y="2075688"/>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CXL Root Complex</a:t>
            </a:r>
            <a:endParaRPr lang="en-US" sz="1400" dirty="0"/>
          </a:p>
        </p:txBody>
      </p:sp>
      <p:sp>
        <p:nvSpPr>
          <p:cNvPr id="18" name="Text 15"/>
          <p:cNvSpPr/>
          <p:nvPr/>
        </p:nvSpPr>
        <p:spPr>
          <a:xfrm>
            <a:off x="7452360" y="2459736"/>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(3)</a:t>
            </a:r>
            <a:endParaRPr lang="en-US" sz="1200" dirty="0"/>
          </a:p>
        </p:txBody>
      </p:sp>
      <p:sp>
        <p:nvSpPr>
          <p:cNvPr id="19" name="Text 16"/>
          <p:cNvSpPr/>
          <p:nvPr/>
        </p:nvSpPr>
        <p:spPr>
          <a:xfrm>
            <a:off x="7955280" y="2459736"/>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packetization (M2S)</a:t>
            </a:r>
            <a:endParaRPr lang="en-US" sz="1400" dirty="0"/>
          </a:p>
        </p:txBody>
      </p:sp>
      <p:sp>
        <p:nvSpPr>
          <p:cNvPr id="20" name="Text 17"/>
          <p:cNvSpPr/>
          <p:nvPr/>
        </p:nvSpPr>
        <p:spPr>
          <a:xfrm>
            <a:off x="7452360" y="2843784"/>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(4)</a:t>
            </a:r>
            <a:endParaRPr lang="en-US" sz="1200" dirty="0"/>
          </a:p>
        </p:txBody>
      </p:sp>
      <p:sp>
        <p:nvSpPr>
          <p:cNvPr id="21" name="Text 18"/>
          <p:cNvSpPr/>
          <p:nvPr/>
        </p:nvSpPr>
        <p:spPr>
          <a:xfrm>
            <a:off x="7955280" y="2843784"/>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PCIe link (SERDES)</a:t>
            </a:r>
            <a:endParaRPr lang="en-US" sz="1400" dirty="0"/>
          </a:p>
        </p:txBody>
      </p:sp>
      <p:sp>
        <p:nvSpPr>
          <p:cNvPr id="22" name="Text 19"/>
          <p:cNvSpPr/>
          <p:nvPr/>
        </p:nvSpPr>
        <p:spPr>
          <a:xfrm>
            <a:off x="7452360" y="3227832"/>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(5)</a:t>
            </a:r>
            <a:endParaRPr lang="en-US" sz="1200" dirty="0"/>
          </a:p>
        </p:txBody>
      </p:sp>
      <p:sp>
        <p:nvSpPr>
          <p:cNvPr id="23" name="Text 20"/>
          <p:cNvSpPr/>
          <p:nvPr/>
        </p:nvSpPr>
        <p:spPr>
          <a:xfrm>
            <a:off x="7955280" y="3227832"/>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device controller  →  de-packetize</a:t>
            </a:r>
            <a:endParaRPr lang="en-US" sz="1400" dirty="0"/>
          </a:p>
        </p:txBody>
      </p:sp>
      <p:sp>
        <p:nvSpPr>
          <p:cNvPr id="24" name="Text 21"/>
          <p:cNvSpPr/>
          <p:nvPr/>
        </p:nvSpPr>
        <p:spPr>
          <a:xfrm>
            <a:off x="7452360" y="3611880"/>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(6)</a:t>
            </a:r>
            <a:endParaRPr lang="en-US" sz="1200" dirty="0"/>
          </a:p>
        </p:txBody>
      </p:sp>
      <p:sp>
        <p:nvSpPr>
          <p:cNvPr id="25" name="Text 22"/>
          <p:cNvSpPr/>
          <p:nvPr/>
        </p:nvSpPr>
        <p:spPr>
          <a:xfrm>
            <a:off x="7955280" y="3611880"/>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DRAM στην κάρτα</a:t>
            </a:r>
            <a:endParaRPr lang="en-US" sz="1400" dirty="0"/>
          </a:p>
        </p:txBody>
      </p:sp>
      <p:sp>
        <p:nvSpPr>
          <p:cNvPr id="26" name="Text 23"/>
          <p:cNvSpPr/>
          <p:nvPr/>
        </p:nvSpPr>
        <p:spPr>
          <a:xfrm>
            <a:off x="7452360" y="3995928"/>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(7)</a:t>
            </a:r>
            <a:endParaRPr lang="en-US" sz="1200" dirty="0"/>
          </a:p>
        </p:txBody>
      </p:sp>
      <p:sp>
        <p:nvSpPr>
          <p:cNvPr id="27" name="Text 24"/>
          <p:cNvSpPr/>
          <p:nvPr/>
        </p:nvSpPr>
        <p:spPr>
          <a:xfrm>
            <a:off x="7955280" y="3995928"/>
            <a:ext cx="3456432" cy="292608"/>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και όλη η διαδρομή πίσω (S2M)</a:t>
            </a:r>
            <a:endParaRPr lang="en-US" sz="1400" dirty="0"/>
          </a:p>
        </p:txBody>
      </p:sp>
      <p:sp>
        <p:nvSpPr>
          <p:cNvPr id="28" name="Text 25"/>
          <p:cNvSpPr/>
          <p:nvPr/>
        </p:nvSpPr>
        <p:spPr>
          <a:xfrm>
            <a:off x="7452360" y="4553712"/>
            <a:ext cx="395935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1: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κάθε στάδιο προσθέτει latency· κυριαρχεί το interconnect.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§2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Το πρόβλημα του tiering</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2. Το πρόβλημα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5 / 20</a:t>
            </a:r>
            <a:endParaRPr lang="en-US" sz="950" dirty="0"/>
          </a:p>
        </p:txBody>
      </p:sp>
      <p:sp>
        <p:nvSpPr>
          <p:cNvPr id="7" name="Text 5"/>
          <p:cNvSpPr/>
          <p:nvPr/>
        </p:nvSpPr>
        <p:spPr>
          <a:xfrm>
            <a:off x="777240" y="1325880"/>
            <a:ext cx="10634472" cy="68580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Δύο tiers μνήμης: ένα γρήγορο και μικρό (τοπική DDR) κι ένα αργό και μεγάλο (CXL). Θέλουμε τα hot data στο γρήγορο tier. Αν το πετύχεις, ένα μηχάνημα με 25% τοπική DRAM τρέχει σχεδόν σαν να είχε 100%.</a:t>
            </a:r>
            <a:endParaRPr lang="en-US" sz="1600" dirty="0"/>
          </a:p>
        </p:txBody>
      </p:sp>
      <p:sp>
        <p:nvSpPr>
          <p:cNvPr id="8" name="Shape 6"/>
          <p:cNvSpPr/>
          <p:nvPr/>
        </p:nvSpPr>
        <p:spPr>
          <a:xfrm>
            <a:off x="777240" y="2194560"/>
            <a:ext cx="5134356" cy="1371600"/>
          </a:xfrm>
          <a:prstGeom prst="rect">
            <a:avLst/>
          </a:prstGeom>
          <a:solidFill>
            <a:srgbClr val="F0F0EE"/>
          </a:solidFill>
          <a:ln/>
        </p:spPr>
      </p:sp>
      <p:sp>
        <p:nvSpPr>
          <p:cNvPr id="9" name="Text 7"/>
          <p:cNvSpPr/>
          <p:nvPr/>
        </p:nvSpPr>
        <p:spPr>
          <a:xfrm>
            <a:off x="960120" y="2304288"/>
            <a:ext cx="4768596"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Promotion  (αργό → γρήγορο)</a:t>
            </a:r>
            <a:endParaRPr lang="en-US" sz="1400" dirty="0"/>
          </a:p>
        </p:txBody>
      </p:sp>
      <p:sp>
        <p:nvSpPr>
          <p:cNvPr id="10" name="Text 8"/>
          <p:cNvSpPr/>
          <p:nvPr/>
        </p:nvSpPr>
        <p:spPr>
          <a:xfrm>
            <a:off x="960120" y="2615184"/>
            <a:ext cx="4768596" cy="84124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Πρέπει να γίνει στην ώρα του. Αν ένα page προαχθεί αφού έχει κρυώσει, είναι χαμένος κόπος.</a:t>
            </a:r>
            <a:endParaRPr lang="en-US" sz="1300" dirty="0"/>
          </a:p>
        </p:txBody>
      </p:sp>
      <p:sp>
        <p:nvSpPr>
          <p:cNvPr id="11" name="Shape 9"/>
          <p:cNvSpPr/>
          <p:nvPr/>
        </p:nvSpPr>
        <p:spPr>
          <a:xfrm>
            <a:off x="6277356" y="2194560"/>
            <a:ext cx="5134356" cy="1371600"/>
          </a:xfrm>
          <a:prstGeom prst="rect">
            <a:avLst/>
          </a:prstGeom>
          <a:solidFill>
            <a:srgbClr val="F0F0EE"/>
          </a:solidFill>
          <a:ln/>
        </p:spPr>
      </p:sp>
      <p:sp>
        <p:nvSpPr>
          <p:cNvPr id="12" name="Text 10"/>
          <p:cNvSpPr/>
          <p:nvPr/>
        </p:nvSpPr>
        <p:spPr>
          <a:xfrm>
            <a:off x="6460236" y="2304288"/>
            <a:ext cx="4768596"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Demotion  (γρήγορο → αργό)</a:t>
            </a:r>
            <a:endParaRPr lang="en-US" sz="1400" dirty="0"/>
          </a:p>
        </p:txBody>
      </p:sp>
      <p:sp>
        <p:nvSpPr>
          <p:cNvPr id="13" name="Text 11"/>
          <p:cNvSpPr/>
          <p:nvPr/>
        </p:nvSpPr>
        <p:spPr>
          <a:xfrm>
            <a:off x="6460236" y="2615184"/>
            <a:ext cx="4768596" cy="84124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Πρέπει να είναι ασφαλής. Αν κατεβάσεις ένα page που είναι ακόμα hot, ξεκινάει ping-pong.</a:t>
            </a:r>
            <a:endParaRPr lang="en-US" sz="1300" dirty="0"/>
          </a:p>
        </p:txBody>
      </p:sp>
      <p:sp>
        <p:nvSpPr>
          <p:cNvPr id="14" name="Text 12"/>
          <p:cNvSpPr/>
          <p:nvPr/>
        </p:nvSpPr>
        <p:spPr>
          <a:xfrm>
            <a:off x="777240" y="3794760"/>
            <a:ext cx="10634472" cy="91440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Το demotion είναι εύκολο: ένα LRU αρκεί, και το Linux ήδη έχει LRU. </a:t>
            </a:r>
            <a:pPr algn="just" indent="0" marL="0">
              <a:lnSpc>
                <a:spcPts val="2400"/>
              </a:lnSpc>
              <a:buNone/>
            </a:pPr>
            <a:r>
              <a:rPr lang="en-US" sz="1600" b="1" dirty="0">
                <a:solidFill>
                  <a:srgbClr val="8C2A2A"/>
                </a:solidFill>
                <a:latin typeface="Times New Roman" pitchFamily="34" charset="0"/>
                <a:ea typeface="Times New Roman" pitchFamily="34" charset="-122"/>
                <a:cs typeface="Times New Roman" pitchFamily="34" charset="-120"/>
              </a:rPr>
              <a:t>Το promotion είναι το δύσκολο —</a:t>
            </a:r>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 πρέπει να ξέρεις ότι ένα page είναι hot τώρα, κι αυτό κοστίζει. Το λέει και η ίδια η κοινότητα του Linux MM.</a:t>
            </a:r>
            <a:endParaRPr lang="en-US" sz="1600" dirty="0"/>
          </a:p>
        </p:txBody>
      </p:sp>
      <p:sp>
        <p:nvSpPr>
          <p:cNvPr id="15" name="Text 13"/>
          <p:cNvSpPr/>
          <p:nvPr/>
        </p:nvSpPr>
        <p:spPr>
          <a:xfrm>
            <a:off x="777240" y="4892040"/>
            <a:ext cx="10634472" cy="365760"/>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Οι τρεις επόμενες διαφάνειες: γιατί το promotion δεν δουλεύει καλά σήμερα.</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§3.1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Γιατί δεν δουλεύει: το profiling</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δεν δουλεύει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6 / 20</a:t>
            </a:r>
            <a:endParaRPr lang="en-US" sz="950" dirty="0"/>
          </a:p>
        </p:txBody>
      </p:sp>
      <p:sp>
        <p:nvSpPr>
          <p:cNvPr id="7" name="Text 5"/>
          <p:cNvSpPr/>
          <p:nvPr/>
        </p:nvSpPr>
        <p:spPr>
          <a:xfrm>
            <a:off x="777240" y="128016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2: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τρόποι εντοπισμού των hot pages και το βασικό πρόβλημα του καθενός.</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10634472" cy="914400"/>
        </p:xfrm>
        <a:graphic>
          <a:graphicData uri="http://schemas.openxmlformats.org/drawingml/2006/table">
            <a:tbl>
              <a:tblPr/>
              <a:tblGrid>
                <a:gridCol w="2377440"/>
                <a:gridCol w="3657600"/>
                <a:gridCol w="4599432"/>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Μηχανισμός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Πώς δουλεύει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Βασικό πρόβλημα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PTE-scan (DAMON)</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Σαρώνει τα access bits των PTE</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1 bit = ναι/όχι. Το scan κρατάει δευτερόλεπτα, οπότε το hot set έχει ήδη αλλάξει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00" dirty="0">
                          <a:solidFill>
                            <a:srgbClr val="1A1A1A"/>
                          </a:solidFill>
                          <a:latin typeface="Courier New" pitchFamily="34" charset="0"/>
                          <a:ea typeface="Courier New" pitchFamily="34" charset="-122"/>
                          <a:cs typeface="Courier New" pitchFamily="34" charset="-120"/>
                        </a:rPr>
                        <a:t>hint faults (AutoNUMA, TPP)</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Κάνει unmap τα PTE ώστε το access να πέσει σε fault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8C2A2A"/>
                          </a:solidFill>
                          <a:latin typeface="Times New Roman" pitchFamily="34" charset="0"/>
                          <a:ea typeface="Times New Roman" pitchFamily="34" charset="-122"/>
                          <a:cs typeface="Times New Roman" pitchFamily="34" charset="-120"/>
                        </a:rPr>
                        <a:t>Μετράει TLB misses, όχι LLC misses — δεν συσχετίζονται καλά</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PEBS / IBS (Memtis)</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Sampling του PMU πάνω σε LLC misses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Overhead ανάλογο του sampling rate: &gt;50% slowdown σε πυκνό sampling</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150" b="1" dirty="0">
                          <a:solidFill>
                            <a:srgbClr val="1F3A63"/>
                          </a:solidFill>
                          <a:latin typeface="Courier New" pitchFamily="34" charset="0"/>
                          <a:ea typeface="Courier New" pitchFamily="34" charset="-122"/>
                          <a:cs typeface="Courier New" pitchFamily="34" charset="-120"/>
                        </a:rPr>
                        <a:t>hardware μέσα στην CXL</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Counters μέσα στον controller της συσκευής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Σωστό event, μηδέν κόστος CPU — αλλά θέλει καινούριο hardware</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10634472" cy="20117"/>
          </a:xfrm>
          <a:prstGeom prst="rect">
            <a:avLst/>
          </a:prstGeom>
          <a:solidFill>
            <a:srgbClr val="1A1A1A"/>
          </a:solidFill>
          <a:ln/>
        </p:spPr>
      </p:sp>
      <p:sp>
        <p:nvSpPr>
          <p:cNvPr id="10" name="Shape 7"/>
          <p:cNvSpPr/>
          <p:nvPr/>
        </p:nvSpPr>
        <p:spPr>
          <a:xfrm>
            <a:off x="777240" y="1984248"/>
            <a:ext cx="10634472" cy="9144"/>
          </a:xfrm>
          <a:prstGeom prst="rect">
            <a:avLst/>
          </a:prstGeom>
          <a:solidFill>
            <a:srgbClr val="BFBFBF"/>
          </a:solidFill>
          <a:ln/>
        </p:spPr>
      </p:sp>
      <p:sp>
        <p:nvSpPr>
          <p:cNvPr id="11" name="Shape 8"/>
          <p:cNvSpPr/>
          <p:nvPr/>
        </p:nvSpPr>
        <p:spPr>
          <a:xfrm>
            <a:off x="777240" y="4471416"/>
            <a:ext cx="10634472" cy="20117"/>
          </a:xfrm>
          <a:prstGeom prst="rect">
            <a:avLst/>
          </a:prstGeom>
          <a:solidFill>
            <a:srgbClr val="1A1A1A"/>
          </a:solidFill>
          <a:ln/>
        </p:spPr>
      </p:sp>
      <p:sp>
        <p:nvSpPr>
          <p:cNvPr id="12" name="Text 9"/>
          <p:cNvSpPr/>
          <p:nvPr/>
        </p:nvSpPr>
        <p:spPr>
          <a:xfrm>
            <a:off x="777240" y="5074920"/>
            <a:ext cx="10634472" cy="914400"/>
          </a:xfrm>
          <a:prstGeom prst="rect">
            <a:avLst/>
          </a:prstGeom>
          <a:noFill/>
          <a:ln/>
        </p:spPr>
        <p:txBody>
          <a:bodyPr wrap="square" lIns="0" tIns="0" rIns="0" bIns="0" rtlCol="0" anchor="ctr"/>
          <a:lstStyle/>
          <a:p>
            <a:pPr algn="just" indent="0" marL="0">
              <a:lnSpc>
                <a:spcPts val="2200"/>
              </a:lnSpc>
              <a:buNone/>
            </a:pPr>
            <a:r>
              <a:rPr lang="en-US" sz="1500" b="1" dirty="0">
                <a:solidFill>
                  <a:srgbClr val="8C2A2A"/>
                </a:solidFill>
                <a:latin typeface="Times New Roman" pitchFamily="34" charset="0"/>
                <a:ea typeface="Times New Roman" pitchFamily="34" charset="-122"/>
                <a:cs typeface="Times New Roman" pitchFamily="34" charset="-120"/>
              </a:rPr>
              <a:t>Το σημαντικό. </a:t>
            </a:r>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AutoNUMA/TPP μετράνε TLB misses, αλλά το traffic προς την CXL το καθορίζουν τα LLC misses. Ένα page μπορεί να είναι πολύ hot στο TLB και σχεδόν αόρατο στην CXL. Δηλαδή βελτιστοποιούν το λάθος σήμα.</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§3.2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Γιατί δεν δουλεύει: το granularity</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δεν δουλεύει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7 / 20</a:t>
            </a:r>
            <a:endParaRPr lang="en-US" sz="950" dirty="0"/>
          </a:p>
        </p:txBody>
      </p:sp>
      <p:sp>
        <p:nvSpPr>
          <p:cNvPr id="7" name="Text 5"/>
          <p:cNvSpPr/>
          <p:nvPr/>
        </p:nvSpPr>
        <p:spPr>
          <a:xfrm>
            <a:off x="777240" y="1298448"/>
            <a:ext cx="10634472" cy="685800"/>
          </a:xfrm>
          <a:prstGeom prst="rect">
            <a:avLst/>
          </a:prstGeom>
          <a:noFill/>
          <a:ln/>
        </p:spPr>
        <p:txBody>
          <a:bodyPr wrap="square" lIns="0" tIns="0" rIns="0" bIns="0" rtlCol="0" anchor="ctr"/>
          <a:lstStyle/>
          <a:p>
            <a:pPr algn="just" indent="0" marL="0">
              <a:lnSpc>
                <a:spcPts val="2300"/>
              </a:lnSpc>
              <a:buNone/>
            </a:pPr>
            <a:r>
              <a:rPr lang="en-US" sz="1550" dirty="0">
                <a:solidFill>
                  <a:srgbClr val="1A1A1A"/>
                </a:solidFill>
                <a:latin typeface="Times New Roman" pitchFamily="34" charset="0"/>
                <a:ea typeface="Times New Roman" pitchFamily="34" charset="-122"/>
                <a:cs typeface="Times New Roman" pitchFamily="34" charset="-120"/>
              </a:rPr>
              <a:t>Μέσα σε ένα page 4 KB, τα accesses δεν είναι μοιρασμένα ομοιόμορφα. Ένα lookup σε hash table αγγίζει 64 bytes από τα 4096. Το 4 KB είναι λάθος unit και προς τις δύο μεριές.</a:t>
            </a:r>
            <a:endParaRPr lang="en-US" sz="1550" dirty="0"/>
          </a:p>
        </p:txBody>
      </p:sp>
      <p:sp>
        <p:nvSpPr>
          <p:cNvPr id="8" name="Text 6"/>
          <p:cNvSpPr/>
          <p:nvPr/>
        </p:nvSpPr>
        <p:spPr>
          <a:xfrm>
            <a:off x="777240" y="214884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64 B</a:t>
            </a:r>
            <a:endParaRPr lang="en-US" sz="2800" dirty="0"/>
          </a:p>
        </p:txBody>
      </p:sp>
      <p:sp>
        <p:nvSpPr>
          <p:cNvPr id="9" name="Text 7"/>
          <p:cNvSpPr/>
          <p:nvPr/>
        </p:nvSpPr>
        <p:spPr>
          <a:xfrm>
            <a:off x="777240" y="265176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cache line</a:t>
            </a:r>
            <a:endParaRPr lang="en-US" sz="1100" dirty="0"/>
          </a:p>
        </p:txBody>
      </p:sp>
      <p:sp>
        <p:nvSpPr>
          <p:cNvPr id="10" name="Text 8"/>
          <p:cNvSpPr/>
          <p:nvPr/>
        </p:nvSpPr>
        <p:spPr>
          <a:xfrm>
            <a:off x="777240" y="294436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ελάχιστο waste· τα metadata εκτοξεύονται</a:t>
            </a:r>
            <a:endParaRPr lang="en-US" sz="1250" dirty="0"/>
          </a:p>
        </p:txBody>
      </p:sp>
      <p:sp>
        <p:nvSpPr>
          <p:cNvPr id="11" name="Text 9"/>
          <p:cNvSpPr/>
          <p:nvPr/>
        </p:nvSpPr>
        <p:spPr>
          <a:xfrm>
            <a:off x="4017264" y="2148840"/>
            <a:ext cx="457200" cy="457200"/>
          </a:xfrm>
          <a:prstGeom prst="rect">
            <a:avLst/>
          </a:prstGeom>
          <a:noFill/>
          <a:ln/>
        </p:spPr>
        <p:txBody>
          <a:bodyPr wrap="square" lIns="0" tIns="0" rIns="0" bIns="0" rtlCol="0" anchor="ctr"/>
          <a:lstStyle/>
          <a:p>
            <a:pPr algn="ctr" indent="0" marL="0">
              <a:buNone/>
            </a:pPr>
            <a:r>
              <a:rPr lang="en-US" sz="2000" dirty="0">
                <a:solidFill>
                  <a:srgbClr val="6E6E6E"/>
                </a:solidFill>
                <a:latin typeface="Times New Roman" pitchFamily="34" charset="0"/>
                <a:ea typeface="Times New Roman" pitchFamily="34" charset="-122"/>
                <a:cs typeface="Times New Roman" pitchFamily="34" charset="-120"/>
              </a:rPr>
              <a:t>−→</a:t>
            </a:r>
            <a:endParaRPr lang="en-US" sz="2000" dirty="0"/>
          </a:p>
        </p:txBody>
      </p:sp>
      <p:sp>
        <p:nvSpPr>
          <p:cNvPr id="12" name="Text 10"/>
          <p:cNvSpPr/>
          <p:nvPr/>
        </p:nvSpPr>
        <p:spPr>
          <a:xfrm>
            <a:off x="4474464" y="214884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4 KB</a:t>
            </a:r>
            <a:endParaRPr lang="en-US" sz="2800" dirty="0"/>
          </a:p>
        </p:txBody>
      </p:sp>
      <p:sp>
        <p:nvSpPr>
          <p:cNvPr id="13" name="Text 11"/>
          <p:cNvSpPr/>
          <p:nvPr/>
        </p:nvSpPr>
        <p:spPr>
          <a:xfrm>
            <a:off x="4474464" y="265176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default του Linux</a:t>
            </a:r>
            <a:endParaRPr lang="en-US" sz="1100" dirty="0"/>
          </a:p>
        </p:txBody>
      </p:sp>
      <p:sp>
        <p:nvSpPr>
          <p:cNvPr id="14" name="Text 12"/>
          <p:cNvSpPr/>
          <p:nvPr/>
        </p:nvSpPr>
        <p:spPr>
          <a:xfrm>
            <a:off x="4474464" y="294436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μέτριο και στα δύο: waste και κόστος</a:t>
            </a:r>
            <a:endParaRPr lang="en-US" sz="1250" dirty="0"/>
          </a:p>
        </p:txBody>
      </p:sp>
      <p:sp>
        <p:nvSpPr>
          <p:cNvPr id="15" name="Text 13"/>
          <p:cNvSpPr/>
          <p:nvPr/>
        </p:nvSpPr>
        <p:spPr>
          <a:xfrm>
            <a:off x="7714488" y="2148840"/>
            <a:ext cx="457200" cy="457200"/>
          </a:xfrm>
          <a:prstGeom prst="rect">
            <a:avLst/>
          </a:prstGeom>
          <a:noFill/>
          <a:ln/>
        </p:spPr>
        <p:txBody>
          <a:bodyPr wrap="square" lIns="0" tIns="0" rIns="0" bIns="0" rtlCol="0" anchor="ctr"/>
          <a:lstStyle/>
          <a:p>
            <a:pPr algn="ctr" indent="0" marL="0">
              <a:buNone/>
            </a:pPr>
            <a:r>
              <a:rPr lang="en-US" sz="2000" dirty="0">
                <a:solidFill>
                  <a:srgbClr val="6E6E6E"/>
                </a:solidFill>
                <a:latin typeface="Times New Roman" pitchFamily="34" charset="0"/>
                <a:ea typeface="Times New Roman" pitchFamily="34" charset="-122"/>
                <a:cs typeface="Times New Roman" pitchFamily="34" charset="-120"/>
              </a:rPr>
              <a:t>−→</a:t>
            </a:r>
            <a:endParaRPr lang="en-US" sz="2000" dirty="0"/>
          </a:p>
        </p:txBody>
      </p:sp>
      <p:sp>
        <p:nvSpPr>
          <p:cNvPr id="16" name="Text 14"/>
          <p:cNvSpPr/>
          <p:nvPr/>
        </p:nvSpPr>
        <p:spPr>
          <a:xfrm>
            <a:off x="8171688" y="214884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2 MB</a:t>
            </a:r>
            <a:endParaRPr lang="en-US" sz="2800" dirty="0"/>
          </a:p>
        </p:txBody>
      </p:sp>
      <p:sp>
        <p:nvSpPr>
          <p:cNvPr id="17" name="Text 15"/>
          <p:cNvSpPr/>
          <p:nvPr/>
        </p:nvSpPr>
        <p:spPr>
          <a:xfrm>
            <a:off x="8171688" y="265176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huge page</a:t>
            </a:r>
            <a:endParaRPr lang="en-US" sz="1100" dirty="0"/>
          </a:p>
        </p:txBody>
      </p:sp>
      <p:sp>
        <p:nvSpPr>
          <p:cNvPr id="18" name="Text 16"/>
          <p:cNvSpPr/>
          <p:nvPr/>
        </p:nvSpPr>
        <p:spPr>
          <a:xfrm>
            <a:off x="8171688" y="294436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φθηνό migration· τεράστιο waste (&gt;99%)</a:t>
            </a:r>
            <a:endParaRPr lang="en-US" sz="1250" dirty="0"/>
          </a:p>
        </p:txBody>
      </p:sp>
      <p:sp>
        <p:nvSpPr>
          <p:cNvPr id="19" name="Text 17"/>
          <p:cNvSpPr/>
          <p:nvPr/>
        </p:nvSpPr>
        <p:spPr>
          <a:xfrm>
            <a:off x="777240" y="3611880"/>
            <a:ext cx="10634472"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2: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το φάσμα του granularity — καμία επιλογή δεν είναι καλή και στα δύο ταυτόχρονα.</a:t>
            </a:r>
            <a:endParaRPr lang="en-US" sz="1100" dirty="0"/>
          </a:p>
        </p:txBody>
      </p:sp>
      <p:sp>
        <p:nvSpPr>
          <p:cNvPr id="20" name="Shape 18"/>
          <p:cNvSpPr/>
          <p:nvPr/>
        </p:nvSpPr>
        <p:spPr>
          <a:xfrm>
            <a:off x="777240" y="4114800"/>
            <a:ext cx="10634472" cy="1508760"/>
          </a:xfrm>
          <a:prstGeom prst="rect">
            <a:avLst/>
          </a:prstGeom>
          <a:solidFill>
            <a:srgbClr val="F7ECEC"/>
          </a:solidFill>
          <a:ln/>
        </p:spPr>
      </p:sp>
      <p:sp>
        <p:nvSpPr>
          <p:cNvPr id="21" name="Text 19"/>
          <p:cNvSpPr/>
          <p:nvPr/>
        </p:nvSpPr>
        <p:spPr>
          <a:xfrm>
            <a:off x="960120" y="4224528"/>
            <a:ext cx="10268712" cy="292608"/>
          </a:xfrm>
          <a:prstGeom prst="rect">
            <a:avLst/>
          </a:prstGeom>
          <a:noFill/>
          <a:ln/>
        </p:spPr>
        <p:txBody>
          <a:bodyPr wrap="square" lIns="0" tIns="0" rIns="0" bIns="0" rtlCol="0" anchor="ctr"/>
          <a:lstStyle/>
          <a:p>
            <a:pPr indent="0" marL="0">
              <a:buNone/>
            </a:pPr>
            <a:r>
              <a:rPr lang="en-US" sz="1400" b="1" dirty="0">
                <a:solidFill>
                  <a:srgbClr val="8C2A2A"/>
                </a:solidFill>
                <a:latin typeface="Times New Roman" pitchFamily="34" charset="0"/>
                <a:ea typeface="Times New Roman" pitchFamily="34" charset="-122"/>
                <a:cs typeface="Times New Roman" pitchFamily="34" charset="-120"/>
              </a:rPr>
              <a:t>Το ουσιαστικό — δεν υπάρχει PTE για cache line</a:t>
            </a:r>
            <a:endParaRPr lang="en-US" sz="1400" dirty="0"/>
          </a:p>
        </p:txBody>
      </p:sp>
      <p:sp>
        <p:nvSpPr>
          <p:cNvPr id="22" name="Text 20"/>
          <p:cNvSpPr/>
          <p:nvPr/>
        </p:nvSpPr>
        <p:spPr>
          <a:xfrm>
            <a:off x="960120" y="4535424"/>
            <a:ext cx="10268712" cy="97840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Άρα δεν γίνεται να κάνεις migrate cache lines αντί για pages μέσα από το OS. Ή βάζεις hardware indirection (η τοπική DRAM γίνεται cache γραμμών), ή —κι εδώ στοχεύω— κάνεις profiling σε λεπτό granularity (64 B) και migration σε χοντρό (4 KB). Το profiling granularity δεν είναι ίδιο με του migration· αυτό ακριβώς κάνει το M5. Το σκάβουμε στην επόμενη ενότητα.</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§3.3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Γιατί δεν δουλεύει: το κόστος του migration</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δεν δουλεύει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8 / 20</a:t>
            </a:r>
            <a:endParaRPr lang="en-US" sz="950" dirty="0"/>
          </a:p>
        </p:txBody>
      </p:sp>
      <p:sp>
        <p:nvSpPr>
          <p:cNvPr id="7" name="Text 5"/>
          <p:cNvSpPr/>
          <p:nvPr/>
        </p:nvSpPr>
        <p:spPr>
          <a:xfrm>
            <a:off x="777240" y="1298448"/>
            <a:ext cx="10634472" cy="320040"/>
          </a:xfrm>
          <a:prstGeom prst="rect">
            <a:avLst/>
          </a:prstGeom>
          <a:noFill/>
          <a:ln/>
        </p:spPr>
        <p:txBody>
          <a:bodyPr wrap="square" lIns="0" tIns="0" rIns="0" bIns="0" rtlCol="0" anchor="ctr"/>
          <a:lstStyle/>
          <a:p>
            <a:pPr indent="0" marL="0">
              <a:buNone/>
            </a:pPr>
            <a:r>
              <a:rPr lang="en-US" sz="1600" dirty="0">
                <a:solidFill>
                  <a:srgbClr val="1A1A1A"/>
                </a:solidFill>
                <a:latin typeface="Times New Roman" pitchFamily="34" charset="0"/>
                <a:ea typeface="Times New Roman" pitchFamily="34" charset="-122"/>
                <a:cs typeface="Times New Roman" pitchFamily="34" charset="-120"/>
              </a:rPr>
              <a:t>Για να προαχθεί ένα page 4 KB, το OS πληρώνει τέσσερα κόστη:</a:t>
            </a:r>
            <a:endParaRPr lang="en-US" sz="1600" dirty="0"/>
          </a:p>
        </p:txBody>
      </p:sp>
      <p:sp>
        <p:nvSpPr>
          <p:cNvPr id="8" name="Text 6"/>
          <p:cNvSpPr/>
          <p:nvPr/>
        </p:nvSpPr>
        <p:spPr>
          <a:xfrm>
            <a:off x="777240" y="178308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9" name="Text 7"/>
          <p:cNvSpPr/>
          <p:nvPr/>
        </p:nvSpPr>
        <p:spPr>
          <a:xfrm>
            <a:off x="1069848" y="1783080"/>
            <a:ext cx="6108192" cy="566928"/>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Copy.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4 KB read από CXL + 4 KB write σε DDR — τρώει το bandwidth που θέλεις να γλιτώσεις.</a:t>
            </a:r>
            <a:endParaRPr lang="en-US" sz="1400" dirty="0"/>
          </a:p>
        </p:txBody>
      </p:sp>
      <p:sp>
        <p:nvSpPr>
          <p:cNvPr id="10" name="Text 8"/>
          <p:cNvSpPr/>
          <p:nvPr/>
        </p:nvSpPr>
        <p:spPr>
          <a:xfrm>
            <a:off x="777240" y="2350008"/>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1" name="Text 9"/>
          <p:cNvSpPr/>
          <p:nvPr/>
        </p:nvSpPr>
        <p:spPr>
          <a:xfrm>
            <a:off x="1069848" y="2350008"/>
            <a:ext cx="6108192" cy="457200"/>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Ενημέρωση page table.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Διάσχιση του rmap για κάθε PTE που δείχνει στο page.</a:t>
            </a:r>
            <a:endParaRPr lang="en-US" sz="1400" dirty="0"/>
          </a:p>
        </p:txBody>
      </p:sp>
      <p:sp>
        <p:nvSpPr>
          <p:cNvPr id="12" name="Text 10"/>
          <p:cNvSpPr/>
          <p:nvPr/>
        </p:nvSpPr>
        <p:spPr>
          <a:xfrm>
            <a:off x="777240" y="2807208"/>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3" name="Text 11"/>
          <p:cNvSpPr/>
          <p:nvPr/>
        </p:nvSpPr>
        <p:spPr>
          <a:xfrm>
            <a:off x="1069848" y="2807208"/>
            <a:ext cx="6108192" cy="566928"/>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TLB shootdown.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IPI σε κάθε core με cached translation — συνήθως το πιο ακριβό.</a:t>
            </a:r>
            <a:endParaRPr lang="en-US" sz="1400" dirty="0"/>
          </a:p>
        </p:txBody>
      </p:sp>
      <p:sp>
        <p:nvSpPr>
          <p:cNvPr id="14" name="Text 12"/>
          <p:cNvSpPr/>
          <p:nvPr/>
        </p:nvSpPr>
        <p:spPr>
          <a:xfrm>
            <a:off x="777240" y="3374136"/>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5" name="Text 13"/>
          <p:cNvSpPr/>
          <p:nvPr/>
        </p:nvSpPr>
        <p:spPr>
          <a:xfrm>
            <a:off x="1069848" y="3374136"/>
            <a:ext cx="6108192" cy="457200"/>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Lock contention.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mmap_lock, LRU locks· δεν κάνει καλό scaling.</a:t>
            </a:r>
            <a:endParaRPr lang="en-US" sz="1400" dirty="0"/>
          </a:p>
        </p:txBody>
      </p:sp>
      <p:sp>
        <p:nvSpPr>
          <p:cNvPr id="16" name="Shape 14"/>
          <p:cNvSpPr/>
          <p:nvPr/>
        </p:nvSpPr>
        <p:spPr>
          <a:xfrm>
            <a:off x="7360920" y="1783080"/>
            <a:ext cx="4050792" cy="2880360"/>
          </a:xfrm>
          <a:prstGeom prst="rect">
            <a:avLst/>
          </a:prstGeom>
          <a:solidFill>
            <a:srgbClr val="F0F0EE"/>
          </a:solidFill>
          <a:ln/>
        </p:spPr>
      </p:sp>
      <p:sp>
        <p:nvSpPr>
          <p:cNvPr id="17" name="Text 15"/>
          <p:cNvSpPr/>
          <p:nvPr/>
        </p:nvSpPr>
        <p:spPr>
          <a:xfrm>
            <a:off x="7543800" y="1892808"/>
            <a:ext cx="368503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Τάξη μεγέθους</a:t>
            </a:r>
            <a:endParaRPr lang="en-US" sz="1400" dirty="0"/>
          </a:p>
        </p:txBody>
      </p:sp>
      <p:sp>
        <p:nvSpPr>
          <p:cNvPr id="18" name="Text 16"/>
          <p:cNvSpPr/>
          <p:nvPr/>
        </p:nvSpPr>
        <p:spPr>
          <a:xfrm>
            <a:off x="7543800" y="2203704"/>
            <a:ext cx="3685032" cy="235000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Ένα migration ενός page κοστίζει μsec — χιλιάδες φορές πάνω από τα ~250 ns που προσπαθείς να αποφύγεις ανά access.</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Άρα ένα page πρέπει να ξαναχρησιμοποιηθεί πολλές φορές για να αξίζει το migration. Γι’ αυτό ένα λάθος promotion δεν είναι απλώς άχρηστο· είναι και επιζήμιο.</a:t>
            </a:r>
            <a:endParaRPr lang="en-US" sz="1300" dirty="0"/>
          </a:p>
        </p:txBody>
      </p:sp>
      <p:sp>
        <p:nvSpPr>
          <p:cNvPr id="19" name="Text 17"/>
          <p:cNvSpPr/>
          <p:nvPr/>
        </p:nvSpPr>
        <p:spPr>
          <a:xfrm>
            <a:off x="777240" y="4983480"/>
            <a:ext cx="10634472" cy="457200"/>
          </a:xfrm>
          <a:prstGeom prst="rect">
            <a:avLst/>
          </a:prstGeom>
          <a:noFill/>
          <a:ln/>
        </p:spPr>
        <p:txBody>
          <a:bodyPr wrap="square" lIns="0" tIns="0" rIns="0" bIns="0" rtlCol="0" anchor="ctr"/>
          <a:lstStyle/>
          <a:p>
            <a:pPr indent="0" marL="0">
              <a:lnSpc>
                <a:spcPts val="2100"/>
              </a:lnSpc>
              <a:buNone/>
            </a:pPr>
            <a:r>
              <a:rPr lang="en-US" sz="1450" i="1" dirty="0">
                <a:solidFill>
                  <a:srgbClr val="6E6E6E"/>
                </a:solidFill>
                <a:latin typeface="Times New Roman" pitchFamily="34" charset="0"/>
                <a:ea typeface="Times New Roman" pitchFamily="34" charset="-122"/>
                <a:cs typeface="Times New Roman" pitchFamily="34" charset="-120"/>
              </a:rPr>
              <a:t>Γι' αυτό κάθε σύστημα βάζει quota στο migration bandwidth και hysteresis στις αποφάσεις.</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§4.1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Pages vs lines: πόσο κοστίζει το page migration</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Pages vs lines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9 / 20</a:t>
            </a:r>
            <a:endParaRPr lang="en-US" sz="950" dirty="0"/>
          </a:p>
        </p:txBody>
      </p:sp>
      <p:sp>
        <p:nvSpPr>
          <p:cNvPr id="7" name="Text 5"/>
          <p:cNvSpPr/>
          <p:nvPr/>
        </p:nvSpPr>
        <p:spPr>
          <a:xfrm>
            <a:off x="777240" y="1298448"/>
            <a:ext cx="6126480" cy="868680"/>
          </a:xfrm>
          <a:prstGeom prst="rect">
            <a:avLst/>
          </a:prstGeom>
          <a:noFill/>
          <a:ln/>
        </p:spPr>
        <p:txBody>
          <a:bodyPr wrap="square" lIns="0" tIns="0" rIns="0" bIns="0" rtlCol="0" anchor="ctr"/>
          <a:lstStyle/>
          <a:p>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Ας το ποσοτικοποιήσουμε. Ένα page 4 KB = 64 γραμμές των 64 B. Σε ένα τυπικό skewed workload, μόνο λίγες γραμμές είναι πραγματικά hot· οι υπόλοιπες τις σέρνεις μαζί χωρίς λόγο.</a:t>
            </a:r>
            <a:endParaRPr lang="en-US" sz="1500" dirty="0"/>
          </a:p>
        </p:txBody>
      </p:sp>
      <p:sp>
        <p:nvSpPr>
          <p:cNvPr id="8" name="Text 6"/>
          <p:cNvSpPr/>
          <p:nvPr/>
        </p:nvSpPr>
        <p:spPr>
          <a:xfrm>
            <a:off x="777240" y="2286000"/>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9" name="Text 7"/>
          <p:cNvSpPr/>
          <p:nvPr/>
        </p:nvSpPr>
        <p:spPr>
          <a:xfrm>
            <a:off x="1069848" y="2286000"/>
            <a:ext cx="5833872" cy="566928"/>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Internal fragmentation.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Κάνεις migrate 4096 B για να σώσεις ~256 B. Το ~94% του transfer είναι κρύο.</a:t>
            </a:r>
            <a:endParaRPr lang="en-US" sz="1350" dirty="0"/>
          </a:p>
        </p:txBody>
      </p:sp>
      <p:sp>
        <p:nvSpPr>
          <p:cNvPr id="10" name="Text 8"/>
          <p:cNvSpPr/>
          <p:nvPr/>
        </p:nvSpPr>
        <p:spPr>
          <a:xfrm>
            <a:off x="777240" y="2852928"/>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11" name="Text 9"/>
          <p:cNvSpPr/>
          <p:nvPr/>
        </p:nvSpPr>
        <p:spPr>
          <a:xfrm>
            <a:off x="1069848" y="2852928"/>
            <a:ext cx="5833872" cy="566928"/>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Κάψιμο fast-tier frame.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Μια θέση στο γρήγορο tier πάει σε δεδομένα ~5% χρήσιμα, αντί σε μια γεμάτη-hot page.</a:t>
            </a:r>
            <a:endParaRPr lang="en-US" sz="1350" dirty="0"/>
          </a:p>
        </p:txBody>
      </p:sp>
      <p:sp>
        <p:nvSpPr>
          <p:cNvPr id="12" name="Text 10"/>
          <p:cNvSpPr/>
          <p:nvPr/>
        </p:nvSpPr>
        <p:spPr>
          <a:xfrm>
            <a:off x="777240" y="3419856"/>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13" name="Text 11"/>
          <p:cNvSpPr/>
          <p:nvPr/>
        </p:nvSpPr>
        <p:spPr>
          <a:xfrm>
            <a:off x="1069848" y="3419856"/>
            <a:ext cx="5833872" cy="566928"/>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Migration efficiency.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 useful bytes ÷ moved bytes. Για page migration σε skewed workload βγαίνει πολύ χαμηλό.</a:t>
            </a:r>
            <a:endParaRPr lang="en-US" sz="1350" dirty="0"/>
          </a:p>
        </p:txBody>
      </p:sp>
      <p:sp>
        <p:nvSpPr>
          <p:cNvPr id="14" name="Text 12"/>
          <p:cNvSpPr/>
          <p:nvPr/>
        </p:nvSpPr>
        <p:spPr>
          <a:xfrm>
            <a:off x="777240" y="3986784"/>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15" name="Text 13"/>
          <p:cNvSpPr/>
          <p:nvPr/>
        </p:nvSpPr>
        <p:spPr>
          <a:xfrm>
            <a:off x="1069848" y="3986784"/>
            <a:ext cx="5833872" cy="566928"/>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Με 2 MB huge pages.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Το waste γίνεται &gt;99.99%. Τα huge pages λύνουν το κόστος, χειροτερεύουν το waste.</a:t>
            </a:r>
            <a:endParaRPr lang="en-US" sz="1350" dirty="0"/>
          </a:p>
        </p:txBody>
      </p:sp>
      <p:sp>
        <p:nvSpPr>
          <p:cNvPr id="16" name="Text 14"/>
          <p:cNvSpPr/>
          <p:nvPr/>
        </p:nvSpPr>
        <p:spPr>
          <a:xfrm>
            <a:off x="7635240" y="1417320"/>
            <a:ext cx="3246120" cy="274320"/>
          </a:xfrm>
          <a:prstGeom prst="rect">
            <a:avLst/>
          </a:prstGeom>
          <a:noFill/>
          <a:ln/>
        </p:spPr>
        <p:txBody>
          <a:bodyPr wrap="square" lIns="0" tIns="0" rIns="0" bIns="0" rtlCol="0" anchor="ctr"/>
          <a:lstStyle/>
          <a:p>
            <a:pPr algn="ctr" indent="0" marL="0">
              <a:buNone/>
            </a:pPr>
            <a:r>
              <a:rPr lang="en-US" sz="1250" i="1" dirty="0">
                <a:solidFill>
                  <a:srgbClr val="1A1A1A"/>
                </a:solidFill>
                <a:latin typeface="Times New Roman" pitchFamily="34" charset="0"/>
                <a:ea typeface="Times New Roman" pitchFamily="34" charset="-122"/>
                <a:cs typeface="Times New Roman" pitchFamily="34" charset="-120"/>
              </a:rPr>
              <a:t>1 page = 64 × 64 B lines</a:t>
            </a:r>
            <a:endParaRPr lang="en-US" sz="1250" dirty="0"/>
          </a:p>
        </p:txBody>
      </p:sp>
      <p:sp>
        <p:nvSpPr>
          <p:cNvPr id="17" name="Shape 15"/>
          <p:cNvSpPr/>
          <p:nvPr/>
        </p:nvSpPr>
        <p:spPr>
          <a:xfrm>
            <a:off x="7635240" y="1874520"/>
            <a:ext cx="365760" cy="365760"/>
          </a:xfrm>
          <a:prstGeom prst="rect">
            <a:avLst/>
          </a:prstGeom>
          <a:solidFill>
            <a:srgbClr val="DBDFE6"/>
          </a:solidFill>
          <a:ln/>
        </p:spPr>
      </p:sp>
      <p:sp>
        <p:nvSpPr>
          <p:cNvPr id="18" name="Shape 16"/>
          <p:cNvSpPr/>
          <p:nvPr/>
        </p:nvSpPr>
        <p:spPr>
          <a:xfrm>
            <a:off x="8046720" y="1874520"/>
            <a:ext cx="365760" cy="365760"/>
          </a:xfrm>
          <a:prstGeom prst="rect">
            <a:avLst/>
          </a:prstGeom>
          <a:solidFill>
            <a:srgbClr val="DBDFE6"/>
          </a:solidFill>
          <a:ln/>
        </p:spPr>
      </p:sp>
      <p:sp>
        <p:nvSpPr>
          <p:cNvPr id="19" name="Shape 17"/>
          <p:cNvSpPr/>
          <p:nvPr/>
        </p:nvSpPr>
        <p:spPr>
          <a:xfrm>
            <a:off x="8458200" y="1874520"/>
            <a:ext cx="365760" cy="365760"/>
          </a:xfrm>
          <a:prstGeom prst="rect">
            <a:avLst/>
          </a:prstGeom>
          <a:solidFill>
            <a:srgbClr val="DBDFE6"/>
          </a:solidFill>
          <a:ln/>
        </p:spPr>
      </p:sp>
      <p:sp>
        <p:nvSpPr>
          <p:cNvPr id="20" name="Shape 18"/>
          <p:cNvSpPr/>
          <p:nvPr/>
        </p:nvSpPr>
        <p:spPr>
          <a:xfrm>
            <a:off x="8869680" y="1874520"/>
            <a:ext cx="365760" cy="365760"/>
          </a:xfrm>
          <a:prstGeom prst="rect">
            <a:avLst/>
          </a:prstGeom>
          <a:solidFill>
            <a:srgbClr val="DBDFE6"/>
          </a:solidFill>
          <a:ln/>
        </p:spPr>
      </p:sp>
      <p:sp>
        <p:nvSpPr>
          <p:cNvPr id="21" name="Shape 19"/>
          <p:cNvSpPr/>
          <p:nvPr/>
        </p:nvSpPr>
        <p:spPr>
          <a:xfrm>
            <a:off x="9281160" y="1874520"/>
            <a:ext cx="365760" cy="365760"/>
          </a:xfrm>
          <a:prstGeom prst="rect">
            <a:avLst/>
          </a:prstGeom>
          <a:solidFill>
            <a:srgbClr val="DBDFE6"/>
          </a:solidFill>
          <a:ln/>
        </p:spPr>
      </p:sp>
      <p:sp>
        <p:nvSpPr>
          <p:cNvPr id="22" name="Shape 20"/>
          <p:cNvSpPr/>
          <p:nvPr/>
        </p:nvSpPr>
        <p:spPr>
          <a:xfrm>
            <a:off x="9692640" y="1874520"/>
            <a:ext cx="365760" cy="365760"/>
          </a:xfrm>
          <a:prstGeom prst="rect">
            <a:avLst/>
          </a:prstGeom>
          <a:solidFill>
            <a:srgbClr val="DBDFE6"/>
          </a:solidFill>
          <a:ln/>
        </p:spPr>
      </p:sp>
      <p:sp>
        <p:nvSpPr>
          <p:cNvPr id="23" name="Shape 21"/>
          <p:cNvSpPr/>
          <p:nvPr/>
        </p:nvSpPr>
        <p:spPr>
          <a:xfrm>
            <a:off x="10104120" y="1874520"/>
            <a:ext cx="365760" cy="365760"/>
          </a:xfrm>
          <a:prstGeom prst="rect">
            <a:avLst/>
          </a:prstGeom>
          <a:solidFill>
            <a:srgbClr val="DBDFE6"/>
          </a:solidFill>
          <a:ln/>
        </p:spPr>
      </p:sp>
      <p:sp>
        <p:nvSpPr>
          <p:cNvPr id="24" name="Shape 22"/>
          <p:cNvSpPr/>
          <p:nvPr/>
        </p:nvSpPr>
        <p:spPr>
          <a:xfrm>
            <a:off x="10515600" y="1874520"/>
            <a:ext cx="365760" cy="365760"/>
          </a:xfrm>
          <a:prstGeom prst="rect">
            <a:avLst/>
          </a:prstGeom>
          <a:solidFill>
            <a:srgbClr val="DBDFE6"/>
          </a:solidFill>
          <a:ln/>
        </p:spPr>
      </p:sp>
      <p:sp>
        <p:nvSpPr>
          <p:cNvPr id="25" name="Shape 23"/>
          <p:cNvSpPr/>
          <p:nvPr/>
        </p:nvSpPr>
        <p:spPr>
          <a:xfrm>
            <a:off x="7635240" y="2286000"/>
            <a:ext cx="365760" cy="365760"/>
          </a:xfrm>
          <a:prstGeom prst="rect">
            <a:avLst/>
          </a:prstGeom>
          <a:solidFill>
            <a:srgbClr val="DBDFE6"/>
          </a:solidFill>
          <a:ln/>
        </p:spPr>
      </p:sp>
      <p:sp>
        <p:nvSpPr>
          <p:cNvPr id="26" name="Shape 24"/>
          <p:cNvSpPr/>
          <p:nvPr/>
        </p:nvSpPr>
        <p:spPr>
          <a:xfrm>
            <a:off x="8046720" y="2286000"/>
            <a:ext cx="365760" cy="365760"/>
          </a:xfrm>
          <a:prstGeom prst="rect">
            <a:avLst/>
          </a:prstGeom>
          <a:solidFill>
            <a:srgbClr val="1F3A63"/>
          </a:solidFill>
          <a:ln/>
        </p:spPr>
      </p:sp>
      <p:sp>
        <p:nvSpPr>
          <p:cNvPr id="27" name="Shape 25"/>
          <p:cNvSpPr/>
          <p:nvPr/>
        </p:nvSpPr>
        <p:spPr>
          <a:xfrm>
            <a:off x="8458200" y="2286000"/>
            <a:ext cx="365760" cy="365760"/>
          </a:xfrm>
          <a:prstGeom prst="rect">
            <a:avLst/>
          </a:prstGeom>
          <a:solidFill>
            <a:srgbClr val="1F3A63"/>
          </a:solidFill>
          <a:ln/>
        </p:spPr>
      </p:sp>
      <p:sp>
        <p:nvSpPr>
          <p:cNvPr id="28" name="Shape 26"/>
          <p:cNvSpPr/>
          <p:nvPr/>
        </p:nvSpPr>
        <p:spPr>
          <a:xfrm>
            <a:off x="8869680" y="2286000"/>
            <a:ext cx="365760" cy="365760"/>
          </a:xfrm>
          <a:prstGeom prst="rect">
            <a:avLst/>
          </a:prstGeom>
          <a:solidFill>
            <a:srgbClr val="DBDFE6"/>
          </a:solidFill>
          <a:ln/>
        </p:spPr>
      </p:sp>
      <p:sp>
        <p:nvSpPr>
          <p:cNvPr id="29" name="Shape 27"/>
          <p:cNvSpPr/>
          <p:nvPr/>
        </p:nvSpPr>
        <p:spPr>
          <a:xfrm>
            <a:off x="9281160" y="2286000"/>
            <a:ext cx="365760" cy="365760"/>
          </a:xfrm>
          <a:prstGeom prst="rect">
            <a:avLst/>
          </a:prstGeom>
          <a:solidFill>
            <a:srgbClr val="DBDFE6"/>
          </a:solidFill>
          <a:ln/>
        </p:spPr>
      </p:sp>
      <p:sp>
        <p:nvSpPr>
          <p:cNvPr id="30" name="Shape 28"/>
          <p:cNvSpPr/>
          <p:nvPr/>
        </p:nvSpPr>
        <p:spPr>
          <a:xfrm>
            <a:off x="9692640" y="2286000"/>
            <a:ext cx="365760" cy="365760"/>
          </a:xfrm>
          <a:prstGeom prst="rect">
            <a:avLst/>
          </a:prstGeom>
          <a:solidFill>
            <a:srgbClr val="DBDFE6"/>
          </a:solidFill>
          <a:ln/>
        </p:spPr>
      </p:sp>
      <p:sp>
        <p:nvSpPr>
          <p:cNvPr id="31" name="Shape 29"/>
          <p:cNvSpPr/>
          <p:nvPr/>
        </p:nvSpPr>
        <p:spPr>
          <a:xfrm>
            <a:off x="10104120" y="2286000"/>
            <a:ext cx="365760" cy="365760"/>
          </a:xfrm>
          <a:prstGeom prst="rect">
            <a:avLst/>
          </a:prstGeom>
          <a:solidFill>
            <a:srgbClr val="DBDFE6"/>
          </a:solidFill>
          <a:ln/>
        </p:spPr>
      </p:sp>
      <p:sp>
        <p:nvSpPr>
          <p:cNvPr id="32" name="Shape 30"/>
          <p:cNvSpPr/>
          <p:nvPr/>
        </p:nvSpPr>
        <p:spPr>
          <a:xfrm>
            <a:off x="10515600" y="2286000"/>
            <a:ext cx="365760" cy="365760"/>
          </a:xfrm>
          <a:prstGeom prst="rect">
            <a:avLst/>
          </a:prstGeom>
          <a:solidFill>
            <a:srgbClr val="DBDFE6"/>
          </a:solidFill>
          <a:ln/>
        </p:spPr>
      </p:sp>
      <p:sp>
        <p:nvSpPr>
          <p:cNvPr id="33" name="Shape 31"/>
          <p:cNvSpPr/>
          <p:nvPr/>
        </p:nvSpPr>
        <p:spPr>
          <a:xfrm>
            <a:off x="7635240" y="2697480"/>
            <a:ext cx="365760" cy="365760"/>
          </a:xfrm>
          <a:prstGeom prst="rect">
            <a:avLst/>
          </a:prstGeom>
          <a:solidFill>
            <a:srgbClr val="DBDFE6"/>
          </a:solidFill>
          <a:ln/>
        </p:spPr>
      </p:sp>
      <p:sp>
        <p:nvSpPr>
          <p:cNvPr id="34" name="Shape 32"/>
          <p:cNvSpPr/>
          <p:nvPr/>
        </p:nvSpPr>
        <p:spPr>
          <a:xfrm>
            <a:off x="8046720" y="2697480"/>
            <a:ext cx="365760" cy="365760"/>
          </a:xfrm>
          <a:prstGeom prst="rect">
            <a:avLst/>
          </a:prstGeom>
          <a:solidFill>
            <a:srgbClr val="DBDFE6"/>
          </a:solidFill>
          <a:ln/>
        </p:spPr>
      </p:sp>
      <p:sp>
        <p:nvSpPr>
          <p:cNvPr id="35" name="Shape 33"/>
          <p:cNvSpPr/>
          <p:nvPr/>
        </p:nvSpPr>
        <p:spPr>
          <a:xfrm>
            <a:off x="8458200" y="2697480"/>
            <a:ext cx="365760" cy="365760"/>
          </a:xfrm>
          <a:prstGeom prst="rect">
            <a:avLst/>
          </a:prstGeom>
          <a:solidFill>
            <a:srgbClr val="DBDFE6"/>
          </a:solidFill>
          <a:ln/>
        </p:spPr>
      </p:sp>
      <p:sp>
        <p:nvSpPr>
          <p:cNvPr id="36" name="Shape 34"/>
          <p:cNvSpPr/>
          <p:nvPr/>
        </p:nvSpPr>
        <p:spPr>
          <a:xfrm>
            <a:off x="8869680" y="2697480"/>
            <a:ext cx="365760" cy="365760"/>
          </a:xfrm>
          <a:prstGeom prst="rect">
            <a:avLst/>
          </a:prstGeom>
          <a:solidFill>
            <a:srgbClr val="DBDFE6"/>
          </a:solidFill>
          <a:ln/>
        </p:spPr>
      </p:sp>
      <p:sp>
        <p:nvSpPr>
          <p:cNvPr id="37" name="Shape 35"/>
          <p:cNvSpPr/>
          <p:nvPr/>
        </p:nvSpPr>
        <p:spPr>
          <a:xfrm>
            <a:off x="9281160" y="2697480"/>
            <a:ext cx="365760" cy="365760"/>
          </a:xfrm>
          <a:prstGeom prst="rect">
            <a:avLst/>
          </a:prstGeom>
          <a:solidFill>
            <a:srgbClr val="DBDFE6"/>
          </a:solidFill>
          <a:ln/>
        </p:spPr>
      </p:sp>
      <p:sp>
        <p:nvSpPr>
          <p:cNvPr id="38" name="Shape 36"/>
          <p:cNvSpPr/>
          <p:nvPr/>
        </p:nvSpPr>
        <p:spPr>
          <a:xfrm>
            <a:off x="9692640" y="2697480"/>
            <a:ext cx="365760" cy="365760"/>
          </a:xfrm>
          <a:prstGeom prst="rect">
            <a:avLst/>
          </a:prstGeom>
          <a:solidFill>
            <a:srgbClr val="DBDFE6"/>
          </a:solidFill>
          <a:ln/>
        </p:spPr>
      </p:sp>
      <p:sp>
        <p:nvSpPr>
          <p:cNvPr id="39" name="Shape 37"/>
          <p:cNvSpPr/>
          <p:nvPr/>
        </p:nvSpPr>
        <p:spPr>
          <a:xfrm>
            <a:off x="10104120" y="2697480"/>
            <a:ext cx="365760" cy="365760"/>
          </a:xfrm>
          <a:prstGeom prst="rect">
            <a:avLst/>
          </a:prstGeom>
          <a:solidFill>
            <a:srgbClr val="DBDFE6"/>
          </a:solidFill>
          <a:ln/>
        </p:spPr>
      </p:sp>
      <p:sp>
        <p:nvSpPr>
          <p:cNvPr id="40" name="Shape 38"/>
          <p:cNvSpPr/>
          <p:nvPr/>
        </p:nvSpPr>
        <p:spPr>
          <a:xfrm>
            <a:off x="10515600" y="2697480"/>
            <a:ext cx="365760" cy="365760"/>
          </a:xfrm>
          <a:prstGeom prst="rect">
            <a:avLst/>
          </a:prstGeom>
          <a:solidFill>
            <a:srgbClr val="DBDFE6"/>
          </a:solidFill>
          <a:ln/>
        </p:spPr>
      </p:sp>
      <p:sp>
        <p:nvSpPr>
          <p:cNvPr id="41" name="Shape 39"/>
          <p:cNvSpPr/>
          <p:nvPr/>
        </p:nvSpPr>
        <p:spPr>
          <a:xfrm>
            <a:off x="7635240" y="3108960"/>
            <a:ext cx="365760" cy="365760"/>
          </a:xfrm>
          <a:prstGeom prst="rect">
            <a:avLst/>
          </a:prstGeom>
          <a:solidFill>
            <a:srgbClr val="DBDFE6"/>
          </a:solidFill>
          <a:ln/>
        </p:spPr>
      </p:sp>
      <p:sp>
        <p:nvSpPr>
          <p:cNvPr id="42" name="Shape 40"/>
          <p:cNvSpPr/>
          <p:nvPr/>
        </p:nvSpPr>
        <p:spPr>
          <a:xfrm>
            <a:off x="8046720" y="3108960"/>
            <a:ext cx="365760" cy="365760"/>
          </a:xfrm>
          <a:prstGeom prst="rect">
            <a:avLst/>
          </a:prstGeom>
          <a:solidFill>
            <a:srgbClr val="DBDFE6"/>
          </a:solidFill>
          <a:ln/>
        </p:spPr>
      </p:sp>
      <p:sp>
        <p:nvSpPr>
          <p:cNvPr id="43" name="Shape 41"/>
          <p:cNvSpPr/>
          <p:nvPr/>
        </p:nvSpPr>
        <p:spPr>
          <a:xfrm>
            <a:off x="8458200" y="3108960"/>
            <a:ext cx="365760" cy="365760"/>
          </a:xfrm>
          <a:prstGeom prst="rect">
            <a:avLst/>
          </a:prstGeom>
          <a:solidFill>
            <a:srgbClr val="DBDFE6"/>
          </a:solidFill>
          <a:ln/>
        </p:spPr>
      </p:sp>
      <p:sp>
        <p:nvSpPr>
          <p:cNvPr id="44" name="Shape 42"/>
          <p:cNvSpPr/>
          <p:nvPr/>
        </p:nvSpPr>
        <p:spPr>
          <a:xfrm>
            <a:off x="8869680" y="3108960"/>
            <a:ext cx="365760" cy="365760"/>
          </a:xfrm>
          <a:prstGeom prst="rect">
            <a:avLst/>
          </a:prstGeom>
          <a:solidFill>
            <a:srgbClr val="1F3A63"/>
          </a:solidFill>
          <a:ln/>
        </p:spPr>
      </p:sp>
      <p:sp>
        <p:nvSpPr>
          <p:cNvPr id="45" name="Shape 43"/>
          <p:cNvSpPr/>
          <p:nvPr/>
        </p:nvSpPr>
        <p:spPr>
          <a:xfrm>
            <a:off x="9281160" y="3108960"/>
            <a:ext cx="365760" cy="365760"/>
          </a:xfrm>
          <a:prstGeom prst="rect">
            <a:avLst/>
          </a:prstGeom>
          <a:solidFill>
            <a:srgbClr val="DBDFE6"/>
          </a:solidFill>
          <a:ln/>
        </p:spPr>
      </p:sp>
      <p:sp>
        <p:nvSpPr>
          <p:cNvPr id="46" name="Shape 44"/>
          <p:cNvSpPr/>
          <p:nvPr/>
        </p:nvSpPr>
        <p:spPr>
          <a:xfrm>
            <a:off x="9692640" y="3108960"/>
            <a:ext cx="365760" cy="365760"/>
          </a:xfrm>
          <a:prstGeom prst="rect">
            <a:avLst/>
          </a:prstGeom>
          <a:solidFill>
            <a:srgbClr val="DBDFE6"/>
          </a:solidFill>
          <a:ln/>
        </p:spPr>
      </p:sp>
      <p:sp>
        <p:nvSpPr>
          <p:cNvPr id="47" name="Shape 45"/>
          <p:cNvSpPr/>
          <p:nvPr/>
        </p:nvSpPr>
        <p:spPr>
          <a:xfrm>
            <a:off x="10104120" y="3108960"/>
            <a:ext cx="365760" cy="365760"/>
          </a:xfrm>
          <a:prstGeom prst="rect">
            <a:avLst/>
          </a:prstGeom>
          <a:solidFill>
            <a:srgbClr val="DBDFE6"/>
          </a:solidFill>
          <a:ln/>
        </p:spPr>
      </p:sp>
      <p:sp>
        <p:nvSpPr>
          <p:cNvPr id="48" name="Shape 46"/>
          <p:cNvSpPr/>
          <p:nvPr/>
        </p:nvSpPr>
        <p:spPr>
          <a:xfrm>
            <a:off x="10515600" y="3108960"/>
            <a:ext cx="365760" cy="365760"/>
          </a:xfrm>
          <a:prstGeom prst="rect">
            <a:avLst/>
          </a:prstGeom>
          <a:solidFill>
            <a:srgbClr val="DBDFE6"/>
          </a:solidFill>
          <a:ln/>
        </p:spPr>
      </p:sp>
      <p:sp>
        <p:nvSpPr>
          <p:cNvPr id="49" name="Shape 47"/>
          <p:cNvSpPr/>
          <p:nvPr/>
        </p:nvSpPr>
        <p:spPr>
          <a:xfrm>
            <a:off x="7635240" y="3520440"/>
            <a:ext cx="365760" cy="365760"/>
          </a:xfrm>
          <a:prstGeom prst="rect">
            <a:avLst/>
          </a:prstGeom>
          <a:solidFill>
            <a:srgbClr val="DBDFE6"/>
          </a:solidFill>
          <a:ln/>
        </p:spPr>
      </p:sp>
      <p:sp>
        <p:nvSpPr>
          <p:cNvPr id="50" name="Shape 48"/>
          <p:cNvSpPr/>
          <p:nvPr/>
        </p:nvSpPr>
        <p:spPr>
          <a:xfrm>
            <a:off x="8046720" y="3520440"/>
            <a:ext cx="365760" cy="365760"/>
          </a:xfrm>
          <a:prstGeom prst="rect">
            <a:avLst/>
          </a:prstGeom>
          <a:solidFill>
            <a:srgbClr val="DBDFE6"/>
          </a:solidFill>
          <a:ln/>
        </p:spPr>
      </p:sp>
      <p:sp>
        <p:nvSpPr>
          <p:cNvPr id="51" name="Shape 49"/>
          <p:cNvSpPr/>
          <p:nvPr/>
        </p:nvSpPr>
        <p:spPr>
          <a:xfrm>
            <a:off x="8458200" y="3520440"/>
            <a:ext cx="365760" cy="365760"/>
          </a:xfrm>
          <a:prstGeom prst="rect">
            <a:avLst/>
          </a:prstGeom>
          <a:solidFill>
            <a:srgbClr val="DBDFE6"/>
          </a:solidFill>
          <a:ln/>
        </p:spPr>
      </p:sp>
      <p:sp>
        <p:nvSpPr>
          <p:cNvPr id="52" name="Shape 50"/>
          <p:cNvSpPr/>
          <p:nvPr/>
        </p:nvSpPr>
        <p:spPr>
          <a:xfrm>
            <a:off x="8869680" y="3520440"/>
            <a:ext cx="365760" cy="365760"/>
          </a:xfrm>
          <a:prstGeom prst="rect">
            <a:avLst/>
          </a:prstGeom>
          <a:solidFill>
            <a:srgbClr val="DBDFE6"/>
          </a:solidFill>
          <a:ln/>
        </p:spPr>
      </p:sp>
      <p:sp>
        <p:nvSpPr>
          <p:cNvPr id="53" name="Shape 51"/>
          <p:cNvSpPr/>
          <p:nvPr/>
        </p:nvSpPr>
        <p:spPr>
          <a:xfrm>
            <a:off x="9281160" y="3520440"/>
            <a:ext cx="365760" cy="365760"/>
          </a:xfrm>
          <a:prstGeom prst="rect">
            <a:avLst/>
          </a:prstGeom>
          <a:solidFill>
            <a:srgbClr val="DBDFE6"/>
          </a:solidFill>
          <a:ln/>
        </p:spPr>
      </p:sp>
      <p:sp>
        <p:nvSpPr>
          <p:cNvPr id="54" name="Shape 52"/>
          <p:cNvSpPr/>
          <p:nvPr/>
        </p:nvSpPr>
        <p:spPr>
          <a:xfrm>
            <a:off x="9692640" y="3520440"/>
            <a:ext cx="365760" cy="365760"/>
          </a:xfrm>
          <a:prstGeom prst="rect">
            <a:avLst/>
          </a:prstGeom>
          <a:solidFill>
            <a:srgbClr val="DBDFE6"/>
          </a:solidFill>
          <a:ln/>
        </p:spPr>
      </p:sp>
      <p:sp>
        <p:nvSpPr>
          <p:cNvPr id="55" name="Shape 53"/>
          <p:cNvSpPr/>
          <p:nvPr/>
        </p:nvSpPr>
        <p:spPr>
          <a:xfrm>
            <a:off x="10104120" y="3520440"/>
            <a:ext cx="365760" cy="365760"/>
          </a:xfrm>
          <a:prstGeom prst="rect">
            <a:avLst/>
          </a:prstGeom>
          <a:solidFill>
            <a:srgbClr val="DBDFE6"/>
          </a:solidFill>
          <a:ln/>
        </p:spPr>
      </p:sp>
      <p:sp>
        <p:nvSpPr>
          <p:cNvPr id="56" name="Shape 54"/>
          <p:cNvSpPr/>
          <p:nvPr/>
        </p:nvSpPr>
        <p:spPr>
          <a:xfrm>
            <a:off x="10515600" y="3520440"/>
            <a:ext cx="365760" cy="365760"/>
          </a:xfrm>
          <a:prstGeom prst="rect">
            <a:avLst/>
          </a:prstGeom>
          <a:solidFill>
            <a:srgbClr val="DBDFE6"/>
          </a:solidFill>
          <a:ln/>
        </p:spPr>
      </p:sp>
      <p:sp>
        <p:nvSpPr>
          <p:cNvPr id="57" name="Shape 55"/>
          <p:cNvSpPr/>
          <p:nvPr/>
        </p:nvSpPr>
        <p:spPr>
          <a:xfrm>
            <a:off x="7635240" y="3931920"/>
            <a:ext cx="365760" cy="365760"/>
          </a:xfrm>
          <a:prstGeom prst="rect">
            <a:avLst/>
          </a:prstGeom>
          <a:solidFill>
            <a:srgbClr val="DBDFE6"/>
          </a:solidFill>
          <a:ln/>
        </p:spPr>
      </p:sp>
      <p:sp>
        <p:nvSpPr>
          <p:cNvPr id="58" name="Shape 56"/>
          <p:cNvSpPr/>
          <p:nvPr/>
        </p:nvSpPr>
        <p:spPr>
          <a:xfrm>
            <a:off x="8046720" y="3931920"/>
            <a:ext cx="365760" cy="365760"/>
          </a:xfrm>
          <a:prstGeom prst="rect">
            <a:avLst/>
          </a:prstGeom>
          <a:solidFill>
            <a:srgbClr val="DBDFE6"/>
          </a:solidFill>
          <a:ln/>
        </p:spPr>
      </p:sp>
      <p:sp>
        <p:nvSpPr>
          <p:cNvPr id="59" name="Shape 57"/>
          <p:cNvSpPr/>
          <p:nvPr/>
        </p:nvSpPr>
        <p:spPr>
          <a:xfrm>
            <a:off x="8458200" y="3931920"/>
            <a:ext cx="365760" cy="365760"/>
          </a:xfrm>
          <a:prstGeom prst="rect">
            <a:avLst/>
          </a:prstGeom>
          <a:solidFill>
            <a:srgbClr val="DBDFE6"/>
          </a:solidFill>
          <a:ln/>
        </p:spPr>
      </p:sp>
      <p:sp>
        <p:nvSpPr>
          <p:cNvPr id="60" name="Shape 58"/>
          <p:cNvSpPr/>
          <p:nvPr/>
        </p:nvSpPr>
        <p:spPr>
          <a:xfrm>
            <a:off x="8869680" y="3931920"/>
            <a:ext cx="365760" cy="365760"/>
          </a:xfrm>
          <a:prstGeom prst="rect">
            <a:avLst/>
          </a:prstGeom>
          <a:solidFill>
            <a:srgbClr val="DBDFE6"/>
          </a:solidFill>
          <a:ln/>
        </p:spPr>
      </p:sp>
      <p:sp>
        <p:nvSpPr>
          <p:cNvPr id="61" name="Shape 59"/>
          <p:cNvSpPr/>
          <p:nvPr/>
        </p:nvSpPr>
        <p:spPr>
          <a:xfrm>
            <a:off x="9281160" y="3931920"/>
            <a:ext cx="365760" cy="365760"/>
          </a:xfrm>
          <a:prstGeom prst="rect">
            <a:avLst/>
          </a:prstGeom>
          <a:solidFill>
            <a:srgbClr val="DBDFE6"/>
          </a:solidFill>
          <a:ln/>
        </p:spPr>
      </p:sp>
      <p:sp>
        <p:nvSpPr>
          <p:cNvPr id="62" name="Shape 60"/>
          <p:cNvSpPr/>
          <p:nvPr/>
        </p:nvSpPr>
        <p:spPr>
          <a:xfrm>
            <a:off x="9692640" y="3931920"/>
            <a:ext cx="365760" cy="365760"/>
          </a:xfrm>
          <a:prstGeom prst="rect">
            <a:avLst/>
          </a:prstGeom>
          <a:solidFill>
            <a:srgbClr val="DBDFE6"/>
          </a:solidFill>
          <a:ln/>
        </p:spPr>
      </p:sp>
      <p:sp>
        <p:nvSpPr>
          <p:cNvPr id="63" name="Shape 61"/>
          <p:cNvSpPr/>
          <p:nvPr/>
        </p:nvSpPr>
        <p:spPr>
          <a:xfrm>
            <a:off x="10104120" y="3931920"/>
            <a:ext cx="365760" cy="365760"/>
          </a:xfrm>
          <a:prstGeom prst="rect">
            <a:avLst/>
          </a:prstGeom>
          <a:solidFill>
            <a:srgbClr val="DBDFE6"/>
          </a:solidFill>
          <a:ln/>
        </p:spPr>
      </p:sp>
      <p:sp>
        <p:nvSpPr>
          <p:cNvPr id="64" name="Shape 62"/>
          <p:cNvSpPr/>
          <p:nvPr/>
        </p:nvSpPr>
        <p:spPr>
          <a:xfrm>
            <a:off x="10515600" y="3931920"/>
            <a:ext cx="365760" cy="365760"/>
          </a:xfrm>
          <a:prstGeom prst="rect">
            <a:avLst/>
          </a:prstGeom>
          <a:solidFill>
            <a:srgbClr val="DBDFE6"/>
          </a:solidFill>
          <a:ln/>
        </p:spPr>
      </p:sp>
      <p:sp>
        <p:nvSpPr>
          <p:cNvPr id="65" name="Shape 63"/>
          <p:cNvSpPr/>
          <p:nvPr/>
        </p:nvSpPr>
        <p:spPr>
          <a:xfrm>
            <a:off x="7635240" y="4343400"/>
            <a:ext cx="365760" cy="365760"/>
          </a:xfrm>
          <a:prstGeom prst="rect">
            <a:avLst/>
          </a:prstGeom>
          <a:solidFill>
            <a:srgbClr val="DBDFE6"/>
          </a:solidFill>
          <a:ln/>
        </p:spPr>
      </p:sp>
      <p:sp>
        <p:nvSpPr>
          <p:cNvPr id="66" name="Shape 64"/>
          <p:cNvSpPr/>
          <p:nvPr/>
        </p:nvSpPr>
        <p:spPr>
          <a:xfrm>
            <a:off x="8046720" y="4343400"/>
            <a:ext cx="365760" cy="365760"/>
          </a:xfrm>
          <a:prstGeom prst="rect">
            <a:avLst/>
          </a:prstGeom>
          <a:solidFill>
            <a:srgbClr val="DBDFE6"/>
          </a:solidFill>
          <a:ln/>
        </p:spPr>
      </p:sp>
      <p:sp>
        <p:nvSpPr>
          <p:cNvPr id="67" name="Shape 65"/>
          <p:cNvSpPr/>
          <p:nvPr/>
        </p:nvSpPr>
        <p:spPr>
          <a:xfrm>
            <a:off x="8458200" y="4343400"/>
            <a:ext cx="365760" cy="365760"/>
          </a:xfrm>
          <a:prstGeom prst="rect">
            <a:avLst/>
          </a:prstGeom>
          <a:solidFill>
            <a:srgbClr val="DBDFE6"/>
          </a:solidFill>
          <a:ln/>
        </p:spPr>
      </p:sp>
      <p:sp>
        <p:nvSpPr>
          <p:cNvPr id="68" name="Shape 66"/>
          <p:cNvSpPr/>
          <p:nvPr/>
        </p:nvSpPr>
        <p:spPr>
          <a:xfrm>
            <a:off x="8869680" y="4343400"/>
            <a:ext cx="365760" cy="365760"/>
          </a:xfrm>
          <a:prstGeom prst="rect">
            <a:avLst/>
          </a:prstGeom>
          <a:solidFill>
            <a:srgbClr val="DBDFE6"/>
          </a:solidFill>
          <a:ln/>
        </p:spPr>
      </p:sp>
      <p:sp>
        <p:nvSpPr>
          <p:cNvPr id="69" name="Shape 67"/>
          <p:cNvSpPr/>
          <p:nvPr/>
        </p:nvSpPr>
        <p:spPr>
          <a:xfrm>
            <a:off x="9281160" y="4343400"/>
            <a:ext cx="365760" cy="365760"/>
          </a:xfrm>
          <a:prstGeom prst="rect">
            <a:avLst/>
          </a:prstGeom>
          <a:solidFill>
            <a:srgbClr val="1F3A63"/>
          </a:solidFill>
          <a:ln/>
        </p:spPr>
      </p:sp>
      <p:sp>
        <p:nvSpPr>
          <p:cNvPr id="70" name="Shape 68"/>
          <p:cNvSpPr/>
          <p:nvPr/>
        </p:nvSpPr>
        <p:spPr>
          <a:xfrm>
            <a:off x="9692640" y="4343400"/>
            <a:ext cx="365760" cy="365760"/>
          </a:xfrm>
          <a:prstGeom prst="rect">
            <a:avLst/>
          </a:prstGeom>
          <a:solidFill>
            <a:srgbClr val="DBDFE6"/>
          </a:solidFill>
          <a:ln/>
        </p:spPr>
      </p:sp>
      <p:sp>
        <p:nvSpPr>
          <p:cNvPr id="71" name="Shape 69"/>
          <p:cNvSpPr/>
          <p:nvPr/>
        </p:nvSpPr>
        <p:spPr>
          <a:xfrm>
            <a:off x="10104120" y="4343400"/>
            <a:ext cx="365760" cy="365760"/>
          </a:xfrm>
          <a:prstGeom prst="rect">
            <a:avLst/>
          </a:prstGeom>
          <a:solidFill>
            <a:srgbClr val="DBDFE6"/>
          </a:solidFill>
          <a:ln/>
        </p:spPr>
      </p:sp>
      <p:sp>
        <p:nvSpPr>
          <p:cNvPr id="72" name="Shape 70"/>
          <p:cNvSpPr/>
          <p:nvPr/>
        </p:nvSpPr>
        <p:spPr>
          <a:xfrm>
            <a:off x="10515600" y="4343400"/>
            <a:ext cx="365760" cy="365760"/>
          </a:xfrm>
          <a:prstGeom prst="rect">
            <a:avLst/>
          </a:prstGeom>
          <a:solidFill>
            <a:srgbClr val="DBDFE6"/>
          </a:solidFill>
          <a:ln/>
        </p:spPr>
      </p:sp>
      <p:sp>
        <p:nvSpPr>
          <p:cNvPr id="73" name="Shape 71"/>
          <p:cNvSpPr/>
          <p:nvPr/>
        </p:nvSpPr>
        <p:spPr>
          <a:xfrm>
            <a:off x="7635240" y="4754880"/>
            <a:ext cx="365760" cy="365760"/>
          </a:xfrm>
          <a:prstGeom prst="rect">
            <a:avLst/>
          </a:prstGeom>
          <a:solidFill>
            <a:srgbClr val="DBDFE6"/>
          </a:solidFill>
          <a:ln/>
        </p:spPr>
      </p:sp>
      <p:sp>
        <p:nvSpPr>
          <p:cNvPr id="74" name="Shape 72"/>
          <p:cNvSpPr/>
          <p:nvPr/>
        </p:nvSpPr>
        <p:spPr>
          <a:xfrm>
            <a:off x="8046720" y="4754880"/>
            <a:ext cx="365760" cy="365760"/>
          </a:xfrm>
          <a:prstGeom prst="rect">
            <a:avLst/>
          </a:prstGeom>
          <a:solidFill>
            <a:srgbClr val="DBDFE6"/>
          </a:solidFill>
          <a:ln/>
        </p:spPr>
      </p:sp>
      <p:sp>
        <p:nvSpPr>
          <p:cNvPr id="75" name="Shape 73"/>
          <p:cNvSpPr/>
          <p:nvPr/>
        </p:nvSpPr>
        <p:spPr>
          <a:xfrm>
            <a:off x="8458200" y="4754880"/>
            <a:ext cx="365760" cy="365760"/>
          </a:xfrm>
          <a:prstGeom prst="rect">
            <a:avLst/>
          </a:prstGeom>
          <a:solidFill>
            <a:srgbClr val="DBDFE6"/>
          </a:solidFill>
          <a:ln/>
        </p:spPr>
      </p:sp>
      <p:sp>
        <p:nvSpPr>
          <p:cNvPr id="76" name="Shape 74"/>
          <p:cNvSpPr/>
          <p:nvPr/>
        </p:nvSpPr>
        <p:spPr>
          <a:xfrm>
            <a:off x="8869680" y="4754880"/>
            <a:ext cx="365760" cy="365760"/>
          </a:xfrm>
          <a:prstGeom prst="rect">
            <a:avLst/>
          </a:prstGeom>
          <a:solidFill>
            <a:srgbClr val="DBDFE6"/>
          </a:solidFill>
          <a:ln/>
        </p:spPr>
      </p:sp>
      <p:sp>
        <p:nvSpPr>
          <p:cNvPr id="77" name="Shape 75"/>
          <p:cNvSpPr/>
          <p:nvPr/>
        </p:nvSpPr>
        <p:spPr>
          <a:xfrm>
            <a:off x="9281160" y="4754880"/>
            <a:ext cx="365760" cy="365760"/>
          </a:xfrm>
          <a:prstGeom prst="rect">
            <a:avLst/>
          </a:prstGeom>
          <a:solidFill>
            <a:srgbClr val="DBDFE6"/>
          </a:solidFill>
          <a:ln/>
        </p:spPr>
      </p:sp>
      <p:sp>
        <p:nvSpPr>
          <p:cNvPr id="78" name="Shape 76"/>
          <p:cNvSpPr/>
          <p:nvPr/>
        </p:nvSpPr>
        <p:spPr>
          <a:xfrm>
            <a:off x="9692640" y="4754880"/>
            <a:ext cx="365760" cy="365760"/>
          </a:xfrm>
          <a:prstGeom prst="rect">
            <a:avLst/>
          </a:prstGeom>
          <a:solidFill>
            <a:srgbClr val="DBDFE6"/>
          </a:solidFill>
          <a:ln/>
        </p:spPr>
      </p:sp>
      <p:sp>
        <p:nvSpPr>
          <p:cNvPr id="79" name="Shape 77"/>
          <p:cNvSpPr/>
          <p:nvPr/>
        </p:nvSpPr>
        <p:spPr>
          <a:xfrm>
            <a:off x="10104120" y="4754880"/>
            <a:ext cx="365760" cy="365760"/>
          </a:xfrm>
          <a:prstGeom prst="rect">
            <a:avLst/>
          </a:prstGeom>
          <a:solidFill>
            <a:srgbClr val="DBDFE6"/>
          </a:solidFill>
          <a:ln/>
        </p:spPr>
      </p:sp>
      <p:sp>
        <p:nvSpPr>
          <p:cNvPr id="80" name="Shape 78"/>
          <p:cNvSpPr/>
          <p:nvPr/>
        </p:nvSpPr>
        <p:spPr>
          <a:xfrm>
            <a:off x="10515600" y="4754880"/>
            <a:ext cx="365760" cy="365760"/>
          </a:xfrm>
          <a:prstGeom prst="rect">
            <a:avLst/>
          </a:prstGeom>
          <a:solidFill>
            <a:srgbClr val="DBDFE6"/>
          </a:solidFill>
          <a:ln/>
        </p:spPr>
      </p:sp>
      <p:sp>
        <p:nvSpPr>
          <p:cNvPr id="81" name="Text 79"/>
          <p:cNvSpPr/>
          <p:nvPr/>
        </p:nvSpPr>
        <p:spPr>
          <a:xfrm>
            <a:off x="7635240" y="5212080"/>
            <a:ext cx="3246120" cy="274320"/>
          </a:xfrm>
          <a:prstGeom prst="rect">
            <a:avLst/>
          </a:prstGeom>
          <a:noFill/>
          <a:ln/>
        </p:spPr>
        <p:txBody>
          <a:bodyPr wrap="square" lIns="0" tIns="0" rIns="0" bIns="0" rtlCol="0" anchor="ctr"/>
          <a:lstStyle/>
          <a:p>
            <a:pPr algn="ctr" indent="0" marL="0">
              <a:buNone/>
            </a:pPr>
            <a:r>
              <a:rPr lang="en-US" sz="1200" dirty="0">
                <a:solidFill>
                  <a:srgbClr val="1F3A63"/>
                </a:solidFill>
                <a:latin typeface="Times New Roman" pitchFamily="34" charset="0"/>
                <a:ea typeface="Times New Roman" pitchFamily="34" charset="-122"/>
                <a:cs typeface="Times New Roman" pitchFamily="34" charset="-120"/>
              </a:rPr>
              <a:t>■ </a:t>
            </a:r>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hot (4 γραμμές)    </a:t>
            </a:r>
            <a:pPr algn="ctr" indent="0" marL="0">
              <a:buNone/>
            </a:pPr>
            <a:r>
              <a:rPr lang="en-US" sz="1200" dirty="0">
                <a:solidFill>
                  <a:srgbClr val="DBDFE6"/>
                </a:solidFill>
                <a:latin typeface="Times New Roman" pitchFamily="34" charset="0"/>
                <a:ea typeface="Times New Roman" pitchFamily="34" charset="-122"/>
                <a:cs typeface="Times New Roman" pitchFamily="34" charset="-120"/>
              </a:rPr>
              <a:t>■ </a:t>
            </a:r>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cold (60)</a:t>
            </a:r>
            <a:endParaRPr lang="en-US" sz="1200" dirty="0"/>
          </a:p>
        </p:txBody>
      </p:sp>
      <p:sp>
        <p:nvSpPr>
          <p:cNvPr id="82" name="Text 80"/>
          <p:cNvSpPr/>
          <p:nvPr/>
        </p:nvSpPr>
        <p:spPr>
          <a:xfrm>
            <a:off x="7635240" y="5504688"/>
            <a:ext cx="3246120"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3: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migrate = 4096 B, useful ≈ 256 B → ~94% waste.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§4.2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Line caching: η hardware εναλλακτική</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Pages vs lines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10 / 20</a:t>
            </a:r>
            <a:endParaRPr lang="en-US" sz="950" dirty="0"/>
          </a:p>
        </p:txBody>
      </p:sp>
      <p:sp>
        <p:nvSpPr>
          <p:cNvPr id="7" name="Text 5"/>
          <p:cNvSpPr/>
          <p:nvPr/>
        </p:nvSpPr>
        <p:spPr>
          <a:xfrm>
            <a:off x="777240" y="1298448"/>
            <a:ext cx="10634472" cy="685800"/>
          </a:xfrm>
          <a:prstGeom prst="rect">
            <a:avLst/>
          </a:prstGeom>
          <a:noFill/>
          <a:ln/>
        </p:spPr>
        <p:txBody>
          <a:bodyPr wrap="square" lIns="0" tIns="0" rIns="0" bIns="0" rtlCol="0" anchor="ctr"/>
          <a:lstStyle/>
          <a:p>
            <a:pPr algn="just" indent="0" marL="0">
              <a:lnSpc>
                <a:spcPts val="2300"/>
              </a:lnSpc>
              <a:buNone/>
            </a:pPr>
            <a:r>
              <a:rPr lang="en-US" sz="1550" dirty="0">
                <a:solidFill>
                  <a:srgbClr val="1A1A1A"/>
                </a:solidFill>
                <a:latin typeface="Times New Roman" pitchFamily="34" charset="0"/>
                <a:ea typeface="Times New Roman" pitchFamily="34" charset="-122"/>
                <a:cs typeface="Times New Roman" pitchFamily="34" charset="-120"/>
              </a:rPr>
              <a:t>Η άλλη λύση: μην κάνεις migrate καθόλου με το OS. Κάνε την τοπική DRAM ένα hardware cache 64 B γραμμών μπροστά από την CXL (near-memory cache — π.χ. Intel Flat Memory Mode).</a:t>
            </a:r>
            <a:endParaRPr lang="en-US" sz="1550" dirty="0"/>
          </a:p>
        </p:txBody>
      </p:sp>
      <p:sp>
        <p:nvSpPr>
          <p:cNvPr id="8" name="Text 6"/>
          <p:cNvSpPr/>
          <p:nvPr/>
        </p:nvSpPr>
        <p:spPr>
          <a:xfrm>
            <a:off x="777240" y="2103120"/>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9" name="Text 7"/>
          <p:cNvSpPr/>
          <p:nvPr/>
        </p:nvSpPr>
        <p:spPr>
          <a:xfrm>
            <a:off x="1069848" y="2103120"/>
            <a:ext cx="5650992" cy="502920"/>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Transparent στο OS.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Καθόλου page faults, καθόλου TLB shootdowns, καθόλου migration daemon.</a:t>
            </a:r>
            <a:endParaRPr lang="en-US" sz="1350" dirty="0"/>
          </a:p>
        </p:txBody>
      </p:sp>
      <p:sp>
        <p:nvSpPr>
          <p:cNvPr id="10" name="Text 8"/>
          <p:cNvSpPr/>
          <p:nvPr/>
        </p:nvSpPr>
        <p:spPr>
          <a:xfrm>
            <a:off x="777240" y="2606040"/>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11" name="Text 9"/>
          <p:cNvSpPr/>
          <p:nvPr/>
        </p:nvSpPr>
        <p:spPr>
          <a:xfrm>
            <a:off x="1069848" y="2606040"/>
            <a:ext cx="5650992" cy="457200"/>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Line granularity.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Μετακινείς 64 B, όχι 4 KB. Το waste μηδενίζεται.</a:t>
            </a:r>
            <a:endParaRPr lang="en-US" sz="1350" dirty="0"/>
          </a:p>
        </p:txBody>
      </p:sp>
      <p:sp>
        <p:nvSpPr>
          <p:cNvPr id="12" name="Text 10"/>
          <p:cNvSpPr/>
          <p:nvPr/>
        </p:nvSpPr>
        <p:spPr>
          <a:xfrm>
            <a:off x="777240" y="3063240"/>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13" name="Text 11"/>
          <p:cNvSpPr/>
          <p:nvPr/>
        </p:nvSpPr>
        <p:spPr>
          <a:xfrm>
            <a:off x="1069848" y="3063240"/>
            <a:ext cx="5650992" cy="457200"/>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Direct-mapped, 1:1.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Κάθε CXL γραμμή έχει μία μόνο θέση στην DRAM. Miss → swap.</a:t>
            </a:r>
            <a:endParaRPr lang="en-US" sz="1350" dirty="0"/>
          </a:p>
        </p:txBody>
      </p:sp>
      <p:sp>
        <p:nvSpPr>
          <p:cNvPr id="14" name="Text 12"/>
          <p:cNvSpPr/>
          <p:nvPr/>
        </p:nvSpPr>
        <p:spPr>
          <a:xfrm>
            <a:off x="777240" y="3520440"/>
            <a:ext cx="256032" cy="365760"/>
          </a:xfrm>
          <a:prstGeom prst="rect">
            <a:avLst/>
          </a:prstGeom>
          <a:noFill/>
          <a:ln/>
        </p:spPr>
        <p:txBody>
          <a:bodyPr wrap="square" lIns="0" tIns="0" rIns="0" bIns="0" rtlCol="0" anchor="t"/>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a:t>
            </a:r>
            <a:endParaRPr lang="en-US" sz="1350" dirty="0"/>
          </a:p>
        </p:txBody>
      </p:sp>
      <p:sp>
        <p:nvSpPr>
          <p:cNvPr id="15" name="Text 13"/>
          <p:cNvSpPr/>
          <p:nvPr/>
        </p:nvSpPr>
        <p:spPr>
          <a:xfrm>
            <a:off x="1069848" y="3520440"/>
            <a:ext cx="5650992" cy="566928"/>
          </a:xfrm>
          <a:prstGeom prst="rect">
            <a:avLst/>
          </a:prstGeom>
          <a:noFill/>
          <a:ln/>
        </p:spPr>
        <p:txBody>
          <a:bodyPr wrap="square" lIns="0" tIns="0" rIns="0" bIns="0" rtlCol="0" anchor="t"/>
          <a:lstStyle/>
          <a:p>
            <a:pPr algn="l" indent="0" marL="0">
              <a:lnSpc>
                <a:spcPts val="1728"/>
              </a:lnSpc>
              <a:buNone/>
            </a:pPr>
            <a:r>
              <a:rPr lang="en-US" sz="1350" b="1" dirty="0">
                <a:solidFill>
                  <a:srgbClr val="1A1A1A"/>
                </a:solidFill>
                <a:latin typeface="Times New Roman" pitchFamily="34" charset="0"/>
                <a:ea typeface="Times New Roman" pitchFamily="34" charset="-122"/>
                <a:cs typeface="Times New Roman" pitchFamily="34" charset="-120"/>
              </a:rPr>
              <a:t>Το κόστος: </a:t>
            </a:r>
            <a:pPr algn="l" indent="0" marL="0">
              <a:lnSpc>
                <a:spcPts val="1728"/>
              </a:lnSpc>
              <a:buNone/>
            </a:pPr>
            <a:r>
              <a:rPr lang="en-US" sz="1350" dirty="0">
                <a:solidFill>
                  <a:srgbClr val="1A1A1A"/>
                </a:solidFill>
                <a:latin typeface="Times New Roman" pitchFamily="34" charset="0"/>
                <a:ea typeface="Times New Roman" pitchFamily="34" charset="-122"/>
                <a:cs typeface="Times New Roman" pitchFamily="34" charset="-120"/>
              </a:rPr>
              <a:t>tag array (τεράστιο), και conflict misses όταν δύο hot γραμμές πέφτουν στην ίδια θέση.</a:t>
            </a:r>
            <a:endParaRPr lang="en-US" sz="1350" dirty="0"/>
          </a:p>
        </p:txBody>
      </p:sp>
      <p:sp>
        <p:nvSpPr>
          <p:cNvPr id="16" name="Shape 14"/>
          <p:cNvSpPr/>
          <p:nvPr/>
        </p:nvSpPr>
        <p:spPr>
          <a:xfrm>
            <a:off x="6949440" y="2148840"/>
            <a:ext cx="1371600" cy="2377440"/>
          </a:xfrm>
          <a:prstGeom prst="rect">
            <a:avLst/>
          </a:prstGeom>
          <a:solidFill>
            <a:srgbClr val="F0F0EE"/>
          </a:solidFill>
          <a:ln/>
        </p:spPr>
      </p:sp>
      <p:sp>
        <p:nvSpPr>
          <p:cNvPr id="17" name="Text 15"/>
          <p:cNvSpPr/>
          <p:nvPr/>
        </p:nvSpPr>
        <p:spPr>
          <a:xfrm>
            <a:off x="6949440" y="2212848"/>
            <a:ext cx="1371600" cy="548640"/>
          </a:xfrm>
          <a:prstGeom prst="rect">
            <a:avLst/>
          </a:prstGeom>
          <a:noFill/>
          <a:ln/>
        </p:spPr>
        <p:txBody>
          <a:bodyPr wrap="square" lIns="0" tIns="0" rIns="0" bIns="0" rtlCol="0" anchor="ctr"/>
          <a:lstStyle/>
          <a:p>
            <a:pPr algn="ctr" indent="0" marL="0">
              <a:buNone/>
            </a:pPr>
            <a:r>
              <a:rPr lang="en-US" sz="1150" i="1" dirty="0">
                <a:solidFill>
                  <a:srgbClr val="1A1A1A"/>
                </a:solidFill>
                <a:latin typeface="Times New Roman" pitchFamily="34" charset="0"/>
                <a:ea typeface="Times New Roman" pitchFamily="34" charset="-122"/>
                <a:cs typeface="Times New Roman" pitchFamily="34" charset="-120"/>
              </a:rPr>
              <a:t>CXL</a:t>
            </a:r>
            <a:endParaRPr lang="en-US" sz="1150" dirty="0"/>
          </a:p>
          <a:p>
            <a:pPr algn="ctr" indent="0" marL="0">
              <a:buNone/>
            </a:pPr>
            <a:r>
              <a:rPr lang="en-US" sz="1150" i="1" dirty="0">
                <a:solidFill>
                  <a:srgbClr val="1A1A1A"/>
                </a:solidFill>
                <a:latin typeface="Times New Roman" pitchFamily="34" charset="0"/>
                <a:ea typeface="Times New Roman" pitchFamily="34" charset="-122"/>
                <a:cs typeface="Times New Roman" pitchFamily="34" charset="-120"/>
              </a:rPr>
              <a:t>(αργή, μεγάλη)</a:t>
            </a:r>
            <a:endParaRPr lang="en-US" sz="1150" dirty="0"/>
          </a:p>
        </p:txBody>
      </p:sp>
      <p:sp>
        <p:nvSpPr>
          <p:cNvPr id="18" name="Shape 16"/>
          <p:cNvSpPr/>
          <p:nvPr/>
        </p:nvSpPr>
        <p:spPr>
          <a:xfrm>
            <a:off x="7132320" y="3063240"/>
            <a:ext cx="1005840" cy="310896"/>
          </a:xfrm>
          <a:prstGeom prst="rect">
            <a:avLst/>
          </a:prstGeom>
          <a:solidFill>
            <a:srgbClr val="1F3A63"/>
          </a:solidFill>
          <a:ln/>
        </p:spPr>
      </p:sp>
      <p:sp>
        <p:nvSpPr>
          <p:cNvPr id="19" name="Text 17"/>
          <p:cNvSpPr/>
          <p:nvPr/>
        </p:nvSpPr>
        <p:spPr>
          <a:xfrm>
            <a:off x="7132320" y="3063240"/>
            <a:ext cx="1005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ourier New" pitchFamily="34" charset="0"/>
                <a:ea typeface="Courier New" pitchFamily="34" charset="-122"/>
                <a:cs typeface="Courier New" pitchFamily="34" charset="-120"/>
              </a:rPr>
              <a:t>line A</a:t>
            </a:r>
            <a:endParaRPr lang="en-US" sz="1100" dirty="0"/>
          </a:p>
        </p:txBody>
      </p:sp>
      <p:sp>
        <p:nvSpPr>
          <p:cNvPr id="20" name="Shape 18"/>
          <p:cNvSpPr/>
          <p:nvPr/>
        </p:nvSpPr>
        <p:spPr>
          <a:xfrm>
            <a:off x="7132320" y="3977640"/>
            <a:ext cx="1005840" cy="310896"/>
          </a:xfrm>
          <a:prstGeom prst="rect">
            <a:avLst/>
          </a:prstGeom>
          <a:solidFill>
            <a:srgbClr val="8C2A2A"/>
          </a:solidFill>
          <a:ln/>
        </p:spPr>
      </p:sp>
      <p:sp>
        <p:nvSpPr>
          <p:cNvPr id="21" name="Text 19"/>
          <p:cNvSpPr/>
          <p:nvPr/>
        </p:nvSpPr>
        <p:spPr>
          <a:xfrm>
            <a:off x="7132320" y="3977640"/>
            <a:ext cx="1005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ourier New" pitchFamily="34" charset="0"/>
                <a:ea typeface="Courier New" pitchFamily="34" charset="-122"/>
                <a:cs typeface="Courier New" pitchFamily="34" charset="-120"/>
              </a:rPr>
              <a:t>line B</a:t>
            </a:r>
            <a:endParaRPr lang="en-US" sz="1100" dirty="0"/>
          </a:p>
        </p:txBody>
      </p:sp>
      <p:sp>
        <p:nvSpPr>
          <p:cNvPr id="22" name="Shape 20"/>
          <p:cNvSpPr/>
          <p:nvPr/>
        </p:nvSpPr>
        <p:spPr>
          <a:xfrm>
            <a:off x="10058400" y="2651760"/>
            <a:ext cx="1280160" cy="1371600"/>
          </a:xfrm>
          <a:prstGeom prst="rect">
            <a:avLst/>
          </a:prstGeom>
          <a:solidFill>
            <a:srgbClr val="F0F0EE"/>
          </a:solidFill>
          <a:ln/>
        </p:spPr>
      </p:sp>
      <p:sp>
        <p:nvSpPr>
          <p:cNvPr id="23" name="Text 21"/>
          <p:cNvSpPr/>
          <p:nvPr/>
        </p:nvSpPr>
        <p:spPr>
          <a:xfrm>
            <a:off x="10058400" y="2706624"/>
            <a:ext cx="1280160" cy="457200"/>
          </a:xfrm>
          <a:prstGeom prst="rect">
            <a:avLst/>
          </a:prstGeom>
          <a:noFill/>
          <a:ln/>
        </p:spPr>
        <p:txBody>
          <a:bodyPr wrap="square" lIns="0" tIns="0" rIns="0" bIns="0" rtlCol="0" anchor="ctr"/>
          <a:lstStyle/>
          <a:p>
            <a:pPr algn="ctr" indent="0" marL="0">
              <a:buNone/>
            </a:pPr>
            <a:r>
              <a:rPr lang="en-US" sz="1150" i="1" dirty="0">
                <a:solidFill>
                  <a:srgbClr val="1A1A1A"/>
                </a:solidFill>
                <a:latin typeface="Times New Roman" pitchFamily="34" charset="0"/>
                <a:ea typeface="Times New Roman" pitchFamily="34" charset="-122"/>
                <a:cs typeface="Times New Roman" pitchFamily="34" charset="-120"/>
              </a:rPr>
              <a:t>τοπική DRAM</a:t>
            </a:r>
            <a:endParaRPr lang="en-US" sz="1150" dirty="0"/>
          </a:p>
          <a:p>
            <a:pPr algn="ctr" indent="0" marL="0">
              <a:buNone/>
            </a:pPr>
            <a:r>
              <a:rPr lang="en-US" sz="1150" i="1" dirty="0">
                <a:solidFill>
                  <a:srgbClr val="1A1A1A"/>
                </a:solidFill>
                <a:latin typeface="Times New Roman" pitchFamily="34" charset="0"/>
                <a:ea typeface="Times New Roman" pitchFamily="34" charset="-122"/>
                <a:cs typeface="Times New Roman" pitchFamily="34" charset="-120"/>
              </a:rPr>
              <a:t>(cache)</a:t>
            </a:r>
            <a:endParaRPr lang="en-US" sz="1150" dirty="0"/>
          </a:p>
        </p:txBody>
      </p:sp>
      <p:sp>
        <p:nvSpPr>
          <p:cNvPr id="24" name="Shape 22"/>
          <p:cNvSpPr/>
          <p:nvPr/>
        </p:nvSpPr>
        <p:spPr>
          <a:xfrm>
            <a:off x="10195560" y="3520440"/>
            <a:ext cx="1005840" cy="310896"/>
          </a:xfrm>
          <a:prstGeom prst="rect">
            <a:avLst/>
          </a:prstGeom>
          <a:solidFill>
            <a:srgbClr val="FFFFFF"/>
          </a:solidFill>
          <a:ln w="12700">
            <a:solidFill>
              <a:srgbClr val="1A1A1A"/>
            </a:solidFill>
            <a:prstDash val="solid"/>
          </a:ln>
        </p:spPr>
      </p:sp>
      <p:sp>
        <p:nvSpPr>
          <p:cNvPr id="25" name="Text 23"/>
          <p:cNvSpPr/>
          <p:nvPr/>
        </p:nvSpPr>
        <p:spPr>
          <a:xfrm>
            <a:off x="10195560" y="3520440"/>
            <a:ext cx="1005840" cy="310896"/>
          </a:xfrm>
          <a:prstGeom prst="rect">
            <a:avLst/>
          </a:prstGeom>
          <a:noFill/>
          <a:ln/>
        </p:spPr>
        <p:txBody>
          <a:bodyPr wrap="square" lIns="0" tIns="0" rIns="0" bIns="0" rtlCol="0" anchor="ctr"/>
          <a:lstStyle/>
          <a:p>
            <a:pPr algn="ctr" indent="0" marL="0">
              <a:buNone/>
            </a:pPr>
            <a:r>
              <a:rPr lang="en-US" sz="1100" dirty="0">
                <a:solidFill>
                  <a:srgbClr val="1A1A1A"/>
                </a:solidFill>
                <a:latin typeface="Courier New" pitchFamily="34" charset="0"/>
                <a:ea typeface="Courier New" pitchFamily="34" charset="-122"/>
                <a:cs typeface="Courier New" pitchFamily="34" charset="-120"/>
              </a:rPr>
              <a:t>slot k</a:t>
            </a:r>
            <a:endParaRPr lang="en-US" sz="1100" dirty="0"/>
          </a:p>
        </p:txBody>
      </p:sp>
      <p:sp>
        <p:nvSpPr>
          <p:cNvPr id="26" name="Shape 24"/>
          <p:cNvSpPr/>
          <p:nvPr/>
        </p:nvSpPr>
        <p:spPr>
          <a:xfrm>
            <a:off x="8138160" y="3218688"/>
            <a:ext cx="2057400" cy="457200"/>
          </a:xfrm>
          <a:prstGeom prst="line">
            <a:avLst/>
          </a:prstGeom>
          <a:noFill/>
          <a:ln w="19050">
            <a:solidFill>
              <a:srgbClr val="1F3A63"/>
            </a:solidFill>
            <a:prstDash val="solid"/>
            <a:tailEnd type="triangle"/>
          </a:ln>
        </p:spPr>
      </p:sp>
      <p:sp>
        <p:nvSpPr>
          <p:cNvPr id="27" name="Shape 25"/>
          <p:cNvSpPr/>
          <p:nvPr/>
        </p:nvSpPr>
        <p:spPr>
          <a:xfrm>
            <a:off x="8138160" y="4133088"/>
            <a:ext cx="2057400" cy="-457200"/>
          </a:xfrm>
          <a:prstGeom prst="line">
            <a:avLst/>
          </a:prstGeom>
          <a:noFill/>
          <a:ln w="19050">
            <a:solidFill>
              <a:srgbClr val="8C2A2A"/>
            </a:solidFill>
            <a:prstDash val="solid"/>
            <a:tailEnd type="triangle"/>
          </a:ln>
        </p:spPr>
      </p:sp>
      <p:sp>
        <p:nvSpPr>
          <p:cNvPr id="28" name="Text 26"/>
          <p:cNvSpPr/>
          <p:nvPr/>
        </p:nvSpPr>
        <p:spPr>
          <a:xfrm>
            <a:off x="8183880" y="3364992"/>
            <a:ext cx="1828800" cy="274320"/>
          </a:xfrm>
          <a:prstGeom prst="rect">
            <a:avLst/>
          </a:prstGeom>
          <a:noFill/>
          <a:ln/>
        </p:spPr>
        <p:txBody>
          <a:bodyPr wrap="square" lIns="0" tIns="0" rIns="0" bIns="0" rtlCol="0" anchor="ctr"/>
          <a:lstStyle/>
          <a:p>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hash → ίδιο slot</a:t>
            </a:r>
            <a:endParaRPr lang="en-US" sz="1100" dirty="0"/>
          </a:p>
        </p:txBody>
      </p:sp>
      <p:sp>
        <p:nvSpPr>
          <p:cNvPr id="29" name="Text 27"/>
          <p:cNvSpPr/>
          <p:nvPr/>
        </p:nvSpPr>
        <p:spPr>
          <a:xfrm>
            <a:off x="6949440" y="4590288"/>
            <a:ext cx="4389120"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4: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A και B χτυπάνε το ίδιο slot → conflict miss.</a:t>
            </a:r>
            <a:endParaRPr lang="en-US" sz="1100" dirty="0"/>
          </a:p>
        </p:txBody>
      </p:sp>
      <p:sp>
        <p:nvSpPr>
          <p:cNvPr id="30" name="Shape 28"/>
          <p:cNvSpPr/>
          <p:nvPr/>
        </p:nvSpPr>
        <p:spPr>
          <a:xfrm>
            <a:off x="777240" y="4892040"/>
            <a:ext cx="10634472" cy="960120"/>
          </a:xfrm>
          <a:prstGeom prst="rect">
            <a:avLst/>
          </a:prstGeom>
          <a:solidFill>
            <a:srgbClr val="F0F0EE"/>
          </a:solidFill>
          <a:ln/>
        </p:spPr>
      </p:sp>
      <p:sp>
        <p:nvSpPr>
          <p:cNvPr id="31" name="Text 29"/>
          <p:cNvSpPr/>
          <p:nvPr/>
        </p:nvSpPr>
        <p:spPr>
          <a:xfrm>
            <a:off x="960120" y="5001768"/>
            <a:ext cx="1026871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Αυτό είναι το σημείο του Memstrata (§5.4)</a:t>
            </a:r>
            <a:endParaRPr lang="en-US" sz="1400" dirty="0"/>
          </a:p>
        </p:txBody>
      </p:sp>
      <p:sp>
        <p:nvSpPr>
          <p:cNvPr id="32" name="Text 30"/>
          <p:cNvSpPr/>
          <p:nvPr/>
        </p:nvSpPr>
        <p:spPr>
          <a:xfrm>
            <a:off x="960120" y="5312664"/>
            <a:ext cx="10268712" cy="42976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Line caching σε silicon δουλεύει — αλλά τα conflict misses χτυπάνε ακόμα χειρότερα όταν πολλές VMs μοιράζονται το cache. Θα το δούμε αναλυτικά.</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§4.3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Pages ή lines; ο συμβιβασμός</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Pages vs lines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11 / 20</a:t>
            </a:r>
            <a:endParaRPr lang="en-US" sz="950" dirty="0"/>
          </a:p>
        </p:txBody>
      </p:sp>
      <p:sp>
        <p:nvSpPr>
          <p:cNvPr id="7" name="Text 5"/>
          <p:cNvSpPr/>
          <p:nvPr/>
        </p:nvSpPr>
        <p:spPr>
          <a:xfrm>
            <a:off x="777240" y="123444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3: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page migration (software) vs line caching (hardware).</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536192"/>
          <a:ext cx="10634472" cy="914400"/>
        </p:xfrm>
        <a:graphic>
          <a:graphicData uri="http://schemas.openxmlformats.org/drawingml/2006/table">
            <a:tbl>
              <a:tblPr/>
              <a:tblGrid>
                <a:gridCol w="3657600"/>
                <a:gridCol w="3474720"/>
                <a:gridCol w="3502152"/>
              </a:tblGrid>
              <a:tr h="384048">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Ιδιότητα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Page migration (OS)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Line caching (hardware)</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Unit</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4 KB / 2 MB</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64 B</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Ποιος αποφασίζει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το OS, με παλιά πληροφορία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το hardware, reactively</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Waste στο transfer</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Μεγάλο</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Σχεδόν μηδέν</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Σταθερό κόστος ανά κίνηση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μs (TLB shootdown)</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Metadata</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page tables (υπάρχουν ήδη)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tag array — τεράστιο</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Capacity</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100% χρησιμοποιήσιμη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το γρήγορο tier γίνεται cache</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Conflict misses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Δεν υπάρχουν</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Ναι — και ανάμεσα σε VMs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Νέο hardware</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Όχι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Ναι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536192"/>
            <a:ext cx="10634472" cy="20117"/>
          </a:xfrm>
          <a:prstGeom prst="rect">
            <a:avLst/>
          </a:prstGeom>
          <a:solidFill>
            <a:srgbClr val="1A1A1A"/>
          </a:solidFill>
          <a:ln/>
        </p:spPr>
      </p:sp>
      <p:sp>
        <p:nvSpPr>
          <p:cNvPr id="10" name="Shape 7"/>
          <p:cNvSpPr/>
          <p:nvPr/>
        </p:nvSpPr>
        <p:spPr>
          <a:xfrm>
            <a:off x="777240" y="1920240"/>
            <a:ext cx="10634472" cy="9144"/>
          </a:xfrm>
          <a:prstGeom prst="rect">
            <a:avLst/>
          </a:prstGeom>
          <a:solidFill>
            <a:srgbClr val="BFBFBF"/>
          </a:solidFill>
          <a:ln/>
        </p:spPr>
      </p:sp>
      <p:sp>
        <p:nvSpPr>
          <p:cNvPr id="11" name="Shape 8"/>
          <p:cNvSpPr/>
          <p:nvPr/>
        </p:nvSpPr>
        <p:spPr>
          <a:xfrm>
            <a:off x="777240" y="4846320"/>
            <a:ext cx="10634472" cy="20117"/>
          </a:xfrm>
          <a:prstGeom prst="rect">
            <a:avLst/>
          </a:prstGeom>
          <a:solidFill>
            <a:srgbClr val="1A1A1A"/>
          </a:solidFill>
          <a:ln/>
        </p:spPr>
      </p:sp>
      <p:sp>
        <p:nvSpPr>
          <p:cNvPr id="12" name="Text 9"/>
          <p:cNvSpPr/>
          <p:nvPr/>
        </p:nvSpPr>
        <p:spPr>
          <a:xfrm>
            <a:off x="777240" y="5212080"/>
            <a:ext cx="10634472" cy="822960"/>
          </a:xfrm>
          <a:prstGeom prst="rect">
            <a:avLst/>
          </a:prstGeom>
          <a:noFill/>
          <a:ln/>
        </p:spPr>
        <p:txBody>
          <a:bodyPr wrap="square" lIns="0" tIns="0" rIns="0" bIns="0" rtlCol="0" anchor="ctr"/>
          <a:lstStyle/>
          <a:p>
            <a:pPr algn="just" indent="0" marL="0">
              <a:lnSpc>
                <a:spcPts val="2100"/>
              </a:lnSpc>
              <a:buNone/>
            </a:pPr>
            <a:r>
              <a:rPr lang="en-US" sz="1450" b="1" dirty="0">
                <a:solidFill>
                  <a:srgbClr val="8C2A2A"/>
                </a:solidFill>
                <a:latin typeface="Times New Roman" pitchFamily="34" charset="0"/>
                <a:ea typeface="Times New Roman" pitchFamily="34" charset="-122"/>
                <a:cs typeface="Times New Roman" pitchFamily="34" charset="-120"/>
              </a:rPr>
              <a:t>Συμπέρασμα: </a:t>
            </a:r>
            <a:pPr algn="just" indent="0" marL="0">
              <a:lnSpc>
                <a:spcPts val="2100"/>
              </a:lnSpc>
              <a:buNone/>
            </a:pPr>
            <a:r>
              <a:rPr lang="en-US" sz="1450" dirty="0">
                <a:solidFill>
                  <a:srgbClr val="1A1A1A"/>
                </a:solidFill>
                <a:latin typeface="Times New Roman" pitchFamily="34" charset="0"/>
                <a:ea typeface="Times New Roman" pitchFamily="34" charset="-122"/>
                <a:cs typeface="Times New Roman" pitchFamily="34" charset="-120"/>
              </a:rPr>
              <a:t>κανένα από τα δύο δεν κερδίζει καθαρά. Τα papers παρακάτω διαλέγουν διαφορετικά σημεία πάνω σε αυτό το trade-off — γι' αυτό συνυπάρχουν.</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§5.1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Τα σχετικά papers: τρεις διαγνώσεις</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Τα papers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12 / 20</a:t>
            </a:r>
            <a:endParaRPr lang="en-US" sz="950" dirty="0"/>
          </a:p>
        </p:txBody>
      </p:sp>
      <p:sp>
        <p:nvSpPr>
          <p:cNvPr id="7" name="Text 5"/>
          <p:cNvSpPr/>
          <p:nvPr/>
        </p:nvSpPr>
        <p:spPr>
          <a:xfrm>
            <a:off x="777240" y="128016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4: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και οι τρεις δείχνουν διαφορετική ρίζα για το ίδιο πρόβλημα.</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10725912" cy="914400"/>
        </p:xfrm>
        <a:graphic>
          <a:graphicData uri="http://schemas.openxmlformats.org/drawingml/2006/table">
            <a:tbl>
              <a:tblPr/>
              <a:tblGrid>
                <a:gridCol w="1783080"/>
                <a:gridCol w="3703320"/>
                <a:gridCol w="3566160"/>
                <a:gridCol w="1673352"/>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Εργασία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Διάγνωση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Λύση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Granularity</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NeoMem</a:t>
                      </a:r>
                      <a:endParaRPr lang="en-US" sz="1350" dirty="0">
                        <a:latin typeface="Times New Roman" charset="0"/>
                        <a:ea typeface="Times New Roman" charset="0"/>
                        <a:cs typeface="Times New Roman" charset="0"/>
                      </a:endParaRPr>
                    </a:p>
                    <a:p>
                      <a:pPr indent="0" marL="0">
                        <a:buNone/>
                      </a:pPr>
                      <a:r>
                        <a:rPr lang="en-US" sz="1350" b="1" dirty="0">
                          <a:solidFill>
                            <a:srgbClr val="1A1A1A"/>
                          </a:solidFill>
                          <a:latin typeface="Times New Roman" pitchFamily="34" charset="0"/>
                          <a:ea typeface="Times New Roman" pitchFamily="34" charset="-122"/>
                          <a:cs typeface="Times New Roman" pitchFamily="34" charset="-120"/>
                        </a:rPr>
                        <a:t>(MICRO ’24)</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profiling είναι αργό/χοντρό — φτιάξ’ το και τα 4 KB pages φτάνουν</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Count-min sketch στον CXL controller + dynamic threshold</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4 KB</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M5</a:t>
                      </a:r>
                      <a:endParaRPr lang="en-US" sz="1350" dirty="0">
                        <a:latin typeface="Times New Roman" charset="0"/>
                        <a:ea typeface="Times New Roman" charset="0"/>
                        <a:cs typeface="Times New Roman" charset="0"/>
                      </a:endParaRPr>
                    </a:p>
                    <a:p>
                      <a:pPr indent="0" marL="0">
                        <a:buNone/>
                      </a:pPr>
                      <a:r>
                        <a:rPr lang="en-US" sz="1350" b="1" dirty="0">
                          <a:solidFill>
                            <a:srgbClr val="1F3A63"/>
                          </a:solidFill>
                          <a:latin typeface="Times New Roman" pitchFamily="34" charset="0"/>
                          <a:ea typeface="Times New Roman" pitchFamily="34" charset="-122"/>
                          <a:cs typeface="Times New Roman" pitchFamily="34" charset="-120"/>
                        </a:rPr>
                        <a:t>(ASPLOS ’25)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Το hotness είναι sub-page — το access count ανά page σε ξεγελάει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Top-K trackers για pages (HPT) και για 64 B words (HWT)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1F3A63"/>
                          </a:solidFill>
                          <a:latin typeface="Courier New" pitchFamily="34" charset="0"/>
                          <a:ea typeface="Courier New" pitchFamily="34" charset="-122"/>
                          <a:cs typeface="Courier New" pitchFamily="34" charset="-120"/>
                        </a:rPr>
                        <a:t>profiling 64 B</a:t>
                      </a:r>
                      <a:endParaRPr lang="en-US" sz="1050" dirty="0">
                        <a:latin typeface="Courier New" charset="0"/>
                        <a:ea typeface="Courier New" charset="0"/>
                        <a:cs typeface="Courier New" charset="0"/>
                      </a:endParaRPr>
                    </a:p>
                    <a:p>
                      <a:pPr indent="0" marL="0">
                        <a:buNone/>
                      </a:pPr>
                      <a:r>
                        <a:rPr lang="en-US" sz="1050" b="1" dirty="0">
                          <a:solidFill>
                            <a:srgbClr val="1F3A63"/>
                          </a:solidFill>
                          <a:latin typeface="Courier New" pitchFamily="34" charset="0"/>
                          <a:ea typeface="Courier New" pitchFamily="34" charset="-122"/>
                          <a:cs typeface="Courier New" pitchFamily="34" charset="-120"/>
                        </a:rPr>
                        <a:t>migration 4 KB</a:t>
                      </a:r>
                      <a:endParaRPr lang="en-US" sz="10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Memstrata</a:t>
                      </a:r>
                      <a:endParaRPr lang="en-US" sz="1350" dirty="0">
                        <a:latin typeface="Times New Roman" charset="0"/>
                        <a:ea typeface="Times New Roman" charset="0"/>
                        <a:cs typeface="Times New Roman" charset="0"/>
                      </a:endParaRPr>
                    </a:p>
                    <a:p>
                      <a:pPr indent="0" marL="0">
                        <a:buNone/>
                      </a:pPr>
                      <a:r>
                        <a:rPr lang="en-US" sz="1350" b="1" dirty="0">
                          <a:solidFill>
                            <a:srgbClr val="1A1A1A"/>
                          </a:solidFill>
                          <a:latin typeface="Times New Roman" pitchFamily="34" charset="0"/>
                          <a:ea typeface="Times New Roman" pitchFamily="34" charset="-122"/>
                          <a:cs typeface="Times New Roman" pitchFamily="34" charset="-120"/>
                        </a:rPr>
                        <a:t>(OSDI ’24)</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hardware tiering δουλεύει — μέχρι να μπουν πολλές VMs και να συγκρουστούν</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Page coloring + online slowdown estimator</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64 B (hardware)</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10725912" cy="20117"/>
          </a:xfrm>
          <a:prstGeom prst="rect">
            <a:avLst/>
          </a:prstGeom>
          <a:solidFill>
            <a:srgbClr val="1A1A1A"/>
          </a:solidFill>
          <a:ln/>
        </p:spPr>
      </p:sp>
      <p:sp>
        <p:nvSpPr>
          <p:cNvPr id="10" name="Shape 7"/>
          <p:cNvSpPr/>
          <p:nvPr/>
        </p:nvSpPr>
        <p:spPr>
          <a:xfrm>
            <a:off x="777240" y="1984248"/>
            <a:ext cx="10725912" cy="9144"/>
          </a:xfrm>
          <a:prstGeom prst="rect">
            <a:avLst/>
          </a:prstGeom>
          <a:solidFill>
            <a:srgbClr val="BFBFBF"/>
          </a:solidFill>
          <a:ln/>
        </p:spPr>
      </p:sp>
      <p:sp>
        <p:nvSpPr>
          <p:cNvPr id="11" name="Shape 8"/>
          <p:cNvSpPr/>
          <p:nvPr/>
        </p:nvSpPr>
        <p:spPr>
          <a:xfrm>
            <a:off x="777240" y="4233672"/>
            <a:ext cx="10725912" cy="20117"/>
          </a:xfrm>
          <a:prstGeom prst="rect">
            <a:avLst/>
          </a:prstGeom>
          <a:solidFill>
            <a:srgbClr val="1A1A1A"/>
          </a:solidFill>
          <a:ln/>
        </p:spPr>
      </p:sp>
      <p:sp>
        <p:nvSpPr>
          <p:cNvPr id="12" name="Text 9"/>
          <p:cNvSpPr/>
          <p:nvPr/>
        </p:nvSpPr>
        <p:spPr>
          <a:xfrm>
            <a:off x="777240" y="5029200"/>
            <a:ext cx="10634472" cy="914400"/>
          </a:xfrm>
          <a:prstGeom prst="rect">
            <a:avLst/>
          </a:prstGeom>
          <a:noFill/>
          <a:ln/>
        </p:spPr>
        <p:txBody>
          <a:bodyPr wrap="square" lIns="0" tIns="0" rIns="0" bIns="0" rtlCol="0" anchor="ctr"/>
          <a:lstStyle/>
          <a:p>
            <a:pPr algn="just" indent="0" marL="0">
              <a:lnSpc>
                <a:spcPts val="2200"/>
              </a:lnSpc>
              <a:buNone/>
            </a:pPr>
            <a:r>
              <a:rPr lang="en-US" sz="1500" b="1" dirty="0">
                <a:solidFill>
                  <a:srgbClr val="1A1A1A"/>
                </a:solidFill>
                <a:latin typeface="Times New Roman" pitchFamily="34" charset="0"/>
                <a:ea typeface="Times New Roman" pitchFamily="34" charset="-122"/>
                <a:cs typeface="Times New Roman" pitchFamily="34" charset="-120"/>
              </a:rPr>
              <a:t>Διαφωνούν, και αυτό βοηθάει: </a:t>
            </a:r>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NeoMem → λείπει resolution στον χρόνο. M5 → λείπει στον χώρο. Memstrata → το πρόβλημα βγαίνει μόνο με πολλά workloads μαζί. Μία διαφάνεια για το καθένα ακολουθεί.</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§5.2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M5 — sub-page hotness tracking (ASPLOS ’25)</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Τα papers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13 / 20</a:t>
            </a:r>
            <a:endParaRPr lang="en-US" sz="950" dirty="0"/>
          </a:p>
        </p:txBody>
      </p:sp>
      <p:sp>
        <p:nvSpPr>
          <p:cNvPr id="7" name="Text 5"/>
          <p:cNvSpPr/>
          <p:nvPr/>
        </p:nvSpPr>
        <p:spPr>
          <a:xfrm>
            <a:off x="777240" y="132588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8" name="Text 6"/>
          <p:cNvSpPr/>
          <p:nvPr/>
        </p:nvSpPr>
        <p:spPr>
          <a:xfrm>
            <a:off x="1069848" y="1325880"/>
            <a:ext cx="7068312" cy="777240"/>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Διάγνωση.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Το hotness είναι sub-page. Το access count ανά page ξεγελάει: μια page με 500 accesses σε 2 words είναι κακός υποψήφιος· μια με 500 σε 40 words είναι καλός.</a:t>
            </a:r>
            <a:endParaRPr lang="en-US" sz="1400" dirty="0"/>
          </a:p>
        </p:txBody>
      </p:sp>
      <p:sp>
        <p:nvSpPr>
          <p:cNvPr id="9" name="Text 7"/>
          <p:cNvSpPr/>
          <p:nvPr/>
        </p:nvSpPr>
        <p:spPr>
          <a:xfrm>
            <a:off x="777240" y="210312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0" name="Text 8"/>
          <p:cNvSpPr/>
          <p:nvPr/>
        </p:nvSpPr>
        <p:spPr>
          <a:xfrm>
            <a:off x="1069848" y="2103120"/>
            <a:ext cx="7068312" cy="777240"/>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Μηχανισμός.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Δύο hardware trackers μέσα στη συσκευή CXL — HPT (top-K σε 4 KB pages) και HWT (top-K σε 64 B words). Δανεισμένοι από Rowhammer defenses (Misra–Gries counters).</a:t>
            </a:r>
            <a:endParaRPr lang="en-US" sz="1400" dirty="0"/>
          </a:p>
        </p:txBody>
      </p:sp>
      <p:sp>
        <p:nvSpPr>
          <p:cNvPr id="11" name="Text 9"/>
          <p:cNvSpPr/>
          <p:nvPr/>
        </p:nvSpPr>
        <p:spPr>
          <a:xfrm>
            <a:off x="777240" y="288036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2" name="Text 10"/>
          <p:cNvSpPr/>
          <p:nvPr/>
        </p:nvSpPr>
        <p:spPr>
          <a:xfrm>
            <a:off x="1069848" y="2880360"/>
            <a:ext cx="7068312" cy="685800"/>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Το κλειδί.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Profiling στα 64 B, migration στα 4 KB. Το word-level density λέει πόσο «πυκνά» hot είναι μια page — κάτι που το σκέτο count δεν ξέρει.</a:t>
            </a:r>
            <a:endParaRPr lang="en-US" sz="1400" dirty="0"/>
          </a:p>
        </p:txBody>
      </p:sp>
      <p:sp>
        <p:nvSpPr>
          <p:cNvPr id="13" name="Shape 11"/>
          <p:cNvSpPr/>
          <p:nvPr/>
        </p:nvSpPr>
        <p:spPr>
          <a:xfrm>
            <a:off x="8366760" y="1325880"/>
            <a:ext cx="3044952" cy="2331720"/>
          </a:xfrm>
          <a:prstGeom prst="rect">
            <a:avLst/>
          </a:prstGeom>
          <a:solidFill>
            <a:srgbClr val="F0F0EE"/>
          </a:solidFill>
          <a:ln/>
        </p:spPr>
      </p:sp>
      <p:sp>
        <p:nvSpPr>
          <p:cNvPr id="14" name="Text 12"/>
          <p:cNvSpPr/>
          <p:nvPr/>
        </p:nvSpPr>
        <p:spPr>
          <a:xfrm>
            <a:off x="8549640" y="1435608"/>
            <a:ext cx="267919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Αποτελέσματα</a:t>
            </a:r>
            <a:endParaRPr lang="en-US" sz="1400" dirty="0"/>
          </a:p>
        </p:txBody>
      </p:sp>
      <p:sp>
        <p:nvSpPr>
          <p:cNvPr id="15" name="Text 13"/>
          <p:cNvSpPr/>
          <p:nvPr/>
        </p:nvSpPr>
        <p:spPr>
          <a:xfrm>
            <a:off x="8549640" y="1746504"/>
            <a:ext cx="2679192" cy="180136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+47% πιο hot pages απ' τα baselines</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+20% vs AutoNUMA</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+14% vs DAMON</a:t>
            </a:r>
            <a:endParaRPr lang="en-US" sz="1300" dirty="0"/>
          </a:p>
        </p:txBody>
      </p:sp>
      <p:sp>
        <p:nvSpPr>
          <p:cNvPr id="16" name="Shape 14"/>
          <p:cNvSpPr/>
          <p:nvPr/>
        </p:nvSpPr>
        <p:spPr>
          <a:xfrm>
            <a:off x="777240" y="4297680"/>
            <a:ext cx="10634472" cy="1371600"/>
          </a:xfrm>
          <a:prstGeom prst="rect">
            <a:avLst/>
          </a:prstGeom>
          <a:solidFill>
            <a:srgbClr val="F0F0EE"/>
          </a:solidFill>
          <a:ln/>
        </p:spPr>
      </p:sp>
      <p:sp>
        <p:nvSpPr>
          <p:cNvPr id="17" name="Text 15"/>
          <p:cNvSpPr/>
          <p:nvPr/>
        </p:nvSpPr>
        <p:spPr>
          <a:xfrm>
            <a:off x="960120" y="4407408"/>
            <a:ext cx="1026871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Γιατί το διαλέγω</a:t>
            </a:r>
            <a:endParaRPr lang="en-US" sz="1400" dirty="0"/>
          </a:p>
        </p:txBody>
      </p:sp>
      <p:sp>
        <p:nvSpPr>
          <p:cNvPr id="18" name="Text 16"/>
          <p:cNvSpPr/>
          <p:nvPr/>
        </p:nvSpPr>
        <p:spPr>
          <a:xfrm>
            <a:off x="960120" y="4718304"/>
            <a:ext cx="10268712" cy="84124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Είναι το πιο κοντινό στην ιδέα του sub-page hotness. Το hardware είναι απλό (counter tables), και το split profiling → decision υλοποιείται καθαρά μέσα στον CXLRAMSim. Θα φτιάξω πρώτα το HPT, μετά το HWT σαν το κομμάτι που κάνει τη διαφορά.</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§5.3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NeoMem — profiling στον CXL controller (MICRO ’24)</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Τα papers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14 / 20</a:t>
            </a:r>
            <a:endParaRPr lang="en-US" sz="950" dirty="0"/>
          </a:p>
        </p:txBody>
      </p:sp>
      <p:sp>
        <p:nvSpPr>
          <p:cNvPr id="7" name="Text 5"/>
          <p:cNvSpPr/>
          <p:nvPr/>
        </p:nvSpPr>
        <p:spPr>
          <a:xfrm>
            <a:off x="777240" y="132588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8" name="Text 6"/>
          <p:cNvSpPr/>
          <p:nvPr/>
        </p:nvSpPr>
        <p:spPr>
          <a:xfrm>
            <a:off x="1069848" y="1325880"/>
            <a:ext cx="7068312" cy="658368"/>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Διάγνωση.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Το profiling είναι αργό/χοντρό. Φτιάξ' το και τα 4 KB pages φτάνουν — το granularity είναι δευτερεύον.</a:t>
            </a:r>
            <a:endParaRPr lang="en-US" sz="1400" dirty="0"/>
          </a:p>
        </p:txBody>
      </p:sp>
      <p:sp>
        <p:nvSpPr>
          <p:cNvPr id="9" name="Text 7"/>
          <p:cNvSpPr/>
          <p:nvPr/>
        </p:nvSpPr>
        <p:spPr>
          <a:xfrm>
            <a:off x="777240" y="1984248"/>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0" name="Text 8"/>
          <p:cNvSpPr/>
          <p:nvPr/>
        </p:nvSpPr>
        <p:spPr>
          <a:xfrm>
            <a:off x="1069848" y="1984248"/>
            <a:ext cx="7068312" cy="896112"/>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Μηχανισμός (NeoProf).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Count-min sketch μέσα στον controller: W×D counters, D hashes, min ως estimate. Hot-page filtering με bloom bits. Histogram για error bounds. Μετράει και bandwidth + ping-pong.</a:t>
            </a:r>
            <a:endParaRPr lang="en-US" sz="1400" dirty="0"/>
          </a:p>
        </p:txBody>
      </p:sp>
      <p:sp>
        <p:nvSpPr>
          <p:cNvPr id="11" name="Text 9"/>
          <p:cNvSpPr/>
          <p:nvPr/>
        </p:nvSpPr>
        <p:spPr>
          <a:xfrm>
            <a:off x="777240" y="288036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2" name="Text 10"/>
          <p:cNvSpPr/>
          <p:nvPr/>
        </p:nvSpPr>
        <p:spPr>
          <a:xfrm>
            <a:off x="1069848" y="2880360"/>
            <a:ext cx="7068312" cy="685800"/>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Policy.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Dynamic threshold = p-percentile, προσαρμόζεται με bandwidth &amp; ping-pong. Migration quota 256 MB/s. Τα cold pages: reuse του Linux LRU.</a:t>
            </a:r>
            <a:endParaRPr lang="en-US" sz="1400" dirty="0"/>
          </a:p>
        </p:txBody>
      </p:sp>
      <p:sp>
        <p:nvSpPr>
          <p:cNvPr id="13" name="Shape 11"/>
          <p:cNvSpPr/>
          <p:nvPr/>
        </p:nvSpPr>
        <p:spPr>
          <a:xfrm>
            <a:off x="8366760" y="1325880"/>
            <a:ext cx="3044952" cy="2514600"/>
          </a:xfrm>
          <a:prstGeom prst="rect">
            <a:avLst/>
          </a:prstGeom>
          <a:solidFill>
            <a:srgbClr val="F0F0EE"/>
          </a:solidFill>
          <a:ln/>
        </p:spPr>
      </p:sp>
      <p:sp>
        <p:nvSpPr>
          <p:cNvPr id="14" name="Text 12"/>
          <p:cNvSpPr/>
          <p:nvPr/>
        </p:nvSpPr>
        <p:spPr>
          <a:xfrm>
            <a:off x="8549640" y="1435608"/>
            <a:ext cx="267919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Αποτελέσματα</a:t>
            </a:r>
            <a:endParaRPr lang="en-US" sz="1400" dirty="0"/>
          </a:p>
        </p:txBody>
      </p:sp>
      <p:sp>
        <p:nvSpPr>
          <p:cNvPr id="15" name="Text 13"/>
          <p:cNvSpPr/>
          <p:nvPr/>
        </p:nvSpPr>
        <p:spPr>
          <a:xfrm>
            <a:off x="8549640" y="1746504"/>
            <a:ext cx="2679192" cy="198424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32–67% geomean speedup</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4.7× GUPS · 3.5× XSBench</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1.58× vs Memtis</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HW: 5.3 mm², 152 mW</a:t>
            </a: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0.02% CPU overhead</a:t>
            </a:r>
            <a:endParaRPr lang="en-US" sz="1300" dirty="0"/>
          </a:p>
        </p:txBody>
      </p:sp>
      <p:sp>
        <p:nvSpPr>
          <p:cNvPr id="16" name="Shape 14"/>
          <p:cNvSpPr/>
          <p:nvPr/>
        </p:nvSpPr>
        <p:spPr>
          <a:xfrm>
            <a:off x="777240" y="4251960"/>
            <a:ext cx="10634472" cy="1417320"/>
          </a:xfrm>
          <a:prstGeom prst="rect">
            <a:avLst/>
          </a:prstGeom>
          <a:solidFill>
            <a:srgbClr val="F0F0EE"/>
          </a:solidFill>
          <a:ln/>
        </p:spPr>
      </p:sp>
      <p:sp>
        <p:nvSpPr>
          <p:cNvPr id="17" name="Text 15"/>
          <p:cNvSpPr/>
          <p:nvPr/>
        </p:nvSpPr>
        <p:spPr>
          <a:xfrm>
            <a:off x="960120" y="4361688"/>
            <a:ext cx="1026871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Σχέση με εμένα</a:t>
            </a:r>
            <a:endParaRPr lang="en-US" sz="1400" dirty="0"/>
          </a:p>
        </p:txBody>
      </p:sp>
      <p:sp>
        <p:nvSpPr>
          <p:cNvPr id="18" name="Text 16"/>
          <p:cNvSpPr/>
          <p:nvPr/>
        </p:nvSpPr>
        <p:spPr>
          <a:xfrm>
            <a:off x="960120" y="4672584"/>
            <a:ext cx="10268712" cy="88696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Το sketch είναι εύκολο να υλοποιηθεί (λίγες γραμμές, όλα τα params δίνονται). Αλλά το βάρος της συνεισφοράς πέφτει στο kernel daemon και το policy — πιο software απ' όσο θέλω, αφού εστιάζω στο hardware. Καλή δεύτερη επιλογή· το threshold-adaptation του αξίζει να το δανειστώ.</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§5.4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Memstrata — hardware tiering + multi-tenant (OSDI ’24)</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Τα papers</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15 / 20</a:t>
            </a:r>
            <a:endParaRPr lang="en-US" sz="950" dirty="0"/>
          </a:p>
        </p:txBody>
      </p:sp>
      <p:sp>
        <p:nvSpPr>
          <p:cNvPr id="7" name="Text 5"/>
          <p:cNvSpPr/>
          <p:nvPr/>
        </p:nvSpPr>
        <p:spPr>
          <a:xfrm>
            <a:off x="777240" y="132588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8" name="Text 6"/>
          <p:cNvSpPr/>
          <p:nvPr/>
        </p:nvSpPr>
        <p:spPr>
          <a:xfrm>
            <a:off x="1069848" y="1325880"/>
            <a:ext cx="7068312" cy="713232"/>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Context: Flat Memory Mode.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Intel: η τοπική DRAM γίνεται direct-mapped, line-granular (64 B), 1:1 cache μπροστά από την CXL. Transparent στο OS.</a:t>
            </a:r>
            <a:endParaRPr lang="en-US" sz="1400" dirty="0"/>
          </a:p>
        </p:txBody>
      </p:sp>
      <p:sp>
        <p:nvSpPr>
          <p:cNvPr id="9" name="Text 7"/>
          <p:cNvSpPr/>
          <p:nvPr/>
        </p:nvSpPr>
        <p:spPr>
          <a:xfrm>
            <a:off x="777240" y="2039112"/>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0" name="Text 8"/>
          <p:cNvSpPr/>
          <p:nvPr/>
        </p:nvSpPr>
        <p:spPr>
          <a:xfrm>
            <a:off x="1069848" y="2039112"/>
            <a:ext cx="7068312" cy="749808"/>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Το πρόβλημα.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Καλό κατά μέσο όρο, κακό στο tail. Πολλές VMs → τα lines τους πέφτουν στο ίδιο slot και η μία ρίχνει την άλλη αόρατα (&gt;30%).</a:t>
            </a:r>
            <a:endParaRPr lang="en-US" sz="1400" dirty="0"/>
          </a:p>
        </p:txBody>
      </p:sp>
      <p:sp>
        <p:nvSpPr>
          <p:cNvPr id="11" name="Text 9"/>
          <p:cNvSpPr/>
          <p:nvPr/>
        </p:nvSpPr>
        <p:spPr>
          <a:xfrm>
            <a:off x="777240" y="2788920"/>
            <a:ext cx="256032" cy="365760"/>
          </a:xfrm>
          <a:prstGeom prst="rect">
            <a:avLst/>
          </a:prstGeom>
          <a:noFill/>
          <a:ln/>
        </p:spPr>
        <p:txBody>
          <a:bodyPr wrap="square" lIns="0" tIns="0" rIns="0" bIns="0" rtlCol="0" anchor="t"/>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a:t>
            </a:r>
            <a:endParaRPr lang="en-US" sz="1400" dirty="0"/>
          </a:p>
        </p:txBody>
      </p:sp>
      <p:sp>
        <p:nvSpPr>
          <p:cNvPr id="12" name="Text 10"/>
          <p:cNvSpPr/>
          <p:nvPr/>
        </p:nvSpPr>
        <p:spPr>
          <a:xfrm>
            <a:off x="1069848" y="2788920"/>
            <a:ext cx="7068312" cy="749808"/>
          </a:xfrm>
          <a:prstGeom prst="rect">
            <a:avLst/>
          </a:prstGeom>
          <a:noFill/>
          <a:ln/>
        </p:spPr>
        <p:txBody>
          <a:bodyPr wrap="square" lIns="0" tIns="0" rIns="0" bIns="0" rtlCol="0" anchor="t"/>
          <a:lstStyle/>
          <a:p>
            <a:pPr algn="l" indent="0" marL="0">
              <a:lnSpc>
                <a:spcPts val="1792"/>
              </a:lnSpc>
              <a:buNone/>
            </a:pPr>
            <a:r>
              <a:rPr lang="en-US" sz="1400" b="1" dirty="0">
                <a:solidFill>
                  <a:srgbClr val="1A1A1A"/>
                </a:solidFill>
                <a:latin typeface="Times New Roman" pitchFamily="34" charset="0"/>
                <a:ea typeface="Times New Roman" pitchFamily="34" charset="-122"/>
                <a:cs typeface="Times New Roman" pitchFamily="34" charset="-120"/>
              </a:rPr>
              <a:t>Λύση. </a:t>
            </a:r>
            <a:pPr algn="l" indent="0" marL="0">
              <a:lnSpc>
                <a:spcPts val="1792"/>
              </a:lnSpc>
              <a:buNone/>
            </a:pPr>
            <a:r>
              <a:rPr lang="en-US" sz="1400" dirty="0">
                <a:solidFill>
                  <a:srgbClr val="1A1A1A"/>
                </a:solidFill>
                <a:latin typeface="Times New Roman" pitchFamily="34" charset="0"/>
                <a:ea typeface="Times New Roman" pitchFamily="34" charset="-122"/>
                <a:cs typeface="Times New Roman" pitchFamily="34" charset="-120"/>
              </a:rPr>
              <a:t>Ελαφρύς allocator: page coloring ώστε οι VMs να μη συγκρούονται + online slowdown estimator που δίνει παραπάνω τοπική DRAM στις ευαίσθητες.</a:t>
            </a:r>
            <a:endParaRPr lang="en-US" sz="1400" dirty="0"/>
          </a:p>
        </p:txBody>
      </p:sp>
      <p:sp>
        <p:nvSpPr>
          <p:cNvPr id="13" name="Shape 11"/>
          <p:cNvSpPr/>
          <p:nvPr/>
        </p:nvSpPr>
        <p:spPr>
          <a:xfrm>
            <a:off x="8366760" y="1325880"/>
            <a:ext cx="3044952" cy="2377440"/>
          </a:xfrm>
          <a:prstGeom prst="rect">
            <a:avLst/>
          </a:prstGeom>
          <a:solidFill>
            <a:srgbClr val="F0F0EE"/>
          </a:solidFill>
          <a:ln/>
        </p:spPr>
      </p:sp>
      <p:sp>
        <p:nvSpPr>
          <p:cNvPr id="14" name="Text 12"/>
          <p:cNvSpPr/>
          <p:nvPr/>
        </p:nvSpPr>
        <p:spPr>
          <a:xfrm>
            <a:off x="8549640" y="1435608"/>
            <a:ext cx="267919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Αποτελέσματα</a:t>
            </a:r>
            <a:endParaRPr lang="en-US" sz="1400" dirty="0"/>
          </a:p>
        </p:txBody>
      </p:sp>
      <p:sp>
        <p:nvSpPr>
          <p:cNvPr id="15" name="Text 13"/>
          <p:cNvSpPr/>
          <p:nvPr/>
        </p:nvSpPr>
        <p:spPr>
          <a:xfrm>
            <a:off x="8549640" y="1746504"/>
            <a:ext cx="2679192" cy="184708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≤5% degradation σε</a:t>
            </a: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&gt;82% των workloads</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Outliers: 30% → &lt;6%</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Καθαρά software πάνω</a:t>
            </a: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  σε hardware tiering</a:t>
            </a:r>
            <a:endParaRPr lang="en-US" sz="1300" dirty="0"/>
          </a:p>
        </p:txBody>
      </p:sp>
      <p:sp>
        <p:nvSpPr>
          <p:cNvPr id="16" name="Shape 14"/>
          <p:cNvSpPr/>
          <p:nvPr/>
        </p:nvSpPr>
        <p:spPr>
          <a:xfrm>
            <a:off x="777240" y="4343400"/>
            <a:ext cx="10634472" cy="1325880"/>
          </a:xfrm>
          <a:prstGeom prst="rect">
            <a:avLst/>
          </a:prstGeom>
          <a:solidFill>
            <a:srgbClr val="F0F0EE"/>
          </a:solidFill>
          <a:ln/>
        </p:spPr>
      </p:sp>
      <p:sp>
        <p:nvSpPr>
          <p:cNvPr id="17" name="Text 15"/>
          <p:cNvSpPr/>
          <p:nvPr/>
        </p:nvSpPr>
        <p:spPr>
          <a:xfrm>
            <a:off x="960120" y="4453128"/>
            <a:ext cx="1026871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Σχέση με εμένα</a:t>
            </a:r>
            <a:endParaRPr lang="en-US" sz="1400" dirty="0"/>
          </a:p>
        </p:txBody>
      </p:sp>
      <p:sp>
        <p:nvSpPr>
          <p:cNvPr id="18" name="Text 16"/>
          <p:cNvSpPr/>
          <p:nvPr/>
        </p:nvSpPr>
        <p:spPr>
          <a:xfrm>
            <a:off x="960120" y="4764024"/>
            <a:ext cx="10268712" cy="79552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Το αντιπαράδειγμα: line granularity σε silicon. Δείχνει τι κοστίζει στην πράξη — conflict misses, multi-tenant interference, 1:1 capacity. Δεν το υλοποιώ: ο CXLRAMSim δεν μοντελοποιεί Flat Memory Mode, οπότε θα έπρεπε πρώτα να χτίσω το hardware tiering και μετά τον allocator.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§6.1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Το εργαλείο: CXLRAMSim</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16 / 20</a:t>
            </a:r>
            <a:endParaRPr lang="en-US" sz="950" dirty="0"/>
          </a:p>
        </p:txBody>
      </p:sp>
      <p:sp>
        <p:nvSpPr>
          <p:cNvPr id="7" name="Text 5"/>
          <p:cNvSpPr/>
          <p:nvPr/>
        </p:nvSpPr>
        <p:spPr>
          <a:xfrm>
            <a:off x="777240" y="1325880"/>
            <a:ext cx="10634472" cy="64008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Full-system προσομοιωτής πάνω στο gem5 v25, που μπουτάρει Linux 6.14. Βάζει τη συσκευή CXL στη σωστή θέση πάνω στο I/O bus, οπότε ο kernel, οι drivers και το software stack μένουν αναλλοίωτα.</a:t>
            </a:r>
            <a:endParaRPr lang="en-US" sz="1600" dirty="0"/>
          </a:p>
        </p:txBody>
      </p:sp>
      <p:sp>
        <p:nvSpPr>
          <p:cNvPr id="8" name="Text 6"/>
          <p:cNvSpPr/>
          <p:nvPr/>
        </p:nvSpPr>
        <p:spPr>
          <a:xfrm>
            <a:off x="777240" y="2148840"/>
            <a:ext cx="10634472" cy="292608"/>
          </a:xfrm>
          <a:prstGeom prst="rect">
            <a:avLst/>
          </a:prstGeom>
          <a:noFill/>
          <a:ln/>
        </p:spPr>
        <p:txBody>
          <a:bodyPr wrap="square" lIns="0" tIns="0" rIns="0" bIns="0" rtlCol="0" anchor="ctr"/>
          <a:lstStyle/>
          <a:p>
            <a:pPr indent="0" marL="0">
              <a:buNone/>
            </a:pPr>
            <a:r>
              <a:rPr lang="en-US" sz="1450" b="1" dirty="0">
                <a:solidFill>
                  <a:srgbClr val="1A1A1A"/>
                </a:solidFill>
                <a:latin typeface="Times New Roman" pitchFamily="34" charset="0"/>
                <a:ea typeface="Times New Roman" pitchFamily="34" charset="-122"/>
                <a:cs typeface="Times New Roman" pitchFamily="34" charset="-120"/>
              </a:rPr>
              <a:t>Τι μοντελοποιεί:</a:t>
            </a:r>
            <a:endParaRPr lang="en-US" sz="1450" dirty="0"/>
          </a:p>
        </p:txBody>
      </p:sp>
      <p:sp>
        <p:nvSpPr>
          <p:cNvPr id="9" name="Text 7"/>
          <p:cNvSpPr/>
          <p:nvPr/>
        </p:nvSpPr>
        <p:spPr>
          <a:xfrm>
            <a:off x="868680" y="2487168"/>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0" name="Text 8"/>
          <p:cNvSpPr/>
          <p:nvPr/>
        </p:nvSpPr>
        <p:spPr>
          <a:xfrm>
            <a:off x="1188720" y="2487168"/>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Firmware. </a:t>
            </a:r>
            <a:pPr indent="0" marL="0">
              <a:buNone/>
            </a:pPr>
            <a:r>
              <a:rPr lang="en-US" sz="1400" dirty="0">
                <a:solidFill>
                  <a:srgbClr val="1A1A1A"/>
                </a:solidFill>
                <a:latin typeface="Times New Roman" pitchFamily="34" charset="0"/>
                <a:ea typeface="Times New Roman" pitchFamily="34" charset="-122"/>
                <a:cs typeface="Times New Roman" pitchFamily="34" charset="-120"/>
              </a:rPr>
              <a:t>ACPI tables (MCFG, DSDT, CEDT, SRAT) για το discovery.</a:t>
            </a:r>
            <a:endParaRPr lang="en-US" sz="1400" dirty="0"/>
          </a:p>
        </p:txBody>
      </p:sp>
      <p:sp>
        <p:nvSpPr>
          <p:cNvPr id="11" name="Text 9"/>
          <p:cNvSpPr/>
          <p:nvPr/>
        </p:nvSpPr>
        <p:spPr>
          <a:xfrm>
            <a:off x="868680" y="2852928"/>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2" name="Text 10"/>
          <p:cNvSpPr/>
          <p:nvPr/>
        </p:nvSpPr>
        <p:spPr>
          <a:xfrm>
            <a:off x="1188720" y="2852928"/>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CXL.io. </a:t>
            </a:r>
            <a:pPr indent="0" marL="0">
              <a:buNone/>
            </a:pPr>
            <a:r>
              <a:rPr lang="en-US" sz="1400" dirty="0">
                <a:solidFill>
                  <a:srgbClr val="1A1A1A"/>
                </a:solidFill>
                <a:latin typeface="Times New Roman" pitchFamily="34" charset="0"/>
                <a:ea typeface="Times New Roman" pitchFamily="34" charset="-122"/>
                <a:cs typeface="Times New Roman" pitchFamily="34" charset="-120"/>
              </a:rPr>
              <a:t>Root Complex και registers για το enumeration.</a:t>
            </a:r>
            <a:endParaRPr lang="en-US" sz="1400" dirty="0"/>
          </a:p>
        </p:txBody>
      </p:sp>
      <p:sp>
        <p:nvSpPr>
          <p:cNvPr id="13" name="Text 11"/>
          <p:cNvSpPr/>
          <p:nvPr/>
        </p:nvSpPr>
        <p:spPr>
          <a:xfrm>
            <a:off x="868680" y="3218688"/>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4" name="Text 12"/>
          <p:cNvSpPr/>
          <p:nvPr/>
        </p:nvSpPr>
        <p:spPr>
          <a:xfrm>
            <a:off x="1188720" y="3218688"/>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CXL.mem. </a:t>
            </a:r>
            <a:pPr indent="0" marL="0">
              <a:buNone/>
            </a:pPr>
            <a:r>
              <a:rPr lang="en-US" sz="1400" dirty="0">
                <a:solidFill>
                  <a:srgbClr val="1A1A1A"/>
                </a:solidFill>
                <a:latin typeface="Times New Roman" pitchFamily="34" charset="0"/>
                <a:ea typeface="Times New Roman" pitchFamily="34" charset="-122"/>
                <a:cs typeface="Times New Roman" pitchFamily="34" charset="-120"/>
              </a:rPr>
              <a:t>transaction layer, M2S / S2M channels, packetization.</a:t>
            </a:r>
            <a:endParaRPr lang="en-US" sz="1400" dirty="0"/>
          </a:p>
        </p:txBody>
      </p:sp>
      <p:sp>
        <p:nvSpPr>
          <p:cNvPr id="15" name="Text 13"/>
          <p:cNvSpPr/>
          <p:nvPr/>
        </p:nvSpPr>
        <p:spPr>
          <a:xfrm>
            <a:off x="868680" y="3584448"/>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6" name="Text 14"/>
          <p:cNvSpPr/>
          <p:nvPr/>
        </p:nvSpPr>
        <p:spPr>
          <a:xfrm>
            <a:off x="1188720" y="3584448"/>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Coherence. </a:t>
            </a:r>
            <a:pPr indent="0" marL="0">
              <a:buNone/>
            </a:pPr>
            <a:r>
              <a:rPr lang="en-US" sz="1400" dirty="0">
                <a:solidFill>
                  <a:srgbClr val="1A1A1A"/>
                </a:solidFill>
                <a:latin typeface="Times New Roman" pitchFamily="34" charset="0"/>
                <a:ea typeface="Times New Roman" pitchFamily="34" charset="-122"/>
                <a:cs typeface="Times New Roman" pitchFamily="34" charset="-120"/>
              </a:rPr>
              <a:t>MESI δύο επιπέδων με directory (Ruby).</a:t>
            </a:r>
            <a:endParaRPr lang="en-US" sz="1400" dirty="0"/>
          </a:p>
        </p:txBody>
      </p:sp>
      <p:sp>
        <p:nvSpPr>
          <p:cNvPr id="17" name="Shape 15"/>
          <p:cNvSpPr/>
          <p:nvPr/>
        </p:nvSpPr>
        <p:spPr>
          <a:xfrm>
            <a:off x="777240" y="4160520"/>
            <a:ext cx="10634472" cy="1737360"/>
          </a:xfrm>
          <a:prstGeom prst="rect">
            <a:avLst/>
          </a:prstGeom>
          <a:solidFill>
            <a:srgbClr val="F0F0EE"/>
          </a:solidFill>
          <a:ln/>
        </p:spPr>
      </p:sp>
      <p:sp>
        <p:nvSpPr>
          <p:cNvPr id="18" name="Text 16"/>
          <p:cNvSpPr/>
          <p:nvPr/>
        </p:nvSpPr>
        <p:spPr>
          <a:xfrm>
            <a:off x="960120" y="4270248"/>
            <a:ext cx="10268712" cy="292608"/>
          </a:xfrm>
          <a:prstGeom prst="rect">
            <a:avLst/>
          </a:prstGeom>
          <a:noFill/>
          <a:ln/>
        </p:spPr>
        <p:txBody>
          <a:bodyPr wrap="square" lIns="0" tIns="0" rIns="0" bIns="0" rtlCol="0" anchor="ctr"/>
          <a:lstStyle/>
          <a:p>
            <a:pPr indent="0" marL="0">
              <a:buNone/>
            </a:pPr>
            <a:r>
              <a:rPr lang="en-US" sz="1400" b="1" dirty="0">
                <a:solidFill>
                  <a:srgbClr val="1F3A63"/>
                </a:solidFill>
                <a:latin typeface="Times New Roman" pitchFamily="34" charset="0"/>
                <a:ea typeface="Times New Roman" pitchFamily="34" charset="-122"/>
                <a:cs typeface="Times New Roman" pitchFamily="34" charset="-120"/>
              </a:rPr>
              <a:t>Πού μπαίνει ο δικός μου κώδικας</a:t>
            </a:r>
            <a:endParaRPr lang="en-US" sz="1400" dirty="0"/>
          </a:p>
        </p:txBody>
      </p:sp>
      <p:sp>
        <p:nvSpPr>
          <p:cNvPr id="19" name="Text 17"/>
          <p:cNvSpPr/>
          <p:nvPr/>
        </p:nvSpPr>
        <p:spPr>
          <a:xfrm>
            <a:off x="960120" y="4581144"/>
            <a:ext cx="10268712" cy="1207008"/>
          </a:xfrm>
          <a:prstGeom prst="rect">
            <a:avLst/>
          </a:prstGeom>
          <a:noFill/>
          <a:ln/>
        </p:spPr>
        <p:txBody>
          <a:bodyPr wrap="square" lIns="0" tIns="0" rIns="0" bIns="0" rtlCol="0" anchor="t"/>
          <a:lstStyle/>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Εκεί που ο CXL node κάνει de-packetize ένα M2S request σε access στη DRAM, έχω το triple {physical address, read/write, timestamp}. Αυτό είναι ακριβώς το stream των LLC misses προς την CXL που κάνουν profiling το NeoMem και το M5· τίποτα άλλο δεν φαίνεται από εκεί.</a:t>
            </a:r>
            <a:endParaRPr lang="en-US" sz="1300" dirty="0"/>
          </a:p>
          <a:p>
            <a:pPr indent="0" marL="0">
              <a:lnSpc>
                <a:spcPts val="1800"/>
              </a:lnSpc>
              <a:buNone/>
            </a:pPr>
            <a:endParaRPr lang="en-US" sz="1300" dirty="0"/>
          </a:p>
          <a:p>
            <a:pPr indent="0" marL="0">
              <a:lnSpc>
                <a:spcPts val="1800"/>
              </a:lnSpc>
              <a:buNone/>
            </a:pPr>
            <a:r>
              <a:rPr lang="en-US" sz="1300" dirty="0">
                <a:solidFill>
                  <a:srgbClr val="1A1A1A"/>
                </a:solidFill>
                <a:latin typeface="Times New Roman" pitchFamily="34" charset="0"/>
                <a:ea typeface="Times New Roman" pitchFamily="34" charset="-122"/>
                <a:cs typeface="Times New Roman" pitchFamily="34" charset="-120"/>
              </a:rPr>
              <a:t>Ο HPT/HWT profiler μπαίνει σαν tap πάνω σε αυτό το path.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§6.2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Σχέδιο του πειράματος</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17 / 20</a:t>
            </a:r>
            <a:endParaRPr lang="en-US" sz="950" dirty="0"/>
          </a:p>
        </p:txBody>
      </p:sp>
      <p:sp>
        <p:nvSpPr>
          <p:cNvPr id="7" name="Text 5"/>
          <p:cNvSpPr/>
          <p:nvPr/>
        </p:nvSpPr>
        <p:spPr>
          <a:xfrm>
            <a:off x="777240" y="1298448"/>
            <a:ext cx="512064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Πέντε cases για σύγκριση.</a:t>
            </a:r>
            <a:endParaRPr lang="en-US" sz="1500" dirty="0"/>
          </a:p>
        </p:txBody>
      </p:sp>
      <p:sp>
        <p:nvSpPr>
          <p:cNvPr id="8" name="Text 6"/>
          <p:cNvSpPr/>
          <p:nvPr/>
        </p:nvSpPr>
        <p:spPr>
          <a:xfrm>
            <a:off x="777240" y="1664208"/>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1.</a:t>
            </a:r>
            <a:endParaRPr lang="en-US" sz="1400" dirty="0"/>
          </a:p>
        </p:txBody>
      </p:sp>
      <p:sp>
        <p:nvSpPr>
          <p:cNvPr id="9" name="Text 7"/>
          <p:cNvSpPr/>
          <p:nvPr/>
        </p:nvSpPr>
        <p:spPr>
          <a:xfrm>
            <a:off x="1143000" y="1664208"/>
            <a:ext cx="502920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Όλα στην CXL</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lower bound</a:t>
            </a:r>
            <a:endParaRPr lang="en-US" sz="1400" dirty="0"/>
          </a:p>
        </p:txBody>
      </p:sp>
      <p:sp>
        <p:nvSpPr>
          <p:cNvPr id="10" name="Text 8"/>
          <p:cNvSpPr/>
          <p:nvPr/>
        </p:nvSpPr>
        <p:spPr>
          <a:xfrm>
            <a:off x="777240" y="2066544"/>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2.</a:t>
            </a:r>
            <a:endParaRPr lang="en-US" sz="1400" dirty="0"/>
          </a:p>
        </p:txBody>
      </p:sp>
      <p:sp>
        <p:nvSpPr>
          <p:cNvPr id="11" name="Text 9"/>
          <p:cNvSpPr/>
          <p:nvPr/>
        </p:nvSpPr>
        <p:spPr>
          <a:xfrm>
            <a:off x="1143000" y="2066544"/>
            <a:ext cx="502920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Όλα σε τοπική DRAM</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upper bound</a:t>
            </a:r>
            <a:endParaRPr lang="en-US" sz="1400" dirty="0"/>
          </a:p>
        </p:txBody>
      </p:sp>
      <p:sp>
        <p:nvSpPr>
          <p:cNvPr id="12" name="Text 10"/>
          <p:cNvSpPr/>
          <p:nvPr/>
        </p:nvSpPr>
        <p:spPr>
          <a:xfrm>
            <a:off x="777240" y="2468880"/>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3.</a:t>
            </a:r>
            <a:endParaRPr lang="en-US" sz="1400" dirty="0"/>
          </a:p>
        </p:txBody>
      </p:sp>
      <p:sp>
        <p:nvSpPr>
          <p:cNvPr id="13" name="Text 11"/>
          <p:cNvSpPr/>
          <p:nvPr/>
        </p:nvSpPr>
        <p:spPr>
          <a:xfrm>
            <a:off x="1143000" y="2468880"/>
            <a:ext cx="5029200" cy="310896"/>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Απλό page migration</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το «πρόβλημα»</a:t>
            </a:r>
            <a:endParaRPr lang="en-US" sz="1400" dirty="0"/>
          </a:p>
        </p:txBody>
      </p:sp>
      <p:sp>
        <p:nvSpPr>
          <p:cNvPr id="14" name="Text 12"/>
          <p:cNvSpPr/>
          <p:nvPr/>
        </p:nvSpPr>
        <p:spPr>
          <a:xfrm>
            <a:off x="777240" y="2871216"/>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4.</a:t>
            </a:r>
            <a:endParaRPr lang="en-US" sz="1400" dirty="0"/>
          </a:p>
        </p:txBody>
      </p:sp>
      <p:sp>
        <p:nvSpPr>
          <p:cNvPr id="15" name="Text 13"/>
          <p:cNvSpPr/>
          <p:nvPr/>
        </p:nvSpPr>
        <p:spPr>
          <a:xfrm>
            <a:off x="1143000" y="2871216"/>
            <a:ext cx="5029200" cy="310896"/>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Ο μηχανισμός του M5 (HPT+HWT)</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η πρόταση</a:t>
            </a:r>
            <a:endParaRPr lang="en-US" sz="1400" dirty="0"/>
          </a:p>
        </p:txBody>
      </p:sp>
      <p:sp>
        <p:nvSpPr>
          <p:cNvPr id="16" name="Text 14"/>
          <p:cNvSpPr/>
          <p:nvPr/>
        </p:nvSpPr>
        <p:spPr>
          <a:xfrm>
            <a:off x="777240" y="3273552"/>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5.</a:t>
            </a:r>
            <a:endParaRPr lang="en-US" sz="1400" dirty="0"/>
          </a:p>
        </p:txBody>
      </p:sp>
      <p:sp>
        <p:nvSpPr>
          <p:cNvPr id="17" name="Text 15"/>
          <p:cNvSpPr/>
          <p:nvPr/>
        </p:nvSpPr>
        <p:spPr>
          <a:xfrm>
            <a:off x="1143000" y="3273552"/>
            <a:ext cx="502920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Oracle placement</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offline βέλτιστο</a:t>
            </a:r>
            <a:endParaRPr lang="en-US" sz="1400" dirty="0"/>
          </a:p>
        </p:txBody>
      </p:sp>
      <p:sp>
        <p:nvSpPr>
          <p:cNvPr id="18" name="Text 16"/>
          <p:cNvSpPr/>
          <p:nvPr/>
        </p:nvSpPr>
        <p:spPr>
          <a:xfrm>
            <a:off x="777240" y="3749040"/>
            <a:ext cx="5212080" cy="640080"/>
          </a:xfrm>
          <a:prstGeom prst="rect">
            <a:avLst/>
          </a:prstGeom>
          <a:noFill/>
          <a:ln/>
        </p:spPr>
        <p:txBody>
          <a:bodyPr wrap="square" lIns="0" tIns="0" rIns="0" bIns="0" rtlCol="0" anchor="ctr"/>
          <a:lstStyle/>
          <a:p>
            <a:pPr indent="0" marL="0">
              <a:lnSpc>
                <a:spcPts val="2000"/>
              </a:lnSpc>
              <a:buNone/>
            </a:pPr>
            <a:r>
              <a:rPr lang="en-US" sz="1400" i="1" dirty="0">
                <a:solidFill>
                  <a:srgbClr val="8C2A2A"/>
                </a:solidFill>
                <a:latin typeface="Times New Roman" pitchFamily="34" charset="0"/>
                <a:ea typeface="Times New Roman" pitchFamily="34" charset="-122"/>
                <a:cs typeface="Times New Roman" pitchFamily="34" charset="-120"/>
              </a:rPr>
              <a:t>Η απόσταση απλό migration ↔ oracle είναι το πρόβλημα που θέλω να δείξω.</a:t>
            </a:r>
            <a:endParaRPr lang="en-US" sz="1400" dirty="0"/>
          </a:p>
        </p:txBody>
      </p:sp>
      <p:sp>
        <p:nvSpPr>
          <p:cNvPr id="19" name="Shape 17"/>
          <p:cNvSpPr/>
          <p:nvPr/>
        </p:nvSpPr>
        <p:spPr>
          <a:xfrm>
            <a:off x="6172200" y="1325880"/>
            <a:ext cx="9144" cy="4023360"/>
          </a:xfrm>
          <a:prstGeom prst="rect">
            <a:avLst/>
          </a:prstGeom>
          <a:solidFill>
            <a:srgbClr val="BFBFBF"/>
          </a:solidFill>
          <a:ln/>
        </p:spPr>
      </p:sp>
      <p:sp>
        <p:nvSpPr>
          <p:cNvPr id="20" name="Text 18"/>
          <p:cNvSpPr/>
          <p:nvPr/>
        </p:nvSpPr>
        <p:spPr>
          <a:xfrm>
            <a:off x="6492240" y="1298448"/>
            <a:ext cx="493776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Workloads.</a:t>
            </a:r>
            <a:endParaRPr lang="en-US" sz="1500" dirty="0"/>
          </a:p>
        </p:txBody>
      </p:sp>
      <p:sp>
        <p:nvSpPr>
          <p:cNvPr id="21" name="Text 19"/>
          <p:cNvSpPr/>
          <p:nvPr/>
        </p:nvSpPr>
        <p:spPr>
          <a:xfrm>
            <a:off x="6492240" y="1645920"/>
            <a:ext cx="4937760" cy="1463040"/>
          </a:xfrm>
          <a:prstGeom prst="rect">
            <a:avLst/>
          </a:prstGeom>
          <a:noFill/>
          <a:ln/>
        </p:spPr>
        <p:txBody>
          <a:bodyPr wrap="square" lIns="0" tIns="0" rIns="0" bIns="0" rtlCol="0" anchor="ctr"/>
          <a:lstStyle/>
          <a:p>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GUPS</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τυχαία 8 B updates, μηδέν locality (worst case)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XSBench</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Monte Carlo lookups σε μεγάλα tables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PageRank</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irregular graph, το hot set μετακινείται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Btree / YCSB-C</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Zipf, ακραίο sub-page hotness</a:t>
            </a:r>
            <a:endParaRPr lang="en-US" sz="1350" dirty="0"/>
          </a:p>
        </p:txBody>
      </p:sp>
      <p:sp>
        <p:nvSpPr>
          <p:cNvPr id="22" name="Text 20"/>
          <p:cNvSpPr/>
          <p:nvPr/>
        </p:nvSpPr>
        <p:spPr>
          <a:xfrm>
            <a:off x="6492240" y="3474720"/>
            <a:ext cx="493776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Metrics.</a:t>
            </a:r>
            <a:endParaRPr lang="en-US" sz="1500" dirty="0"/>
          </a:p>
        </p:txBody>
      </p:sp>
      <p:sp>
        <p:nvSpPr>
          <p:cNvPr id="23" name="Text 21"/>
          <p:cNvSpPr/>
          <p:nvPr/>
        </p:nvSpPr>
        <p:spPr>
          <a:xfrm>
            <a:off x="6492240" y="3822192"/>
            <a:ext cx="4937760" cy="1554480"/>
          </a:xfrm>
          <a:prstGeom prst="rect">
            <a:avLst/>
          </a:prstGeom>
          <a:noFill/>
          <a:ln/>
        </p:spPr>
        <p:txBody>
          <a:bodyPr wrap="square" lIns="0" tIns="0" rIns="0" bIns="0" rtlCol="0" anchor="ctr"/>
          <a:lstStyle/>
          <a:p>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CDF του access density ανά 64 B line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migration efficiency: useful ÷ moved bytes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promotion timeliness (πόσα ακόμα hot)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slowdown vs fast-tier ratio · ping-pongs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§6.3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Το σχήμα που θα το κρίνει</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18 / 20</a:t>
            </a:r>
            <a:endParaRPr lang="en-US" sz="950" dirty="0"/>
          </a:p>
        </p:txBody>
      </p:sp>
      <p:sp>
        <p:nvSpPr>
          <p:cNvPr id="7" name="Text 5"/>
          <p:cNvSpPr/>
          <p:nvPr/>
        </p:nvSpPr>
        <p:spPr>
          <a:xfrm>
            <a:off x="777240" y="1325880"/>
            <a:ext cx="4709160" cy="1371600"/>
          </a:xfrm>
          <a:prstGeom prst="rect">
            <a:avLst/>
          </a:prstGeom>
          <a:noFill/>
          <a:ln/>
        </p:spPr>
        <p:txBody>
          <a:bodyPr wrap="square" lIns="0" tIns="0" rIns="0" bIns="0" rtlCol="0" anchor="ctr"/>
          <a:lstStyle/>
          <a:p>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Για κάθε page 4 KB: τι ποσοστό των accesses του πέφτει στις k πιο hot 64 B lines. Αν το 80% πέφτει σε &lt;10% του page, το επιχείρημα του granularity αποδεικνύεται με ένα γράφημα.</a:t>
            </a:r>
            <a:endParaRPr lang="en-US" sz="1500" dirty="0"/>
          </a:p>
        </p:txBody>
      </p:sp>
      <p:sp>
        <p:nvSpPr>
          <p:cNvPr id="8" name="Text 6"/>
          <p:cNvSpPr/>
          <p:nvPr/>
        </p:nvSpPr>
        <p:spPr>
          <a:xfrm>
            <a:off x="777240" y="2926080"/>
            <a:ext cx="4709160" cy="1737360"/>
          </a:xfrm>
          <a:prstGeom prst="rect">
            <a:avLst/>
          </a:prstGeom>
          <a:noFill/>
          <a:ln/>
        </p:spPr>
        <p:txBody>
          <a:bodyPr wrap="square" lIns="0" tIns="0" rIns="0" bIns="0" rtlCol="0" anchor="ctr"/>
          <a:lstStyle/>
          <a:p>
            <a:pPr algn="just" indent="0" marL="0">
              <a:lnSpc>
                <a:spcPts val="2100"/>
              </a:lnSpc>
              <a:buNone/>
            </a:pPr>
            <a:r>
              <a:rPr lang="en-US" sz="1400" b="1" dirty="0">
                <a:solidFill>
                  <a:srgbClr val="8C2A2A"/>
                </a:solidFill>
                <a:latin typeface="Times New Roman" pitchFamily="34" charset="0"/>
                <a:ea typeface="Times New Roman" pitchFamily="34" charset="-122"/>
                <a:cs typeface="Times New Roman" pitchFamily="34" charset="-120"/>
              </a:rPr>
              <a:t>Επιφύλαξη. </a:t>
            </a:r>
            <a:pPr algn="just" indent="0" marL="0">
              <a:lnSpc>
                <a:spcPts val="2100"/>
              </a:lnSpc>
              <a:buNone/>
            </a:pPr>
            <a:r>
              <a:rPr lang="en-US" sz="1400" dirty="0">
                <a:solidFill>
                  <a:srgbClr val="1A1A1A"/>
                </a:solidFill>
                <a:latin typeface="Times New Roman" pitchFamily="34" charset="0"/>
                <a:ea typeface="Times New Roman" pitchFamily="34" charset="-122"/>
                <a:cs typeface="Times New Roman" pitchFamily="34" charset="-120"/>
              </a:rPr>
              <a:t>Η καμπύλη είναι το αναμενόμενο σχήμα, όχι δεδομένα· ο προσομοιωτής δεν έχει τρέξει ακόμα. Αν βγει επίπεδη, το επιχείρημα του sub-page hotness πέφτει για αυτό το workload — εξίσου χρήσιμο.</a:t>
            </a:r>
            <a:endParaRPr lang="en-US" sz="1400" dirty="0"/>
          </a:p>
        </p:txBody>
      </p:sp>
      <p:graphicFrame>
        <p:nvGraphicFramePr>
          <p:cNvPr id="9" name="Chart 0" descr=""/>
          <p:cNvGraphicFramePr/>
          <p:nvPr/>
        </p:nvGraphicFramePr>
        <p:xfrm>
          <a:off x="5806440" y="1371600"/>
          <a:ext cx="5605272" cy="37033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5806440" y="5166360"/>
            <a:ext cx="5605272"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7: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cumulative % των accesses στις k πιο hot 64 B lines (αναμενόμενο σχήμα).</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§6.4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Φάσεις υλοποίησης και ρίσκο</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19 / 20</a:t>
            </a:r>
            <a:endParaRPr lang="en-US" sz="950" dirty="0"/>
          </a:p>
        </p:txBody>
      </p:sp>
      <p:sp>
        <p:nvSpPr>
          <p:cNvPr id="7" name="Text 5"/>
          <p:cNvSpPr/>
          <p:nvPr/>
        </p:nvSpPr>
        <p:spPr>
          <a:xfrm>
            <a:off x="777240" y="1371600"/>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1.</a:t>
            </a:r>
            <a:endParaRPr lang="en-US" sz="1500" dirty="0"/>
          </a:p>
        </p:txBody>
      </p:sp>
      <p:sp>
        <p:nvSpPr>
          <p:cNvPr id="8" name="Text 6"/>
          <p:cNvSpPr/>
          <p:nvPr/>
        </p:nvSpPr>
        <p:spPr>
          <a:xfrm>
            <a:off x="1874520" y="1371600"/>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Boot &amp; checkpoint.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Boot μέχρι shell, zNUMA node, latency microbenchmark («η CXL είναι όντως πιο αργή»).</a:t>
            </a:r>
            <a:endParaRPr lang="en-US" sz="1450" dirty="0"/>
          </a:p>
        </p:txBody>
      </p:sp>
      <p:sp>
        <p:nvSpPr>
          <p:cNvPr id="9" name="Shape 7"/>
          <p:cNvSpPr/>
          <p:nvPr/>
        </p:nvSpPr>
        <p:spPr>
          <a:xfrm>
            <a:off x="1874520" y="2011680"/>
            <a:ext cx="9537192" cy="5486"/>
          </a:xfrm>
          <a:prstGeom prst="rect">
            <a:avLst/>
          </a:prstGeom>
          <a:solidFill>
            <a:srgbClr val="E8E8E8"/>
          </a:solidFill>
          <a:ln/>
        </p:spPr>
      </p:sp>
      <p:sp>
        <p:nvSpPr>
          <p:cNvPr id="10" name="Text 8"/>
          <p:cNvSpPr/>
          <p:nvPr/>
        </p:nvSpPr>
        <p:spPr>
          <a:xfrm>
            <a:off x="777240" y="2121408"/>
            <a:ext cx="1051560" cy="292608"/>
          </a:xfrm>
          <a:prstGeom prst="rect">
            <a:avLst/>
          </a:prstGeom>
          <a:noFill/>
          <a:ln/>
        </p:spPr>
        <p:txBody>
          <a:bodyPr wrap="square" lIns="0" tIns="0" rIns="0" bIns="0" rtlCol="0" anchor="t"/>
          <a:lstStyle/>
          <a:p>
            <a:pPr indent="0" marL="0">
              <a:buNone/>
            </a:pPr>
            <a:r>
              <a:rPr lang="en-US" sz="1500" b="1" dirty="0">
                <a:solidFill>
                  <a:srgbClr val="8C2A2A"/>
                </a:solidFill>
                <a:latin typeface="Times New Roman" pitchFamily="34" charset="0"/>
                <a:ea typeface="Times New Roman" pitchFamily="34" charset="-122"/>
                <a:cs typeface="Times New Roman" pitchFamily="34" charset="-120"/>
              </a:rPr>
              <a:t>Φάση 2.</a:t>
            </a:r>
            <a:endParaRPr lang="en-US" sz="1500" dirty="0"/>
          </a:p>
        </p:txBody>
      </p:sp>
      <p:sp>
        <p:nvSpPr>
          <p:cNvPr id="11" name="Text 9"/>
          <p:cNvSpPr/>
          <p:nvPr/>
        </p:nvSpPr>
        <p:spPr>
          <a:xfrm>
            <a:off x="1874520" y="2121408"/>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8C2A2A"/>
                </a:solidFill>
                <a:latin typeface="Times New Roman" pitchFamily="34" charset="0"/>
                <a:ea typeface="Times New Roman" pitchFamily="34" charset="-122"/>
                <a:cs typeface="Times New Roman" pitchFamily="34" charset="-120"/>
              </a:rPr>
              <a:t>Access tracing.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Tap στο request stream + CDF του access density — το πρώτο πραγματικό αποτέλεσμα.</a:t>
            </a:r>
            <a:endParaRPr lang="en-US" sz="1450" dirty="0"/>
          </a:p>
        </p:txBody>
      </p:sp>
      <p:sp>
        <p:nvSpPr>
          <p:cNvPr id="12" name="Shape 10"/>
          <p:cNvSpPr/>
          <p:nvPr/>
        </p:nvSpPr>
        <p:spPr>
          <a:xfrm>
            <a:off x="1874520" y="2761488"/>
            <a:ext cx="9537192" cy="5486"/>
          </a:xfrm>
          <a:prstGeom prst="rect">
            <a:avLst/>
          </a:prstGeom>
          <a:solidFill>
            <a:srgbClr val="E8E8E8"/>
          </a:solidFill>
          <a:ln/>
        </p:spPr>
      </p:sp>
      <p:sp>
        <p:nvSpPr>
          <p:cNvPr id="13" name="Text 11"/>
          <p:cNvSpPr/>
          <p:nvPr/>
        </p:nvSpPr>
        <p:spPr>
          <a:xfrm>
            <a:off x="777240" y="2871216"/>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3.</a:t>
            </a:r>
            <a:endParaRPr lang="en-US" sz="1500" dirty="0"/>
          </a:p>
        </p:txBody>
      </p:sp>
      <p:sp>
        <p:nvSpPr>
          <p:cNvPr id="14" name="Text 12"/>
          <p:cNvSpPr/>
          <p:nvPr/>
        </p:nvSpPr>
        <p:spPr>
          <a:xfrm>
            <a:off x="1874520" y="2871216"/>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Baseline migration.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Απλό page migration με τίμιο cost model και bandwidth quota.</a:t>
            </a:r>
            <a:endParaRPr lang="en-US" sz="1450" dirty="0"/>
          </a:p>
        </p:txBody>
      </p:sp>
      <p:sp>
        <p:nvSpPr>
          <p:cNvPr id="15" name="Shape 13"/>
          <p:cNvSpPr/>
          <p:nvPr/>
        </p:nvSpPr>
        <p:spPr>
          <a:xfrm>
            <a:off x="1874520" y="3511296"/>
            <a:ext cx="9537192" cy="5486"/>
          </a:xfrm>
          <a:prstGeom prst="rect">
            <a:avLst/>
          </a:prstGeom>
          <a:solidFill>
            <a:srgbClr val="E8E8E8"/>
          </a:solidFill>
          <a:ln/>
        </p:spPr>
      </p:sp>
      <p:sp>
        <p:nvSpPr>
          <p:cNvPr id="16" name="Text 14"/>
          <p:cNvSpPr/>
          <p:nvPr/>
        </p:nvSpPr>
        <p:spPr>
          <a:xfrm>
            <a:off x="777240" y="3621024"/>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4.</a:t>
            </a:r>
            <a:endParaRPr lang="en-US" sz="1500" dirty="0"/>
          </a:p>
        </p:txBody>
      </p:sp>
      <p:sp>
        <p:nvSpPr>
          <p:cNvPr id="17" name="Text 15"/>
          <p:cNvSpPr/>
          <p:nvPr/>
        </p:nvSpPr>
        <p:spPr>
          <a:xfrm>
            <a:off x="1874520" y="3621024"/>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Υλοποίηση του M5.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Πρώτα ο HPT (hot pages), μετά ο HWT (hot 64 B words).</a:t>
            </a:r>
            <a:endParaRPr lang="en-US" sz="1450" dirty="0"/>
          </a:p>
        </p:txBody>
      </p:sp>
      <p:sp>
        <p:nvSpPr>
          <p:cNvPr id="18" name="Shape 16"/>
          <p:cNvSpPr/>
          <p:nvPr/>
        </p:nvSpPr>
        <p:spPr>
          <a:xfrm>
            <a:off x="1874520" y="4261104"/>
            <a:ext cx="9537192" cy="5486"/>
          </a:xfrm>
          <a:prstGeom prst="rect">
            <a:avLst/>
          </a:prstGeom>
          <a:solidFill>
            <a:srgbClr val="E8E8E8"/>
          </a:solidFill>
          <a:ln/>
        </p:spPr>
      </p:sp>
      <p:sp>
        <p:nvSpPr>
          <p:cNvPr id="19" name="Text 17"/>
          <p:cNvSpPr/>
          <p:nvPr/>
        </p:nvSpPr>
        <p:spPr>
          <a:xfrm>
            <a:off x="777240" y="4370832"/>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5.</a:t>
            </a:r>
            <a:endParaRPr lang="en-US" sz="1500" dirty="0"/>
          </a:p>
        </p:txBody>
      </p:sp>
      <p:sp>
        <p:nvSpPr>
          <p:cNvPr id="20" name="Text 18"/>
          <p:cNvSpPr/>
          <p:nvPr/>
        </p:nvSpPr>
        <p:spPr>
          <a:xfrm>
            <a:off x="1874520" y="4370832"/>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Evaluation &amp; γράψιμο.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Sensitivity ως προς K, interval, quota, CXL latency.</a:t>
            </a:r>
            <a:endParaRPr lang="en-US" sz="1450" dirty="0"/>
          </a:p>
        </p:txBody>
      </p:sp>
      <p:sp>
        <p:nvSpPr>
          <p:cNvPr id="21" name="Text 19"/>
          <p:cNvSpPr/>
          <p:nvPr/>
        </p:nvSpPr>
        <p:spPr>
          <a:xfrm>
            <a:off x="777240" y="5257800"/>
            <a:ext cx="10634472" cy="548640"/>
          </a:xfrm>
          <a:prstGeom prst="rect">
            <a:avLst/>
          </a:prstGeom>
          <a:noFill/>
          <a:ln/>
        </p:spPr>
        <p:txBody>
          <a:bodyPr wrap="square" lIns="0" tIns="0" rIns="0" bIns="0" rtlCol="0" anchor="ctr"/>
          <a:lstStyle/>
          <a:p>
            <a:pPr indent="0" marL="0">
              <a:lnSpc>
                <a:spcPts val="2100"/>
              </a:lnSpc>
              <a:buNone/>
            </a:pPr>
            <a:r>
              <a:rPr lang="en-US" sz="1400" i="1" dirty="0">
                <a:solidFill>
                  <a:srgbClr val="6E6E6E"/>
                </a:solidFill>
                <a:latin typeface="Times New Roman" pitchFamily="34" charset="0"/>
                <a:ea typeface="Times New Roman" pitchFamily="34" charset="-122"/>
                <a:cs typeface="Times New Roman" pitchFamily="34" charset="-120"/>
              </a:rPr>
              <a:t>Η Φάση 2 μειώνει το ρίσκο όλων των υπολοίπων: βγάζει παρουσιάσιμο αποτέλεσμα πριν γραφτεί οποιοδήποτε policy.</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48640"/>
          </a:xfrm>
          <a:prstGeom prst="rect">
            <a:avLst/>
          </a:prstGeom>
          <a:noFill/>
          <a:ln/>
        </p:spPr>
        <p:txBody>
          <a:bodyPr wrap="square" lIns="0" tIns="0" rIns="0" bIns="0" rtlCol="0" anchor="ctr"/>
          <a:lstStyle/>
          <a:p>
            <a:pPr indent="0" marL="0">
              <a:buNone/>
            </a:pPr>
            <a:r>
              <a:rPr lang="en-US" sz="2300" b="1" dirty="0">
                <a:solidFill>
                  <a:srgbClr val="1F3A63"/>
                </a:solidFill>
                <a:latin typeface="Times New Roman" pitchFamily="34" charset="0"/>
                <a:ea typeface="Times New Roman" pitchFamily="34" charset="-122"/>
                <a:cs typeface="Times New Roman" pitchFamily="34" charset="-120"/>
              </a:rPr>
              <a:t>§7  </a:t>
            </a:r>
            <a:pPr indent="0" marL="0">
              <a:buNone/>
            </a:pPr>
            <a:r>
              <a:rPr lang="en-US" sz="2300" b="1" dirty="0">
                <a:solidFill>
                  <a:srgbClr val="1A1A1A"/>
                </a:solidFill>
                <a:latin typeface="Times New Roman" pitchFamily="34" charset="0"/>
                <a:ea typeface="Times New Roman" pitchFamily="34" charset="-122"/>
                <a:cs typeface="Times New Roman" pitchFamily="34" charset="-120"/>
              </a:rPr>
              <a:t>Ανοιχτά ερωτήματα για συζήτηση</a:t>
            </a:r>
            <a:endParaRPr lang="en-US" sz="23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7. Συζήτηση</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20 / 20</a:t>
            </a:r>
            <a:endParaRPr lang="en-US" sz="950" dirty="0"/>
          </a:p>
        </p:txBody>
      </p:sp>
      <p:sp>
        <p:nvSpPr>
          <p:cNvPr id="7" name="Text 5"/>
          <p:cNvSpPr/>
          <p:nvPr/>
        </p:nvSpPr>
        <p:spPr>
          <a:xfrm>
            <a:off x="777240" y="141732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1.</a:t>
            </a:r>
            <a:endParaRPr lang="en-US" sz="1600" dirty="0"/>
          </a:p>
        </p:txBody>
      </p:sp>
      <p:sp>
        <p:nvSpPr>
          <p:cNvPr id="8" name="Text 6"/>
          <p:cNvSpPr/>
          <p:nvPr/>
        </p:nvSpPr>
        <p:spPr>
          <a:xfrm>
            <a:off x="1234440" y="141732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Πρόσβαση στον CXLRAMSim.</a:t>
            </a:r>
            <a:endParaRPr lang="en-US" sz="1600" dirty="0"/>
          </a:p>
        </p:txBody>
      </p:sp>
      <p:sp>
        <p:nvSpPr>
          <p:cNvPr id="9" name="Text 7"/>
          <p:cNvSpPr/>
          <p:nvPr/>
        </p:nvSpPr>
        <p:spPr>
          <a:xfrm>
            <a:off x="1234440" y="174650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Υπάρχει repo και οδηγίες build; Ιδανικά και έτοιμο disk image — το χτίσιμο από το μηδέν είναι μέρες δουλειάς που δεν διδάσκουν κάτι για το tiering.</a:t>
            </a:r>
            <a:endParaRPr lang="en-US" sz="1400" dirty="0"/>
          </a:p>
        </p:txBody>
      </p:sp>
      <p:sp>
        <p:nvSpPr>
          <p:cNvPr id="10" name="Text 8"/>
          <p:cNvSpPr/>
          <p:nvPr/>
        </p:nvSpPr>
        <p:spPr>
          <a:xfrm>
            <a:off x="777240" y="237744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2.</a:t>
            </a:r>
            <a:endParaRPr lang="en-US" sz="1600" dirty="0"/>
          </a:p>
        </p:txBody>
      </p:sp>
      <p:sp>
        <p:nvSpPr>
          <p:cNvPr id="11" name="Text 9"/>
          <p:cNvSpPr/>
          <p:nvPr/>
        </p:nvSpPr>
        <p:spPr>
          <a:xfrm>
            <a:off x="1234440" y="237744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Μέγεθος των workloads.</a:t>
            </a:r>
            <a:endParaRPr lang="en-US" sz="1600" dirty="0"/>
          </a:p>
        </p:txBody>
      </p:sp>
      <p:sp>
        <p:nvSpPr>
          <p:cNvPr id="12" name="Text 10"/>
          <p:cNvSpPr/>
          <p:nvPr/>
        </p:nvSpPr>
        <p:spPr>
          <a:xfrm>
            <a:off x="1234440" y="270662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Είναι ok να κατεβάσω το μέγεθος σε εκατοντάδες MB αντί για 10–20 GB RSS, κρατώντας ρεαλιστικό το ratio των tiers;</a:t>
            </a:r>
            <a:endParaRPr lang="en-US" sz="1400" dirty="0"/>
          </a:p>
        </p:txBody>
      </p:sp>
      <p:sp>
        <p:nvSpPr>
          <p:cNvPr id="13" name="Text 11"/>
          <p:cNvSpPr/>
          <p:nvPr/>
        </p:nvSpPr>
        <p:spPr>
          <a:xfrm>
            <a:off x="777240" y="333756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3.</a:t>
            </a:r>
            <a:endParaRPr lang="en-US" sz="1600" dirty="0"/>
          </a:p>
        </p:txBody>
      </p:sp>
      <p:sp>
        <p:nvSpPr>
          <p:cNvPr id="14" name="Text 12"/>
          <p:cNvSpPr/>
          <p:nvPr/>
        </p:nvSpPr>
        <p:spPr>
          <a:xfrm>
            <a:off x="1234440" y="333756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Πόσο μακριά να πάει το implementation.</a:t>
            </a:r>
            <a:endParaRPr lang="en-US" sz="1600" dirty="0"/>
          </a:p>
        </p:txBody>
      </p:sp>
      <p:sp>
        <p:nvSpPr>
          <p:cNvPr id="15" name="Text 13"/>
          <p:cNvSpPr/>
          <p:nvPr/>
        </p:nvSpPr>
        <p:spPr>
          <a:xfrm>
            <a:off x="1234440" y="366674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Φτάνει profiler HPT+HWT με μοντελοποιημένο migration engine, ή θέλετε πραγματικό Linux migration από kernel module;</a:t>
            </a:r>
            <a:endParaRPr lang="en-US" sz="1400" dirty="0"/>
          </a:p>
        </p:txBody>
      </p:sp>
      <p:sp>
        <p:nvSpPr>
          <p:cNvPr id="16" name="Text 14"/>
          <p:cNvSpPr/>
          <p:nvPr/>
        </p:nvSpPr>
        <p:spPr>
          <a:xfrm>
            <a:off x="777240" y="429768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4.</a:t>
            </a:r>
            <a:endParaRPr lang="en-US" sz="1600" dirty="0"/>
          </a:p>
        </p:txBody>
      </p:sp>
      <p:sp>
        <p:nvSpPr>
          <p:cNvPr id="17" name="Text 15"/>
          <p:cNvSpPr/>
          <p:nvPr/>
        </p:nvSpPr>
        <p:spPr>
          <a:xfrm>
            <a:off x="1234440" y="429768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Επιλογή paper.</a:t>
            </a:r>
            <a:endParaRPr lang="en-US" sz="1600" dirty="0"/>
          </a:p>
        </p:txBody>
      </p:sp>
      <p:sp>
        <p:nvSpPr>
          <p:cNvPr id="18" name="Text 16"/>
          <p:cNvSpPr/>
          <p:nvPr/>
        </p:nvSpPr>
        <p:spPr>
          <a:xfrm>
            <a:off x="1234440" y="462686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Είναι το M5 η σωστή επιλογή, ή προτιμάτε να δείτε NeoMem;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Memory Tiering σε συστήματα CXL</dc:title>
  <dc:subject>PptxGenJS Presentation</dc:subject>
  <dc:creator>el23408</dc:creator>
  <cp:lastModifiedBy>el23408</cp:lastModifiedBy>
  <cp:revision>1</cp:revision>
  <dcterms:created xsi:type="dcterms:W3CDTF">2026-07-27T13:43:11Z</dcterms:created>
  <dcterms:modified xsi:type="dcterms:W3CDTF">2026-07-27T13:43:11Z</dcterms:modified>
</cp:coreProperties>
</file>