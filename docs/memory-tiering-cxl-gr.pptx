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Zipf (Btree / YCSB)</c:v>
                </c:pt>
              </c:strCache>
            </c:strRef>
          </c:tx>
          <c:spPr>
            <a:solidFill>
              <a:srgbClr val="1F3A63"/>
            </a:solidFill>
            <a:ln w="28575" cap="flat">
              <a:solidFill>
                <a:srgbClr val="1F3A63"/>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A63"/>
              </a:solidFill>
              <a:ln w="9525" cap="flat">
                <a:solidFill>
                  <a:srgbClr val="1F3A63"/>
                </a:solidFill>
                <a:prstDash val="solid"/>
                <a:round/>
              </a:ln>
              <a:effectLst/>
            </c:spPr>
          </c:marker>
          <c:cat>
            <c:multiLvlStrRef>
              <c:f>Sheet1!$A$2:$A$9</c:f>
              <c:multiLvlStrCache>
                <c:ptCount val="8"/>
                <c:lvl>
                  <c:pt idx="0">
                    <c:v>1</c:v>
                  </c:pt>
                  <c:pt idx="1">
                    <c:v>4</c:v>
                  </c:pt>
                  <c:pt idx="2">
                    <c:v>8</c:v>
                  </c:pt>
                  <c:pt idx="3">
                    <c:v>16</c:v>
                  </c:pt>
                  <c:pt idx="4">
                    <c:v>24</c:v>
                  </c:pt>
                  <c:pt idx="5">
                    <c:v>32</c:v>
                  </c:pt>
                  <c:pt idx="6">
                    <c:v>48</c:v>
                  </c:pt>
                  <c:pt idx="7">
                    <c:v>64</c:v>
                  </c:pt>
                </c:lvl>
              </c:multiLvlStrCache>
            </c:multiLvlStrRef>
          </c:cat>
          <c:val>
            <c:numRef>
              <c:f>Sheet1!$B$2:$B$9</c:f>
              <c:numCache>
                <c:formatCode>General</c:formatCode>
                <c:ptCount val="8"/>
                <c:pt idx="0">
                  <c:v>31</c:v>
                </c:pt>
                <c:pt idx="1">
                  <c:v>62</c:v>
                </c:pt>
                <c:pt idx="2">
                  <c:v>78</c:v>
                </c:pt>
                <c:pt idx="3">
                  <c:v>88</c:v>
                </c:pt>
                <c:pt idx="4">
                  <c:v>93</c:v>
                </c:pt>
                <c:pt idx="5">
                  <c:v>96</c:v>
                </c:pt>
                <c:pt idx="6">
                  <c:v>99</c:v>
                </c:pt>
                <c:pt idx="7">
                  <c:v>100</c:v>
                </c:pt>
              </c:numCache>
            </c:numRef>
          </c:val>
          <c:smooth val="1"/>
        </c:ser>
        <c:ser>
          <c:idx val="1"/>
          <c:order val="1"/>
          <c:tx>
            <c:strRef>
              <c:f>Sheet1!$C$1</c:f>
              <c:strCache>
                <c:ptCount val="1"/>
                <c:pt idx="0">
                  <c:v>Uniform (GUPS)</c:v>
                </c:pt>
              </c:strCache>
            </c:strRef>
          </c:tx>
          <c:spPr>
            <a:solidFill>
              <a:srgbClr val="8C2A2A"/>
            </a:solidFill>
            <a:ln w="28575" cap="flat">
              <a:solidFill>
                <a:srgbClr val="8C2A2A"/>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C2A2A"/>
              </a:solidFill>
              <a:ln w="9525" cap="flat">
                <a:solidFill>
                  <a:srgbClr val="8C2A2A"/>
                </a:solidFill>
                <a:prstDash val="solid"/>
                <a:round/>
              </a:ln>
              <a:effectLst/>
            </c:spPr>
          </c:marker>
          <c:cat>
            <c:multiLvlStrRef>
              <c:f>Sheet1!$A$2:$A$9</c:f>
              <c:multiLvlStrCache>
                <c:ptCount val="8"/>
                <c:lvl>
                  <c:pt idx="0">
                    <c:v>1</c:v>
                  </c:pt>
                  <c:pt idx="1">
                    <c:v>4</c:v>
                  </c:pt>
                  <c:pt idx="2">
                    <c:v>8</c:v>
                  </c:pt>
                  <c:pt idx="3">
                    <c:v>16</c:v>
                  </c:pt>
                  <c:pt idx="4">
                    <c:v>24</c:v>
                  </c:pt>
                  <c:pt idx="5">
                    <c:v>32</c:v>
                  </c:pt>
                  <c:pt idx="6">
                    <c:v>48</c:v>
                  </c:pt>
                  <c:pt idx="7">
                    <c:v>64</c:v>
                  </c:pt>
                </c:lvl>
              </c:multiLvlStrCache>
            </c:multiLvlStrRef>
          </c:cat>
          <c:val>
            <c:numRef>
              <c:f>Sheet1!$C$2:$C$9</c:f>
              <c:numCache>
                <c:formatCode>General</c:formatCode>
                <c:ptCount val="8"/>
                <c:pt idx="0">
                  <c:v>2</c:v>
                </c:pt>
                <c:pt idx="1">
                  <c:v>6</c:v>
                </c:pt>
                <c:pt idx="2">
                  <c:v>13</c:v>
                </c:pt>
                <c:pt idx="3">
                  <c:v>25</c:v>
                </c:pt>
                <c:pt idx="4">
                  <c:v>38</c:v>
                </c:pt>
                <c:pt idx="5">
                  <c:v>50</c:v>
                </c:pt>
                <c:pt idx="6">
                  <c:v>75</c:v>
                </c:pt>
                <c:pt idx="7">
                  <c:v>100</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E6E6E"/>
                    </a:solidFill>
                    <a:latin typeface="Times New Roman"/>
                  </a:defRPr>
                </a:pPr>
                <a:r>
                  <a:rPr sz="1100" b="0" i="0" u="none" strike="noStrike">
                    <a:solidFill>
                      <a:srgbClr val="6E6E6E"/>
                    </a:solidFill>
                    <a:latin typeface="Times New Roman"/>
                  </a:rPr>
                  <a:t>k πιο hot 64 B lines (από 64)</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Times New Roman"/>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3E3E3"/>
              </a:solidFill>
              <a:prstDash val="solid"/>
              <a:round/>
            </a:ln>
          </c:spPr>
        </c:majorGridlines>
        <c:title>
          <c:tx>
            <c:rich>
              <a:bodyPr/>
              <a:lstStyle/>
              <a:p>
                <a:pPr>
                  <a:defRPr sz="1100" b="0" i="0" u="none" strike="noStrike">
                    <a:solidFill>
                      <a:srgbClr val="6E6E6E"/>
                    </a:solidFill>
                    <a:latin typeface="Times New Roman"/>
                  </a:defRPr>
                </a:pPr>
                <a:r>
                  <a:rPr sz="1100" b="0" i="0" u="none" strike="noStrike">
                    <a:solidFill>
                      <a:srgbClr val="6E6E6E"/>
                    </a:solidFill>
                    <a:latin typeface="Times New Roman"/>
                  </a:rPr>
                  <a:t>cumulative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A1A1A"/>
                </a:solidFill>
                <a:latin typeface="Times New Roman"/>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A1A1A"/>
              </a:solidFill>
              <a:latin typeface="Times New Roman"/>
              <a:cs typeface="Times New Roman"/>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Στόχος: δείχνω ότι κατάλαβα το πρόβλημα και ότι έχω αξιόπιστο πλάνο. Δεν έχω ακόμα αποτελέσματα, και το λέω ανοιχτά.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Ένα νούμερο να μείνει: ~25% stranded DRAM. Το οικονομικό κίνητρο όλου του πεδίου.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σημείο: η DRAM στην κάρτα είναι κανονική DDR5. Το interconnect είναι ο φόρος — γι' αυτό υπάρχει tiering.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Γιατί δύσκολο το promotion: πρέπει να ξέρεις ότι ένα page είναι hot ΤΩΡΑ.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Κοινός παρονομαστής: accuracy × timeliness × overhead — διάλεξε δύο.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Εδώ θα με ρωτήσουν. Απάντηση: profiling granularity ≠ migration granularity. Το M5 profiling στα 64 B, migration στα 4 KB.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Τάξη μεγέθους: μsec έναντι ns. Χιλιαπλάσιο κόστος.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ότι διαφωνούν είναι δύναμη: δείχνει ότι διάβασα και τις τρεις, όχι μία.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Αυτή η διαφάνεια ξεχωρίζει το «διάβασα ένα paper» από το «κατάλαβα το πρόβλημα».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Ανοιχτό θέμα: χρειάζομαι πρόσβαση στο repo του CXLRAMSim — δεν βρήκα δημόσιο.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Πάντα αναφέρω και τα δύο bounds δίπλα σε κάθε case — αλλιώς το νούμερο δεν ερμηνεύεται.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Σκίτσο, όχι δεδομένα — και το δηλώνω. Ο Zipf δείχνει ακραία συγκέντρωση· το GUPS είναι το negative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Δηλώνω ξεκάθαρα τι είναι core και τι stretch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Έτοιμη απάντηση για «γιατί όχι κατευθείαν cache lines»: δεν υπάρχει PTE για line → hardware indirection → Flat Memory Mode → κοστίζει conflict misses και capacity → αυτό ακριβώς λύνει το Memstrata.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868680"/>
            <a:ext cx="10634472" cy="320040"/>
          </a:xfrm>
          <a:prstGeom prst="rect">
            <a:avLst/>
          </a:prstGeom>
          <a:noFill/>
          <a:ln/>
        </p:spPr>
        <p:txBody>
          <a:bodyPr wrap="square" lIns="0" tIns="0" rIns="0" bIns="0" rtlCol="0" anchor="ctr"/>
          <a:lstStyle/>
          <a:p>
            <a:pPr indent="0" marL="0">
              <a:buNone/>
            </a:pPr>
            <a:r>
              <a:rPr lang="en-US" sz="1400" i="1" dirty="0">
                <a:solidFill>
                  <a:srgbClr val="6E6E6E"/>
                </a:solidFill>
                <a:latin typeface="Times New Roman" pitchFamily="34" charset="0"/>
                <a:ea typeface="Times New Roman" pitchFamily="34" charset="-122"/>
                <a:cs typeface="Times New Roman" pitchFamily="34" charset="-120"/>
              </a:rPr>
              <a:t>Προηγμένη Αρχιτεκτονική Υπολογιστών  ·  Εργασία 2  ·  Παρουσίαση ιδέας</a:t>
            </a:r>
            <a:endParaRPr lang="en-US" sz="1400" dirty="0"/>
          </a:p>
        </p:txBody>
      </p:sp>
      <p:sp>
        <p:nvSpPr>
          <p:cNvPr id="3" name="Text 1"/>
          <p:cNvSpPr/>
          <p:nvPr/>
        </p:nvSpPr>
        <p:spPr>
          <a:xfrm>
            <a:off x="777240" y="1371600"/>
            <a:ext cx="10634472" cy="731520"/>
          </a:xfrm>
          <a:prstGeom prst="rect">
            <a:avLst/>
          </a:prstGeom>
          <a:noFill/>
          <a:ln/>
        </p:spPr>
        <p:txBody>
          <a:bodyPr wrap="square" lIns="0" tIns="0" rIns="0" bIns="0" rtlCol="0" anchor="ctr"/>
          <a:lstStyle/>
          <a:p>
            <a:pPr indent="0" marL="0">
              <a:buNone/>
            </a:pPr>
            <a:r>
              <a:rPr lang="en-US" sz="4000" b="1" dirty="0">
                <a:solidFill>
                  <a:srgbClr val="1A1A1A"/>
                </a:solidFill>
                <a:latin typeface="Times New Roman" pitchFamily="34" charset="0"/>
                <a:ea typeface="Times New Roman" pitchFamily="34" charset="-122"/>
                <a:cs typeface="Times New Roman" pitchFamily="34" charset="-120"/>
              </a:rPr>
              <a:t>Memory Tiering σε συστήματα CXL</a:t>
            </a:r>
            <a:endParaRPr lang="en-US" sz="4000" dirty="0"/>
          </a:p>
        </p:txBody>
      </p:sp>
      <p:sp>
        <p:nvSpPr>
          <p:cNvPr id="4" name="Text 2"/>
          <p:cNvSpPr/>
          <p:nvPr/>
        </p:nvSpPr>
        <p:spPr>
          <a:xfrm>
            <a:off x="777240" y="2148840"/>
            <a:ext cx="10634472" cy="658368"/>
          </a:xfrm>
          <a:prstGeom prst="rect">
            <a:avLst/>
          </a:prstGeom>
          <a:noFill/>
          <a:ln/>
        </p:spPr>
        <p:txBody>
          <a:bodyPr wrap="square" lIns="0" tIns="0" rIns="0" bIns="0" rtlCol="0" anchor="ctr"/>
          <a:lstStyle/>
          <a:p>
            <a:pPr indent="0" marL="0">
              <a:lnSpc>
                <a:spcPts val="2400"/>
              </a:lnSpc>
              <a:buNone/>
            </a:pPr>
            <a:r>
              <a:rPr lang="en-US" sz="1800" i="1" dirty="0">
                <a:solidFill>
                  <a:srgbClr val="1F3A63"/>
                </a:solidFill>
                <a:latin typeface="Times New Roman" pitchFamily="34" charset="0"/>
                <a:ea typeface="Times New Roman" pitchFamily="34" charset="-122"/>
                <a:cs typeface="Times New Roman" pitchFamily="34" charset="-120"/>
              </a:rPr>
              <a:t>Προσομοίωση τεχνικών memory tiering με υποστήριξη hardware, πάνω στον προσομοιωτή CXLRAMSim</a:t>
            </a:r>
            <a:endParaRPr lang="en-US" sz="1800" dirty="0"/>
          </a:p>
        </p:txBody>
      </p:sp>
      <p:sp>
        <p:nvSpPr>
          <p:cNvPr id="5" name="Shape 3"/>
          <p:cNvSpPr/>
          <p:nvPr/>
        </p:nvSpPr>
        <p:spPr>
          <a:xfrm>
            <a:off x="777240" y="2907792"/>
            <a:ext cx="10634472" cy="12802"/>
          </a:xfrm>
          <a:prstGeom prst="rect">
            <a:avLst/>
          </a:prstGeom>
          <a:solidFill>
            <a:srgbClr val="BFBFBF"/>
          </a:solidFill>
          <a:ln/>
        </p:spPr>
      </p:sp>
      <p:sp>
        <p:nvSpPr>
          <p:cNvPr id="6" name="Text 4"/>
          <p:cNvSpPr/>
          <p:nvPr/>
        </p:nvSpPr>
        <p:spPr>
          <a:xfrm>
            <a:off x="777240" y="3063240"/>
            <a:ext cx="1828800" cy="274320"/>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Περίληψη.</a:t>
            </a:r>
            <a:endParaRPr lang="en-US" sz="1400" dirty="0"/>
          </a:p>
        </p:txBody>
      </p:sp>
      <p:sp>
        <p:nvSpPr>
          <p:cNvPr id="7" name="Text 5"/>
          <p:cNvSpPr/>
          <p:nvPr/>
        </p:nvSpPr>
        <p:spPr>
          <a:xfrm>
            <a:off x="1097280" y="3364992"/>
            <a:ext cx="10314432" cy="1371600"/>
          </a:xfrm>
          <a:prstGeom prst="rect">
            <a:avLst/>
          </a:prstGeom>
          <a:noFill/>
          <a:ln/>
        </p:spPr>
        <p:txBody>
          <a:bodyPr wrap="square" lIns="0" tIns="0" rIns="0" bIns="0" rtlCol="0" anchor="ctr"/>
          <a:lstStyle/>
          <a:p>
            <a:pPr algn="just" indent="0" marL="0">
              <a:lnSpc>
                <a:spcPts val="2100"/>
              </a:lnSpc>
              <a:buNone/>
            </a:pPr>
            <a:r>
              <a:rPr lang="en-US" sz="1450" dirty="0">
                <a:solidFill>
                  <a:srgbClr val="1A1A1A"/>
                </a:solidFill>
                <a:latin typeface="Times New Roman" pitchFamily="34" charset="0"/>
                <a:ea typeface="Times New Roman" pitchFamily="34" charset="-122"/>
                <a:cs typeface="Times New Roman" pitchFamily="34" charset="-120"/>
              </a:rPr>
              <a:t>Οι μνήμες CXL δίνουν φθηνή capacity πάνω από το PCIe, αλλά με ~2–3× μεγαλύτερο latency. Έτσι προκύπτει ένα σύστημα μνήμης δύο επιπέδων (tiering). Η εργασία δείχνει, μέσα στον CXLRAMSim, γιατί το page migration των 4 KB από το OS δεν φτάνει για να καλύψει το χάσμα απόδοσης με την τοπική DRAM, και εξετάζει λύσεις σε hardware (M5, NeoMem, Memstrata) που κάνουν profiling μέσα στη συσκευή CXL.</a:t>
            </a:r>
            <a:endParaRPr lang="en-US" sz="1450" dirty="0"/>
          </a:p>
        </p:txBody>
      </p:sp>
      <p:sp>
        <p:nvSpPr>
          <p:cNvPr id="8" name="Text 6"/>
          <p:cNvSpPr/>
          <p:nvPr/>
        </p:nvSpPr>
        <p:spPr>
          <a:xfrm>
            <a:off x="1097280" y="4709160"/>
            <a:ext cx="10314432" cy="292608"/>
          </a:xfrm>
          <a:prstGeom prst="rect">
            <a:avLst/>
          </a:prstGeom>
          <a:noFill/>
          <a:ln/>
        </p:spPr>
        <p:txBody>
          <a:bodyPr wrap="square" lIns="0" tIns="0" rIns="0" bIns="0" rtlCol="0" anchor="ctr"/>
          <a:lstStyle/>
          <a:p>
            <a:pPr indent="0" marL="0">
              <a:buNone/>
            </a:pPr>
            <a:r>
              <a:rPr lang="en-US" sz="1300" b="1" dirty="0">
                <a:solidFill>
                  <a:srgbClr val="6E6E6E"/>
                </a:solidFill>
                <a:latin typeface="Times New Roman" pitchFamily="34" charset="0"/>
                <a:ea typeface="Times New Roman" pitchFamily="34" charset="-122"/>
                <a:cs typeface="Times New Roman" pitchFamily="34" charset="-120"/>
              </a:rPr>
              <a:t>Keywords:  </a:t>
            </a:r>
            <a:pPr indent="0" marL="0">
              <a:buNone/>
            </a:pPr>
            <a:r>
              <a:rPr lang="en-US" sz="1300" i="1" dirty="0">
                <a:solidFill>
                  <a:srgbClr val="6E6E6E"/>
                </a:solidFill>
                <a:latin typeface="Times New Roman" pitchFamily="34" charset="0"/>
                <a:ea typeface="Times New Roman" pitchFamily="34" charset="-122"/>
                <a:cs typeface="Times New Roman" pitchFamily="34" charset="-120"/>
              </a:rPr>
              <a:t>CXL · memory tiering · page migration · hardware profiling · granularity</a:t>
            </a:r>
            <a:endParaRPr lang="en-US" sz="1300" dirty="0"/>
          </a:p>
        </p:txBody>
      </p:sp>
      <p:sp>
        <p:nvSpPr>
          <p:cNvPr id="9" name="Shape 7"/>
          <p:cNvSpPr/>
          <p:nvPr/>
        </p:nvSpPr>
        <p:spPr>
          <a:xfrm>
            <a:off x="777240" y="5257800"/>
            <a:ext cx="10634472" cy="12802"/>
          </a:xfrm>
          <a:prstGeom prst="rect">
            <a:avLst/>
          </a:prstGeom>
          <a:solidFill>
            <a:srgbClr val="BFBFBF"/>
          </a:solidFill>
          <a:ln/>
        </p:spPr>
      </p:sp>
      <p:sp>
        <p:nvSpPr>
          <p:cNvPr id="10" name="Text 8"/>
          <p:cNvSpPr/>
          <p:nvPr/>
        </p:nvSpPr>
        <p:spPr>
          <a:xfrm>
            <a:off x="777240" y="5440680"/>
            <a:ext cx="10634472" cy="320040"/>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el23408</a:t>
            </a:r>
            <a:pPr indent="0" marL="0">
              <a:buNone/>
            </a:pPr>
            <a:r>
              <a:rPr lang="en-US" sz="1400" dirty="0">
                <a:solidFill>
                  <a:srgbClr val="1A1A1A"/>
                </a:solidFill>
                <a:latin typeface="Times New Roman" pitchFamily="34" charset="0"/>
                <a:ea typeface="Times New Roman" pitchFamily="34" charset="-122"/>
                <a:cs typeface="Times New Roman" pitchFamily="34" charset="-120"/>
              </a:rPr>
              <a:t>   ·   Εθνικό Μετσόβιο Πολυτεχνείο   ·   Ιούλιος 2026</a:t>
            </a:r>
            <a:endParaRPr lang="en-US" sz="1400" dirty="0"/>
          </a:p>
        </p:txBody>
      </p:sp>
      <p:sp>
        <p:nvSpPr>
          <p:cNvPr id="11" name="Text 9"/>
          <p:cNvSpPr/>
          <p:nvPr/>
        </p:nvSpPr>
        <p:spPr>
          <a:xfrm>
            <a:off x="777240" y="5806440"/>
            <a:ext cx="10634472" cy="274320"/>
          </a:xfrm>
          <a:prstGeom prst="rect">
            <a:avLst/>
          </a:prstGeom>
          <a:noFill/>
          <a:ln/>
        </p:spPr>
        <p:txBody>
          <a:bodyPr wrap="square" lIns="0" tIns="0" rIns="0" bIns="0" rtlCol="0" anchor="ctr"/>
          <a:lstStyle/>
          <a:p>
            <a:pPr indent="0" marL="0">
              <a:buNone/>
            </a:pPr>
            <a:r>
              <a:rPr lang="en-US" sz="1100" dirty="0">
                <a:solidFill>
                  <a:srgbClr val="6E6E6E"/>
                </a:solidFill>
                <a:latin typeface="Courier New" pitchFamily="34" charset="0"/>
                <a:ea typeface="Courier New" pitchFamily="34" charset="-122"/>
                <a:cs typeface="Courier New" pitchFamily="34" charset="-120"/>
              </a:rPr>
              <a:t>github.com/Zajason/memory_tiering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§1.1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Η μνήμη είναι το bottleneck</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1. Κίνητρο</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2 / 14</a:t>
            </a:r>
            <a:endParaRPr lang="en-US" sz="950" dirty="0"/>
          </a:p>
        </p:txBody>
      </p:sp>
      <p:sp>
        <p:nvSpPr>
          <p:cNvPr id="7" name="Text 5"/>
          <p:cNvSpPr/>
          <p:nvPr/>
        </p:nvSpPr>
        <p:spPr>
          <a:xfrm>
            <a:off x="777240" y="1325880"/>
            <a:ext cx="10634472" cy="123444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Η capacity της μνήμης ανά socket έχει κολλήσει: λίγα DIMM slots, λίγα pins στο DDR. Για να βάλεις παραπάνω μνήμη πρέπει να πάρεις κι άλλους επεξεργαστές που δεν σου χρειάζονται. Το CXL σπάει αυτή τη σχέση: βάζεις μνήμη πάνω από το PCIe, ανεξάρτητα από τα cores.</a:t>
            </a:r>
            <a:endParaRPr lang="en-US" sz="1600" dirty="0"/>
          </a:p>
        </p:txBody>
      </p:sp>
      <p:sp>
        <p:nvSpPr>
          <p:cNvPr id="8" name="Shape 6"/>
          <p:cNvSpPr/>
          <p:nvPr/>
        </p:nvSpPr>
        <p:spPr>
          <a:xfrm>
            <a:off x="777240" y="2743200"/>
            <a:ext cx="10634472" cy="1234440"/>
          </a:xfrm>
          <a:prstGeom prst="rect">
            <a:avLst/>
          </a:prstGeom>
          <a:solidFill>
            <a:srgbClr val="F0F0EE"/>
          </a:solidFill>
          <a:ln/>
        </p:spPr>
      </p:sp>
      <p:sp>
        <p:nvSpPr>
          <p:cNvPr id="9" name="Text 7"/>
          <p:cNvSpPr/>
          <p:nvPr/>
        </p:nvSpPr>
        <p:spPr>
          <a:xfrm>
            <a:off x="960120" y="2852928"/>
            <a:ext cx="10268712"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Το νούμερο — stranded μνήμη</a:t>
            </a:r>
            <a:endParaRPr lang="en-US" sz="1450" dirty="0"/>
          </a:p>
        </p:txBody>
      </p:sp>
      <p:sp>
        <p:nvSpPr>
          <p:cNvPr id="10" name="Text 8"/>
          <p:cNvSpPr/>
          <p:nvPr/>
        </p:nvSpPr>
        <p:spPr>
          <a:xfrm>
            <a:off x="960120" y="3182112"/>
            <a:ext cx="10268712" cy="68580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Σε μεγάλα cloud datacenters, περίπου το 25% της DRAM μένει αχρησιμοποίητο (stranded), γιατί τα cores του μηχανήματος έχουν ήδη νοικιαστεί σε άλλους. Το CXL στοχεύει ακριβώς σε αυτή τη χαμένη capacity (Azure — Pond, ASPLOS ’23).</a:t>
            </a:r>
            <a:endParaRPr lang="en-US" sz="1350" dirty="0"/>
          </a:p>
        </p:txBody>
      </p:sp>
      <p:sp>
        <p:nvSpPr>
          <p:cNvPr id="11" name="Text 9"/>
          <p:cNvSpPr/>
          <p:nvPr/>
        </p:nvSpPr>
        <p:spPr>
          <a:xfrm>
            <a:off x="777240" y="4251960"/>
            <a:ext cx="10634472" cy="640080"/>
          </a:xfrm>
          <a:prstGeom prst="rect">
            <a:avLst/>
          </a:prstGeom>
          <a:noFill/>
          <a:ln/>
        </p:spPr>
        <p:txBody>
          <a:bodyPr wrap="square" lIns="0" tIns="0" rIns="0" bIns="0" rtlCol="0" anchor="ctr"/>
          <a:lstStyle/>
          <a:p>
            <a:pPr algn="just" indent="0" marL="0">
              <a:lnSpc>
                <a:spcPts val="2200"/>
              </a:lnSpc>
              <a:buNone/>
            </a:pPr>
            <a:r>
              <a:rPr lang="en-US" sz="1500" i="1" dirty="0">
                <a:solidFill>
                  <a:srgbClr val="6E6E6E"/>
                </a:solidFill>
                <a:latin typeface="Times New Roman" pitchFamily="34" charset="0"/>
                <a:ea typeface="Times New Roman" pitchFamily="34" charset="-122"/>
                <a:cs typeface="Times New Roman" pitchFamily="34" charset="-120"/>
              </a:rPr>
              <a:t>Το κίνητρο είναι η φθηνή, κοινή capacity. Το κόστος είναι το latency, που το βλέπουμε στην επόμενη διαφάνεια.</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§1.2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Το κόστος: το latency της CXL</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1. Κίνητρο</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3 / 14</a:t>
            </a:r>
            <a:endParaRPr lang="en-US" sz="950" dirty="0"/>
          </a:p>
        </p:txBody>
      </p:sp>
      <p:sp>
        <p:nvSpPr>
          <p:cNvPr id="7" name="Text 5"/>
          <p:cNvSpPr/>
          <p:nvPr/>
        </p:nvSpPr>
        <p:spPr>
          <a:xfrm>
            <a:off x="777240" y="1280160"/>
            <a:ext cx="6126480"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1: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τυπικές τιμές latency και bandwidth ανά διαδρομή.</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77240" y="1600200"/>
          <a:ext cx="6126480" cy="914400"/>
        </p:xfrm>
        <a:graphic>
          <a:graphicData uri="http://schemas.openxmlformats.org/drawingml/2006/table">
            <a:tbl>
              <a:tblPr/>
              <a:tblGrid>
                <a:gridCol w="2651760"/>
                <a:gridCol w="1828800"/>
                <a:gridCol w="1645920"/>
              </a:tblGrid>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Διαδρομή</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Latency</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Bandwidth</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Τοπική DDR5</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80–100 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30–50 GB/s</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Άλλο NUMA socket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140–180 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CXL (x8 Gen5)</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b="1" dirty="0">
                          <a:solidFill>
                            <a:srgbClr val="8C2A2A"/>
                          </a:solidFill>
                          <a:latin typeface="Courier New" pitchFamily="34" charset="0"/>
                          <a:ea typeface="Courier New" pitchFamily="34" charset="-122"/>
                          <a:cs typeface="Courier New" pitchFamily="34" charset="-120"/>
                        </a:rPr>
                        <a:t>250–400 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25–30 GB/s</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600200"/>
            <a:ext cx="6126480" cy="20117"/>
          </a:xfrm>
          <a:prstGeom prst="rect">
            <a:avLst/>
          </a:prstGeom>
          <a:solidFill>
            <a:srgbClr val="1A1A1A"/>
          </a:solidFill>
          <a:ln/>
        </p:spPr>
      </p:sp>
      <p:sp>
        <p:nvSpPr>
          <p:cNvPr id="10" name="Shape 7"/>
          <p:cNvSpPr/>
          <p:nvPr/>
        </p:nvSpPr>
        <p:spPr>
          <a:xfrm>
            <a:off x="777240" y="1984248"/>
            <a:ext cx="6126480" cy="9144"/>
          </a:xfrm>
          <a:prstGeom prst="rect">
            <a:avLst/>
          </a:prstGeom>
          <a:solidFill>
            <a:srgbClr val="BFBFBF"/>
          </a:solidFill>
          <a:ln/>
        </p:spPr>
      </p:sp>
      <p:sp>
        <p:nvSpPr>
          <p:cNvPr id="11" name="Shape 8"/>
          <p:cNvSpPr/>
          <p:nvPr/>
        </p:nvSpPr>
        <p:spPr>
          <a:xfrm>
            <a:off x="777240" y="3136392"/>
            <a:ext cx="6126480" cy="20117"/>
          </a:xfrm>
          <a:prstGeom prst="rect">
            <a:avLst/>
          </a:prstGeom>
          <a:solidFill>
            <a:srgbClr val="1A1A1A"/>
          </a:solidFill>
          <a:ln/>
        </p:spPr>
      </p:sp>
      <p:sp>
        <p:nvSpPr>
          <p:cNvPr id="12" name="Text 9"/>
          <p:cNvSpPr/>
          <p:nvPr/>
        </p:nvSpPr>
        <p:spPr>
          <a:xfrm>
            <a:off x="777240" y="3566160"/>
            <a:ext cx="6126480" cy="1554480"/>
          </a:xfrm>
          <a:prstGeom prst="rect">
            <a:avLst/>
          </a:prstGeom>
          <a:noFill/>
          <a:ln/>
        </p:spPr>
        <p:txBody>
          <a:bodyPr wrap="square" lIns="0" tIns="0" rIns="0" bIns="0" rtlCol="0" anchor="ctr"/>
          <a:lstStyle/>
          <a:p>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Το latency είναι </a:t>
            </a:r>
            <a:pPr algn="just" indent="0" marL="0">
              <a:lnSpc>
                <a:spcPts val="2300"/>
              </a:lnSpc>
              <a:buNone/>
            </a:pPr>
            <a:r>
              <a:rPr lang="en-US" sz="1500" b="1" dirty="0">
                <a:solidFill>
                  <a:srgbClr val="8C2A2A"/>
                </a:solidFill>
                <a:latin typeface="Times New Roman" pitchFamily="34" charset="0"/>
                <a:ea typeface="Times New Roman" pitchFamily="34" charset="-122"/>
                <a:cs typeface="Times New Roman" pitchFamily="34" charset="-120"/>
              </a:rPr>
              <a:t>2–3× μεγαλύτερο</a:t>
            </a:r>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 από την τοπική DDR, παρόλο που η DRAM πάνω στην κάρτα είναι κοινή DDR5. Το κόστος το βάζει το interconnect, όχι η μνήμη. Οπότε workloads που είναι latency-bound (pointer chasing) υποφέρουν, ενώ τα bandwidth-bound σχεδόν δεν το καταλαβαίνουν.</a:t>
            </a:r>
            <a:endParaRPr lang="en-US" sz="1500" dirty="0"/>
          </a:p>
        </p:txBody>
      </p:sp>
      <p:sp>
        <p:nvSpPr>
          <p:cNvPr id="13" name="Text 10"/>
          <p:cNvSpPr/>
          <p:nvPr/>
        </p:nvSpPr>
        <p:spPr>
          <a:xfrm>
            <a:off x="7452360" y="1280160"/>
            <a:ext cx="3959352" cy="292608"/>
          </a:xfrm>
          <a:prstGeom prst="rect">
            <a:avLst/>
          </a:prstGeom>
          <a:noFill/>
          <a:ln/>
        </p:spPr>
        <p:txBody>
          <a:bodyPr wrap="square" lIns="0" tIns="0" rIns="0" bIns="0" rtlCol="0" anchor="ctr"/>
          <a:lstStyle/>
          <a:p>
            <a:pPr indent="0" marL="0">
              <a:buNone/>
            </a:pPr>
            <a:r>
              <a:rPr lang="en-US" sz="1350" i="1" dirty="0">
                <a:solidFill>
                  <a:srgbClr val="1A1A1A"/>
                </a:solidFill>
                <a:latin typeface="Times New Roman" pitchFamily="34" charset="0"/>
                <a:ea typeface="Times New Roman" pitchFamily="34" charset="-122"/>
                <a:cs typeface="Times New Roman" pitchFamily="34" charset="-120"/>
              </a:rPr>
              <a:t>Διαδρομή ενός load με LLC miss:</a:t>
            </a:r>
            <a:endParaRPr lang="en-US" sz="1350" dirty="0"/>
          </a:p>
        </p:txBody>
      </p:sp>
      <p:sp>
        <p:nvSpPr>
          <p:cNvPr id="14" name="Text 11"/>
          <p:cNvSpPr/>
          <p:nvPr/>
        </p:nvSpPr>
        <p:spPr>
          <a:xfrm>
            <a:off x="7452360" y="1691640"/>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(1)</a:t>
            </a:r>
            <a:endParaRPr lang="en-US" sz="1200" dirty="0"/>
          </a:p>
        </p:txBody>
      </p:sp>
      <p:sp>
        <p:nvSpPr>
          <p:cNvPr id="15" name="Text 12"/>
          <p:cNvSpPr/>
          <p:nvPr/>
        </p:nvSpPr>
        <p:spPr>
          <a:xfrm>
            <a:off x="7955280" y="1691640"/>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Core  →  LLC miss</a:t>
            </a:r>
            <a:endParaRPr lang="en-US" sz="1400" dirty="0"/>
          </a:p>
        </p:txBody>
      </p:sp>
      <p:sp>
        <p:nvSpPr>
          <p:cNvPr id="16" name="Text 13"/>
          <p:cNvSpPr/>
          <p:nvPr/>
        </p:nvSpPr>
        <p:spPr>
          <a:xfrm>
            <a:off x="7452360" y="2075688"/>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(2)</a:t>
            </a:r>
            <a:endParaRPr lang="en-US" sz="1200" dirty="0"/>
          </a:p>
        </p:txBody>
      </p:sp>
      <p:sp>
        <p:nvSpPr>
          <p:cNvPr id="17" name="Text 14"/>
          <p:cNvSpPr/>
          <p:nvPr/>
        </p:nvSpPr>
        <p:spPr>
          <a:xfrm>
            <a:off x="7955280" y="2075688"/>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CXL Root Complex</a:t>
            </a:r>
            <a:endParaRPr lang="en-US" sz="1400" dirty="0"/>
          </a:p>
        </p:txBody>
      </p:sp>
      <p:sp>
        <p:nvSpPr>
          <p:cNvPr id="18" name="Text 15"/>
          <p:cNvSpPr/>
          <p:nvPr/>
        </p:nvSpPr>
        <p:spPr>
          <a:xfrm>
            <a:off x="7452360" y="2459736"/>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(3)</a:t>
            </a:r>
            <a:endParaRPr lang="en-US" sz="1200" dirty="0"/>
          </a:p>
        </p:txBody>
      </p:sp>
      <p:sp>
        <p:nvSpPr>
          <p:cNvPr id="19" name="Text 16"/>
          <p:cNvSpPr/>
          <p:nvPr/>
        </p:nvSpPr>
        <p:spPr>
          <a:xfrm>
            <a:off x="7955280" y="2459736"/>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packetization (M2S)</a:t>
            </a:r>
            <a:endParaRPr lang="en-US" sz="1400" dirty="0"/>
          </a:p>
        </p:txBody>
      </p:sp>
      <p:sp>
        <p:nvSpPr>
          <p:cNvPr id="20" name="Text 17"/>
          <p:cNvSpPr/>
          <p:nvPr/>
        </p:nvSpPr>
        <p:spPr>
          <a:xfrm>
            <a:off x="7452360" y="2843784"/>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(4)</a:t>
            </a:r>
            <a:endParaRPr lang="en-US" sz="1200" dirty="0"/>
          </a:p>
        </p:txBody>
      </p:sp>
      <p:sp>
        <p:nvSpPr>
          <p:cNvPr id="21" name="Text 18"/>
          <p:cNvSpPr/>
          <p:nvPr/>
        </p:nvSpPr>
        <p:spPr>
          <a:xfrm>
            <a:off x="7955280" y="2843784"/>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PCIe link (SERDES)</a:t>
            </a:r>
            <a:endParaRPr lang="en-US" sz="1400" dirty="0"/>
          </a:p>
        </p:txBody>
      </p:sp>
      <p:sp>
        <p:nvSpPr>
          <p:cNvPr id="22" name="Text 19"/>
          <p:cNvSpPr/>
          <p:nvPr/>
        </p:nvSpPr>
        <p:spPr>
          <a:xfrm>
            <a:off x="7452360" y="3227832"/>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(5)</a:t>
            </a:r>
            <a:endParaRPr lang="en-US" sz="1200" dirty="0"/>
          </a:p>
        </p:txBody>
      </p:sp>
      <p:sp>
        <p:nvSpPr>
          <p:cNvPr id="23" name="Text 20"/>
          <p:cNvSpPr/>
          <p:nvPr/>
        </p:nvSpPr>
        <p:spPr>
          <a:xfrm>
            <a:off x="7955280" y="3227832"/>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device controller  →  de-packetize</a:t>
            </a:r>
            <a:endParaRPr lang="en-US" sz="1400" dirty="0"/>
          </a:p>
        </p:txBody>
      </p:sp>
      <p:sp>
        <p:nvSpPr>
          <p:cNvPr id="24" name="Text 21"/>
          <p:cNvSpPr/>
          <p:nvPr/>
        </p:nvSpPr>
        <p:spPr>
          <a:xfrm>
            <a:off x="7452360" y="3611880"/>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(6)</a:t>
            </a:r>
            <a:endParaRPr lang="en-US" sz="1200" dirty="0"/>
          </a:p>
        </p:txBody>
      </p:sp>
      <p:sp>
        <p:nvSpPr>
          <p:cNvPr id="25" name="Text 22"/>
          <p:cNvSpPr/>
          <p:nvPr/>
        </p:nvSpPr>
        <p:spPr>
          <a:xfrm>
            <a:off x="7955280" y="3611880"/>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DRAM στην κάρτα</a:t>
            </a:r>
            <a:endParaRPr lang="en-US" sz="1400" dirty="0"/>
          </a:p>
        </p:txBody>
      </p:sp>
      <p:sp>
        <p:nvSpPr>
          <p:cNvPr id="26" name="Text 23"/>
          <p:cNvSpPr/>
          <p:nvPr/>
        </p:nvSpPr>
        <p:spPr>
          <a:xfrm>
            <a:off x="7452360" y="3995928"/>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(7)</a:t>
            </a:r>
            <a:endParaRPr lang="en-US" sz="1200" dirty="0"/>
          </a:p>
        </p:txBody>
      </p:sp>
      <p:sp>
        <p:nvSpPr>
          <p:cNvPr id="27" name="Text 24"/>
          <p:cNvSpPr/>
          <p:nvPr/>
        </p:nvSpPr>
        <p:spPr>
          <a:xfrm>
            <a:off x="7955280" y="3995928"/>
            <a:ext cx="3456432" cy="292608"/>
          </a:xfrm>
          <a:prstGeom prst="rect">
            <a:avLst/>
          </a:prstGeom>
          <a:noFill/>
          <a:ln/>
        </p:spPr>
        <p:txBody>
          <a:bodyPr wrap="square" lIns="0" tIns="0" rIns="0" bIns="0" rtlCol="0" anchor="ctr"/>
          <a:lstStyle/>
          <a:p>
            <a:pPr indent="0" marL="0">
              <a:buNone/>
            </a:pPr>
            <a:r>
              <a:rPr lang="en-US" sz="1400" i="1" dirty="0">
                <a:solidFill>
                  <a:srgbClr val="6E6E6E"/>
                </a:solidFill>
                <a:latin typeface="Times New Roman" pitchFamily="34" charset="0"/>
                <a:ea typeface="Times New Roman" pitchFamily="34" charset="-122"/>
                <a:cs typeface="Times New Roman" pitchFamily="34" charset="-120"/>
              </a:rPr>
              <a:t>και όλη η διαδρομή πίσω (S2M)</a:t>
            </a:r>
            <a:endParaRPr lang="en-US" sz="1400" dirty="0"/>
          </a:p>
        </p:txBody>
      </p:sp>
      <p:sp>
        <p:nvSpPr>
          <p:cNvPr id="28" name="Text 25"/>
          <p:cNvSpPr/>
          <p:nvPr/>
        </p:nvSpPr>
        <p:spPr>
          <a:xfrm>
            <a:off x="7452360" y="4553712"/>
            <a:ext cx="395935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1: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κάθε στάδιο προσθέτει latency· κυριαρχεί το interconnect.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Το πρόβλημα του tiering</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2. Το πρόβλημα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4 / 14</a:t>
            </a:r>
            <a:endParaRPr lang="en-US" sz="950" dirty="0"/>
          </a:p>
        </p:txBody>
      </p:sp>
      <p:sp>
        <p:nvSpPr>
          <p:cNvPr id="7" name="Text 5"/>
          <p:cNvSpPr/>
          <p:nvPr/>
        </p:nvSpPr>
        <p:spPr>
          <a:xfrm>
            <a:off x="777240" y="1325880"/>
            <a:ext cx="10634472" cy="86868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Έχουμε δύο tiers μνήμης: ένα γρήγορο και μικρό (τοπική DDR) κι ένα αργό και μεγάλο (CXL). Θέλουμε τα hot data να μένουν στο γρήγορο tier. Αν το πετύχεις, ένα μηχάνημα με 25% τοπική DRAM τρέχει σχεδόν σαν να είχε 100%.</a:t>
            </a:r>
            <a:endParaRPr lang="en-US" sz="1600" dirty="0"/>
          </a:p>
        </p:txBody>
      </p:sp>
      <p:sp>
        <p:nvSpPr>
          <p:cNvPr id="8" name="Shape 6"/>
          <p:cNvSpPr/>
          <p:nvPr/>
        </p:nvSpPr>
        <p:spPr>
          <a:xfrm>
            <a:off x="777240" y="2331720"/>
            <a:ext cx="5134356" cy="1417320"/>
          </a:xfrm>
          <a:prstGeom prst="rect">
            <a:avLst/>
          </a:prstGeom>
          <a:solidFill>
            <a:srgbClr val="F0F0EE"/>
          </a:solidFill>
          <a:ln/>
        </p:spPr>
      </p:sp>
      <p:sp>
        <p:nvSpPr>
          <p:cNvPr id="9" name="Text 7"/>
          <p:cNvSpPr/>
          <p:nvPr/>
        </p:nvSpPr>
        <p:spPr>
          <a:xfrm>
            <a:off x="960120" y="2441448"/>
            <a:ext cx="4768596"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Promotion</a:t>
            </a:r>
            <a:endParaRPr lang="en-US" sz="1450" dirty="0"/>
          </a:p>
        </p:txBody>
      </p:sp>
      <p:sp>
        <p:nvSpPr>
          <p:cNvPr id="10" name="Text 8"/>
          <p:cNvSpPr/>
          <p:nvPr/>
        </p:nvSpPr>
        <p:spPr>
          <a:xfrm>
            <a:off x="960120" y="2770632"/>
            <a:ext cx="4768596" cy="86868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Μετακίνηση ενός page από το αργό στο γρήγορο tier. Πρέπει να γίνει στην ώρα του: αν ένα page προαχθεί αφού έχει κρυώσει, είναι χαμένος κόπος.</a:t>
            </a:r>
            <a:endParaRPr lang="en-US" sz="1350" dirty="0"/>
          </a:p>
        </p:txBody>
      </p:sp>
      <p:sp>
        <p:nvSpPr>
          <p:cNvPr id="11" name="Shape 9"/>
          <p:cNvSpPr/>
          <p:nvPr/>
        </p:nvSpPr>
        <p:spPr>
          <a:xfrm>
            <a:off x="6277356" y="2331720"/>
            <a:ext cx="5134356" cy="1417320"/>
          </a:xfrm>
          <a:prstGeom prst="rect">
            <a:avLst/>
          </a:prstGeom>
          <a:solidFill>
            <a:srgbClr val="F0F0EE"/>
          </a:solidFill>
          <a:ln/>
        </p:spPr>
      </p:sp>
      <p:sp>
        <p:nvSpPr>
          <p:cNvPr id="12" name="Text 10"/>
          <p:cNvSpPr/>
          <p:nvPr/>
        </p:nvSpPr>
        <p:spPr>
          <a:xfrm>
            <a:off x="6460236" y="2441448"/>
            <a:ext cx="4768596"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Demotion</a:t>
            </a:r>
            <a:endParaRPr lang="en-US" sz="1450" dirty="0"/>
          </a:p>
        </p:txBody>
      </p:sp>
      <p:sp>
        <p:nvSpPr>
          <p:cNvPr id="13" name="Text 11"/>
          <p:cNvSpPr/>
          <p:nvPr/>
        </p:nvSpPr>
        <p:spPr>
          <a:xfrm>
            <a:off x="6460236" y="2770632"/>
            <a:ext cx="4768596" cy="86868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Μετακίνηση ενός page από το γρήγορο στο αργό tier. Πρέπει να είναι ασφαλής: αν κατεβάσεις ένα page που είναι ακόμα hot, ξεκινάει ping-pong.</a:t>
            </a:r>
            <a:endParaRPr lang="en-US" sz="1350" dirty="0"/>
          </a:p>
        </p:txBody>
      </p:sp>
      <p:sp>
        <p:nvSpPr>
          <p:cNvPr id="14" name="Text 12"/>
          <p:cNvSpPr/>
          <p:nvPr/>
        </p:nvSpPr>
        <p:spPr>
          <a:xfrm>
            <a:off x="777240" y="4023360"/>
            <a:ext cx="10634472" cy="128016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Το demotion είναι το εύκολο κομμάτι: ένα LRU αρκεί, και το Linux ήδη έχει LRU. </a:t>
            </a:r>
            <a:pPr algn="just" indent="0" marL="0">
              <a:lnSpc>
                <a:spcPts val="2400"/>
              </a:lnSpc>
              <a:buNone/>
            </a:pPr>
            <a:r>
              <a:rPr lang="en-US" sz="1600" b="1" dirty="0">
                <a:solidFill>
                  <a:srgbClr val="8C2A2A"/>
                </a:solidFill>
                <a:latin typeface="Times New Roman" pitchFamily="34" charset="0"/>
                <a:ea typeface="Times New Roman" pitchFamily="34" charset="-122"/>
                <a:cs typeface="Times New Roman" pitchFamily="34" charset="-120"/>
              </a:rPr>
              <a:t>Το promotion είναι το δύσκολο.</a:t>
            </a:r>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 Πρέπει να ξέρεις ότι ένα page είναι hot τώρα, κι αυτό κοστίζει. Το λέει και η ίδια η κοινότητα του Linux MM.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§3.1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Γιατί δεν δουλεύει: το profiling</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3. Γιατί δεν δουλεύει</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5 / 14</a:t>
            </a:r>
            <a:endParaRPr lang="en-US" sz="950" dirty="0"/>
          </a:p>
        </p:txBody>
      </p:sp>
      <p:sp>
        <p:nvSpPr>
          <p:cNvPr id="7" name="Text 5"/>
          <p:cNvSpPr/>
          <p:nvPr/>
        </p:nvSpPr>
        <p:spPr>
          <a:xfrm>
            <a:off x="777240" y="1280160"/>
            <a:ext cx="1063447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2: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τρόποι εντοπισμού των hot pages και το βασικό πρόβλημα του καθενός.</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600200"/>
          <a:ext cx="10634472" cy="914400"/>
        </p:xfrm>
        <a:graphic>
          <a:graphicData uri="http://schemas.openxmlformats.org/drawingml/2006/table">
            <a:tbl>
              <a:tblPr/>
              <a:tblGrid>
                <a:gridCol w="2377440"/>
                <a:gridCol w="3657600"/>
                <a:gridCol w="4599432"/>
              </a:tblGrid>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Μηχανισμός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Πώς δουλεύει</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Βασικό πρόβλημα</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640080">
                <a:tc>
                  <a:txBody>
                    <a:bodyPr/>
                    <a:lstStyle/>
                    <a:p>
                      <a:pPr indent="0" marL="0">
                        <a:buNone/>
                      </a:pPr>
                      <a:r>
                        <a:rPr lang="en-US" sz="1150" dirty="0">
                          <a:solidFill>
                            <a:srgbClr val="1A1A1A"/>
                          </a:solidFill>
                          <a:latin typeface="Courier New" pitchFamily="34" charset="0"/>
                          <a:ea typeface="Courier New" pitchFamily="34" charset="-122"/>
                          <a:cs typeface="Courier New" pitchFamily="34" charset="-120"/>
                        </a:rPr>
                        <a:t>PTE-scan (DAMON)</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Σαρώνει τα access bits των PTE</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1 bit = ναι/όχι. Το scan κρατάει δευτερόλεπτα, οπότε το hot set έχει ήδη αλλάξει</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640080">
                <a:tc>
                  <a:txBody>
                    <a:bodyPr/>
                    <a:lstStyle/>
                    <a:p>
                      <a:pPr indent="0" marL="0">
                        <a:buNone/>
                      </a:pPr>
                      <a:r>
                        <a:rPr lang="en-US" sz="1100" dirty="0">
                          <a:solidFill>
                            <a:srgbClr val="1A1A1A"/>
                          </a:solidFill>
                          <a:latin typeface="Courier New" pitchFamily="34" charset="0"/>
                          <a:ea typeface="Courier New" pitchFamily="34" charset="-122"/>
                          <a:cs typeface="Courier New" pitchFamily="34" charset="-120"/>
                        </a:rPr>
                        <a:t>hint faults (AutoNUMA, TPP)</a:t>
                      </a:r>
                      <a:endParaRPr lang="en-US" sz="11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Κάνει unmap τα PTE ώστε το επόμενο access να πέσει σε fault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8C2A2A"/>
                          </a:solidFill>
                          <a:latin typeface="Times New Roman" pitchFamily="34" charset="0"/>
                          <a:ea typeface="Times New Roman" pitchFamily="34" charset="-122"/>
                          <a:cs typeface="Times New Roman" pitchFamily="34" charset="-120"/>
                        </a:rPr>
                        <a:t>Μετράει TLB misses, όχι LLC misses — δεν συσχετίζονται καλά</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640080">
                <a:tc>
                  <a:txBody>
                    <a:bodyPr/>
                    <a:lstStyle/>
                    <a:p>
                      <a:pPr indent="0" marL="0">
                        <a:buNone/>
                      </a:pPr>
                      <a:r>
                        <a:rPr lang="en-US" sz="1150" dirty="0">
                          <a:solidFill>
                            <a:srgbClr val="1A1A1A"/>
                          </a:solidFill>
                          <a:latin typeface="Courier New" pitchFamily="34" charset="0"/>
                          <a:ea typeface="Courier New" pitchFamily="34" charset="-122"/>
                          <a:cs typeface="Courier New" pitchFamily="34" charset="-120"/>
                        </a:rPr>
                        <a:t>PEBS / IBS (Memtis)</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Sampling του PMU πάνω σε LLC misses</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 overhead ανεβαίνει με το sampling rate: &gt;50% slowdown σε πυκνό sampling</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150" b="1" dirty="0">
                          <a:solidFill>
                            <a:srgbClr val="1F3A63"/>
                          </a:solidFill>
                          <a:latin typeface="Courier New" pitchFamily="34" charset="0"/>
                          <a:ea typeface="Courier New" pitchFamily="34" charset="-122"/>
                          <a:cs typeface="Courier New" pitchFamily="34" charset="-120"/>
                        </a:rPr>
                        <a:t>hardware μέσα στην CXL</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F3A63"/>
                          </a:solidFill>
                          <a:latin typeface="Times New Roman" pitchFamily="34" charset="0"/>
                          <a:ea typeface="Times New Roman" pitchFamily="34" charset="-122"/>
                          <a:cs typeface="Times New Roman" pitchFamily="34" charset="-120"/>
                        </a:rPr>
                        <a:t>Counters μέσα στον controller της συσκευής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Σωστό event, μηδέν κόστος CPU — αλλά θέλει καινούριο hardware</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600200"/>
            <a:ext cx="10634472" cy="20117"/>
          </a:xfrm>
          <a:prstGeom prst="rect">
            <a:avLst/>
          </a:prstGeom>
          <a:solidFill>
            <a:srgbClr val="1A1A1A"/>
          </a:solidFill>
          <a:ln/>
        </p:spPr>
      </p:sp>
      <p:sp>
        <p:nvSpPr>
          <p:cNvPr id="10" name="Shape 7"/>
          <p:cNvSpPr/>
          <p:nvPr/>
        </p:nvSpPr>
        <p:spPr>
          <a:xfrm>
            <a:off x="777240" y="1984248"/>
            <a:ext cx="10634472" cy="9144"/>
          </a:xfrm>
          <a:prstGeom prst="rect">
            <a:avLst/>
          </a:prstGeom>
          <a:solidFill>
            <a:srgbClr val="BFBFBF"/>
          </a:solidFill>
          <a:ln/>
        </p:spPr>
      </p:sp>
      <p:sp>
        <p:nvSpPr>
          <p:cNvPr id="11" name="Shape 8"/>
          <p:cNvSpPr/>
          <p:nvPr/>
        </p:nvSpPr>
        <p:spPr>
          <a:xfrm>
            <a:off x="777240" y="4471416"/>
            <a:ext cx="10634472" cy="20117"/>
          </a:xfrm>
          <a:prstGeom prst="rect">
            <a:avLst/>
          </a:prstGeom>
          <a:solidFill>
            <a:srgbClr val="1A1A1A"/>
          </a:solidFill>
          <a:ln/>
        </p:spPr>
      </p:sp>
      <p:sp>
        <p:nvSpPr>
          <p:cNvPr id="12" name="Text 9"/>
          <p:cNvSpPr/>
          <p:nvPr/>
        </p:nvSpPr>
        <p:spPr>
          <a:xfrm>
            <a:off x="777240" y="5074920"/>
            <a:ext cx="10634472" cy="1005840"/>
          </a:xfrm>
          <a:prstGeom prst="rect">
            <a:avLst/>
          </a:prstGeom>
          <a:noFill/>
          <a:ln/>
        </p:spPr>
        <p:txBody>
          <a:bodyPr wrap="square" lIns="0" tIns="0" rIns="0" bIns="0" rtlCol="0" anchor="ctr"/>
          <a:lstStyle/>
          <a:p>
            <a:pPr algn="just" indent="0" marL="0">
              <a:lnSpc>
                <a:spcPts val="2200"/>
              </a:lnSpc>
              <a:buNone/>
            </a:pPr>
            <a:r>
              <a:rPr lang="en-US" sz="1500" b="1" dirty="0">
                <a:solidFill>
                  <a:srgbClr val="8C2A2A"/>
                </a:solidFill>
                <a:latin typeface="Times New Roman" pitchFamily="34" charset="0"/>
                <a:ea typeface="Times New Roman" pitchFamily="34" charset="-122"/>
                <a:cs typeface="Times New Roman" pitchFamily="34" charset="-120"/>
              </a:rPr>
              <a:t>Το σημαντικό. </a:t>
            </a:r>
            <a:pPr algn="just" indent="0" marL="0">
              <a:lnSpc>
                <a:spcPts val="2200"/>
              </a:lnSpc>
              <a:buNone/>
            </a:pPr>
            <a:r>
              <a:rPr lang="en-US" sz="1500" dirty="0">
                <a:solidFill>
                  <a:srgbClr val="1A1A1A"/>
                </a:solidFill>
                <a:latin typeface="Times New Roman" pitchFamily="34" charset="0"/>
                <a:ea typeface="Times New Roman" pitchFamily="34" charset="-122"/>
                <a:cs typeface="Times New Roman" pitchFamily="34" charset="-120"/>
              </a:rPr>
              <a:t>AutoNUMA και TPP μετράνε TLB misses, αλλά το traffic προς την CXL το καθορίζουν τα LLC misses. Ένα page μπορεί να είναι πολύ hot στο TLB και σχεδόν αόρατο στην CXL. Δηλαδή βελτιστοποιούν το λάθος σήμα.</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§3.2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Γιατί δεν δουλεύει: το granularity</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3. Γιατί δεν δουλεύει</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6 / 14</a:t>
            </a:r>
            <a:endParaRPr lang="en-US" sz="950" dirty="0"/>
          </a:p>
        </p:txBody>
      </p:sp>
      <p:sp>
        <p:nvSpPr>
          <p:cNvPr id="7" name="Text 5"/>
          <p:cNvSpPr/>
          <p:nvPr/>
        </p:nvSpPr>
        <p:spPr>
          <a:xfrm>
            <a:off x="777240" y="1298448"/>
            <a:ext cx="10634472" cy="1234440"/>
          </a:xfrm>
          <a:prstGeom prst="rect">
            <a:avLst/>
          </a:prstGeom>
          <a:noFill/>
          <a:ln/>
        </p:spPr>
        <p:txBody>
          <a:bodyPr wrap="square" lIns="0" tIns="0" rIns="0" bIns="0" rtlCol="0" anchor="ctr"/>
          <a:lstStyle/>
          <a:p>
            <a:pPr algn="just" indent="0" marL="0">
              <a:lnSpc>
                <a:spcPts val="2300"/>
              </a:lnSpc>
              <a:buNone/>
            </a:pPr>
            <a:r>
              <a:rPr lang="en-US" sz="1550" dirty="0">
                <a:solidFill>
                  <a:srgbClr val="1A1A1A"/>
                </a:solidFill>
                <a:latin typeface="Times New Roman" pitchFamily="34" charset="0"/>
                <a:ea typeface="Times New Roman" pitchFamily="34" charset="-122"/>
                <a:cs typeface="Times New Roman" pitchFamily="34" charset="-120"/>
              </a:rPr>
              <a:t>Μέσα σε ένα page 4 KB, τα accesses δεν είναι μοιρασμένα ομοιόμορφα. Ένα lookup σε hash table αγγίζει 64 bytes από τα 4096 (Σχήμα 2). Το 4 KB είναι λάθος unit και προς τις δύο μεριές: πολύ μεγάλο για το τι είναι πραγματικά hot, αλλά και πολύ μικρό για τον μηχανισμό του migration, που πληρώνει σταθερό κόστος ανά page.</a:t>
            </a:r>
            <a:endParaRPr lang="en-US" sz="1550" dirty="0"/>
          </a:p>
        </p:txBody>
      </p:sp>
      <p:sp>
        <p:nvSpPr>
          <p:cNvPr id="8" name="Text 6"/>
          <p:cNvSpPr/>
          <p:nvPr/>
        </p:nvSpPr>
        <p:spPr>
          <a:xfrm>
            <a:off x="777240" y="2697480"/>
            <a:ext cx="3240024" cy="457200"/>
          </a:xfrm>
          <a:prstGeom prst="rect">
            <a:avLst/>
          </a:prstGeom>
          <a:noFill/>
          <a:ln/>
        </p:spPr>
        <p:txBody>
          <a:bodyPr wrap="square" lIns="0" tIns="0" rIns="0" bIns="0" rtlCol="0" anchor="ctr"/>
          <a:lstStyle/>
          <a:p>
            <a:pPr algn="ctr" indent="0" marL="0">
              <a:buNone/>
            </a:pPr>
            <a:r>
              <a:rPr lang="en-US" sz="2800" b="1" dirty="0">
                <a:solidFill>
                  <a:srgbClr val="1F3A63"/>
                </a:solidFill>
                <a:latin typeface="Times New Roman" pitchFamily="34" charset="0"/>
                <a:ea typeface="Times New Roman" pitchFamily="34" charset="-122"/>
                <a:cs typeface="Times New Roman" pitchFamily="34" charset="-120"/>
              </a:rPr>
              <a:t>64 B</a:t>
            </a:r>
            <a:endParaRPr lang="en-US" sz="2800" dirty="0"/>
          </a:p>
        </p:txBody>
      </p:sp>
      <p:sp>
        <p:nvSpPr>
          <p:cNvPr id="9" name="Text 7"/>
          <p:cNvSpPr/>
          <p:nvPr/>
        </p:nvSpPr>
        <p:spPr>
          <a:xfrm>
            <a:off x="777240" y="3200400"/>
            <a:ext cx="3240024" cy="256032"/>
          </a:xfrm>
          <a:prstGeom prst="rect">
            <a:avLst/>
          </a:prstGeom>
          <a:noFill/>
          <a:ln/>
        </p:spPr>
        <p:txBody>
          <a:bodyPr wrap="square" lIns="0" tIns="0" rIns="0" bIns="0" rtlCol="0" anchor="ctr"/>
          <a:lstStyle/>
          <a:p>
            <a:pPr algn="ctr" indent="0" marL="0">
              <a:buNone/>
            </a:pPr>
            <a:r>
              <a:rPr lang="en-US" sz="1100" dirty="0">
                <a:solidFill>
                  <a:srgbClr val="6E6E6E"/>
                </a:solidFill>
                <a:latin typeface="Courier New" pitchFamily="34" charset="0"/>
                <a:ea typeface="Courier New" pitchFamily="34" charset="-122"/>
                <a:cs typeface="Courier New" pitchFamily="34" charset="-120"/>
              </a:rPr>
              <a:t>cache line</a:t>
            </a:r>
            <a:endParaRPr lang="en-US" sz="1100" dirty="0"/>
          </a:p>
        </p:txBody>
      </p:sp>
      <p:sp>
        <p:nvSpPr>
          <p:cNvPr id="10" name="Text 8"/>
          <p:cNvSpPr/>
          <p:nvPr/>
        </p:nvSpPr>
        <p:spPr>
          <a:xfrm>
            <a:off x="777240" y="3493008"/>
            <a:ext cx="3240024" cy="548640"/>
          </a:xfrm>
          <a:prstGeom prst="rect">
            <a:avLst/>
          </a:prstGeom>
          <a:noFill/>
          <a:ln/>
        </p:spPr>
        <p:txBody>
          <a:bodyPr wrap="square" lIns="0" tIns="0" rIns="0" bIns="0" rtlCol="0" anchor="ctr"/>
          <a:lstStyle/>
          <a:p>
            <a:pPr algn="ctr" indent="0" marL="0">
              <a:lnSpc>
                <a:spcPts val="1600"/>
              </a:lnSpc>
              <a:buNone/>
            </a:pPr>
            <a:r>
              <a:rPr lang="en-US" sz="1250" i="1" dirty="0">
                <a:solidFill>
                  <a:srgbClr val="1A1A1A"/>
                </a:solidFill>
                <a:latin typeface="Times New Roman" pitchFamily="34" charset="0"/>
                <a:ea typeface="Times New Roman" pitchFamily="34" charset="-122"/>
                <a:cs typeface="Times New Roman" pitchFamily="34" charset="-120"/>
              </a:rPr>
              <a:t>ελάχιστο waste· τα metadata εκτοξεύονται</a:t>
            </a:r>
            <a:endParaRPr lang="en-US" sz="1250" dirty="0"/>
          </a:p>
        </p:txBody>
      </p:sp>
      <p:sp>
        <p:nvSpPr>
          <p:cNvPr id="11" name="Text 9"/>
          <p:cNvSpPr/>
          <p:nvPr/>
        </p:nvSpPr>
        <p:spPr>
          <a:xfrm>
            <a:off x="4017264" y="2697480"/>
            <a:ext cx="457200" cy="457200"/>
          </a:xfrm>
          <a:prstGeom prst="rect">
            <a:avLst/>
          </a:prstGeom>
          <a:noFill/>
          <a:ln/>
        </p:spPr>
        <p:txBody>
          <a:bodyPr wrap="square" lIns="0" tIns="0" rIns="0" bIns="0" rtlCol="0" anchor="ctr"/>
          <a:lstStyle/>
          <a:p>
            <a:pPr algn="ctr" indent="0" marL="0">
              <a:buNone/>
            </a:pPr>
            <a:r>
              <a:rPr lang="en-US" sz="2000" dirty="0">
                <a:solidFill>
                  <a:srgbClr val="6E6E6E"/>
                </a:solidFill>
                <a:latin typeface="Times New Roman" pitchFamily="34" charset="0"/>
                <a:ea typeface="Times New Roman" pitchFamily="34" charset="-122"/>
                <a:cs typeface="Times New Roman" pitchFamily="34" charset="-120"/>
              </a:rPr>
              <a:t>−→</a:t>
            </a:r>
            <a:endParaRPr lang="en-US" sz="2000" dirty="0"/>
          </a:p>
        </p:txBody>
      </p:sp>
      <p:sp>
        <p:nvSpPr>
          <p:cNvPr id="12" name="Text 10"/>
          <p:cNvSpPr/>
          <p:nvPr/>
        </p:nvSpPr>
        <p:spPr>
          <a:xfrm>
            <a:off x="4474464" y="2697480"/>
            <a:ext cx="3240024" cy="457200"/>
          </a:xfrm>
          <a:prstGeom prst="rect">
            <a:avLst/>
          </a:prstGeom>
          <a:noFill/>
          <a:ln/>
        </p:spPr>
        <p:txBody>
          <a:bodyPr wrap="square" lIns="0" tIns="0" rIns="0" bIns="0" rtlCol="0" anchor="ctr"/>
          <a:lstStyle/>
          <a:p>
            <a:pPr algn="ctr" indent="0" marL="0">
              <a:buNone/>
            </a:pPr>
            <a:r>
              <a:rPr lang="en-US" sz="2800" b="1" dirty="0">
                <a:solidFill>
                  <a:srgbClr val="1F3A63"/>
                </a:solidFill>
                <a:latin typeface="Times New Roman" pitchFamily="34" charset="0"/>
                <a:ea typeface="Times New Roman" pitchFamily="34" charset="-122"/>
                <a:cs typeface="Times New Roman" pitchFamily="34" charset="-120"/>
              </a:rPr>
              <a:t>4 KB</a:t>
            </a:r>
            <a:endParaRPr lang="en-US" sz="2800" dirty="0"/>
          </a:p>
        </p:txBody>
      </p:sp>
      <p:sp>
        <p:nvSpPr>
          <p:cNvPr id="13" name="Text 11"/>
          <p:cNvSpPr/>
          <p:nvPr/>
        </p:nvSpPr>
        <p:spPr>
          <a:xfrm>
            <a:off x="4474464" y="3200400"/>
            <a:ext cx="3240024" cy="256032"/>
          </a:xfrm>
          <a:prstGeom prst="rect">
            <a:avLst/>
          </a:prstGeom>
          <a:noFill/>
          <a:ln/>
        </p:spPr>
        <p:txBody>
          <a:bodyPr wrap="square" lIns="0" tIns="0" rIns="0" bIns="0" rtlCol="0" anchor="ctr"/>
          <a:lstStyle/>
          <a:p>
            <a:pPr algn="ctr" indent="0" marL="0">
              <a:buNone/>
            </a:pPr>
            <a:r>
              <a:rPr lang="en-US" sz="1100" dirty="0">
                <a:solidFill>
                  <a:srgbClr val="6E6E6E"/>
                </a:solidFill>
                <a:latin typeface="Courier New" pitchFamily="34" charset="0"/>
                <a:ea typeface="Courier New" pitchFamily="34" charset="-122"/>
                <a:cs typeface="Courier New" pitchFamily="34" charset="-120"/>
              </a:rPr>
              <a:t>default του Linux</a:t>
            </a:r>
            <a:endParaRPr lang="en-US" sz="1100" dirty="0"/>
          </a:p>
        </p:txBody>
      </p:sp>
      <p:sp>
        <p:nvSpPr>
          <p:cNvPr id="14" name="Text 12"/>
          <p:cNvSpPr/>
          <p:nvPr/>
        </p:nvSpPr>
        <p:spPr>
          <a:xfrm>
            <a:off x="4474464" y="3493008"/>
            <a:ext cx="3240024" cy="548640"/>
          </a:xfrm>
          <a:prstGeom prst="rect">
            <a:avLst/>
          </a:prstGeom>
          <a:noFill/>
          <a:ln/>
        </p:spPr>
        <p:txBody>
          <a:bodyPr wrap="square" lIns="0" tIns="0" rIns="0" bIns="0" rtlCol="0" anchor="ctr"/>
          <a:lstStyle/>
          <a:p>
            <a:pPr algn="ctr" indent="0" marL="0">
              <a:lnSpc>
                <a:spcPts val="1600"/>
              </a:lnSpc>
              <a:buNone/>
            </a:pPr>
            <a:r>
              <a:rPr lang="en-US" sz="1250" i="1" dirty="0">
                <a:solidFill>
                  <a:srgbClr val="1A1A1A"/>
                </a:solidFill>
                <a:latin typeface="Times New Roman" pitchFamily="34" charset="0"/>
                <a:ea typeface="Times New Roman" pitchFamily="34" charset="-122"/>
                <a:cs typeface="Times New Roman" pitchFamily="34" charset="-120"/>
              </a:rPr>
              <a:t>μέτριο και στα δύο: κάνει waste και κοστίζει</a:t>
            </a:r>
            <a:endParaRPr lang="en-US" sz="1250" dirty="0"/>
          </a:p>
        </p:txBody>
      </p:sp>
      <p:sp>
        <p:nvSpPr>
          <p:cNvPr id="15" name="Text 13"/>
          <p:cNvSpPr/>
          <p:nvPr/>
        </p:nvSpPr>
        <p:spPr>
          <a:xfrm>
            <a:off x="7714488" y="2697480"/>
            <a:ext cx="457200" cy="457200"/>
          </a:xfrm>
          <a:prstGeom prst="rect">
            <a:avLst/>
          </a:prstGeom>
          <a:noFill/>
          <a:ln/>
        </p:spPr>
        <p:txBody>
          <a:bodyPr wrap="square" lIns="0" tIns="0" rIns="0" bIns="0" rtlCol="0" anchor="ctr"/>
          <a:lstStyle/>
          <a:p>
            <a:pPr algn="ctr" indent="0" marL="0">
              <a:buNone/>
            </a:pPr>
            <a:r>
              <a:rPr lang="en-US" sz="2000" dirty="0">
                <a:solidFill>
                  <a:srgbClr val="6E6E6E"/>
                </a:solidFill>
                <a:latin typeface="Times New Roman" pitchFamily="34" charset="0"/>
                <a:ea typeface="Times New Roman" pitchFamily="34" charset="-122"/>
                <a:cs typeface="Times New Roman" pitchFamily="34" charset="-120"/>
              </a:rPr>
              <a:t>−→</a:t>
            </a:r>
            <a:endParaRPr lang="en-US" sz="2000" dirty="0"/>
          </a:p>
        </p:txBody>
      </p:sp>
      <p:sp>
        <p:nvSpPr>
          <p:cNvPr id="16" name="Text 14"/>
          <p:cNvSpPr/>
          <p:nvPr/>
        </p:nvSpPr>
        <p:spPr>
          <a:xfrm>
            <a:off x="8171688" y="2697480"/>
            <a:ext cx="3240024" cy="457200"/>
          </a:xfrm>
          <a:prstGeom prst="rect">
            <a:avLst/>
          </a:prstGeom>
          <a:noFill/>
          <a:ln/>
        </p:spPr>
        <p:txBody>
          <a:bodyPr wrap="square" lIns="0" tIns="0" rIns="0" bIns="0" rtlCol="0" anchor="ctr"/>
          <a:lstStyle/>
          <a:p>
            <a:pPr algn="ctr" indent="0" marL="0">
              <a:buNone/>
            </a:pPr>
            <a:r>
              <a:rPr lang="en-US" sz="2800" b="1" dirty="0">
                <a:solidFill>
                  <a:srgbClr val="1F3A63"/>
                </a:solidFill>
                <a:latin typeface="Times New Roman" pitchFamily="34" charset="0"/>
                <a:ea typeface="Times New Roman" pitchFamily="34" charset="-122"/>
                <a:cs typeface="Times New Roman" pitchFamily="34" charset="-120"/>
              </a:rPr>
              <a:t>2 MB</a:t>
            </a:r>
            <a:endParaRPr lang="en-US" sz="2800" dirty="0"/>
          </a:p>
        </p:txBody>
      </p:sp>
      <p:sp>
        <p:nvSpPr>
          <p:cNvPr id="17" name="Text 15"/>
          <p:cNvSpPr/>
          <p:nvPr/>
        </p:nvSpPr>
        <p:spPr>
          <a:xfrm>
            <a:off x="8171688" y="3200400"/>
            <a:ext cx="3240024" cy="256032"/>
          </a:xfrm>
          <a:prstGeom prst="rect">
            <a:avLst/>
          </a:prstGeom>
          <a:noFill/>
          <a:ln/>
        </p:spPr>
        <p:txBody>
          <a:bodyPr wrap="square" lIns="0" tIns="0" rIns="0" bIns="0" rtlCol="0" anchor="ctr"/>
          <a:lstStyle/>
          <a:p>
            <a:pPr algn="ctr" indent="0" marL="0">
              <a:buNone/>
            </a:pPr>
            <a:r>
              <a:rPr lang="en-US" sz="1100" dirty="0">
                <a:solidFill>
                  <a:srgbClr val="6E6E6E"/>
                </a:solidFill>
                <a:latin typeface="Courier New" pitchFamily="34" charset="0"/>
                <a:ea typeface="Courier New" pitchFamily="34" charset="-122"/>
                <a:cs typeface="Courier New" pitchFamily="34" charset="-120"/>
              </a:rPr>
              <a:t>huge page</a:t>
            </a:r>
            <a:endParaRPr lang="en-US" sz="1100" dirty="0"/>
          </a:p>
        </p:txBody>
      </p:sp>
      <p:sp>
        <p:nvSpPr>
          <p:cNvPr id="18" name="Text 16"/>
          <p:cNvSpPr/>
          <p:nvPr/>
        </p:nvSpPr>
        <p:spPr>
          <a:xfrm>
            <a:off x="8171688" y="3493008"/>
            <a:ext cx="3240024" cy="548640"/>
          </a:xfrm>
          <a:prstGeom prst="rect">
            <a:avLst/>
          </a:prstGeom>
          <a:noFill/>
          <a:ln/>
        </p:spPr>
        <p:txBody>
          <a:bodyPr wrap="square" lIns="0" tIns="0" rIns="0" bIns="0" rtlCol="0" anchor="ctr"/>
          <a:lstStyle/>
          <a:p>
            <a:pPr algn="ctr" indent="0" marL="0">
              <a:lnSpc>
                <a:spcPts val="1600"/>
              </a:lnSpc>
              <a:buNone/>
            </a:pPr>
            <a:r>
              <a:rPr lang="en-US" sz="1250" i="1" dirty="0">
                <a:solidFill>
                  <a:srgbClr val="1A1A1A"/>
                </a:solidFill>
                <a:latin typeface="Times New Roman" pitchFamily="34" charset="0"/>
                <a:ea typeface="Times New Roman" pitchFamily="34" charset="-122"/>
                <a:cs typeface="Times New Roman" pitchFamily="34" charset="-120"/>
              </a:rPr>
              <a:t>φθηνό migration· τεράστιο waste (&gt;99%)</a:t>
            </a:r>
            <a:endParaRPr lang="en-US" sz="1250" dirty="0"/>
          </a:p>
        </p:txBody>
      </p:sp>
      <p:sp>
        <p:nvSpPr>
          <p:cNvPr id="19" name="Text 17"/>
          <p:cNvSpPr/>
          <p:nvPr/>
        </p:nvSpPr>
        <p:spPr>
          <a:xfrm>
            <a:off x="777240" y="4114800"/>
            <a:ext cx="10634472" cy="292608"/>
          </a:xfrm>
          <a:prstGeom prst="rect">
            <a:avLst/>
          </a:prstGeom>
          <a:noFill/>
          <a:ln/>
        </p:spPr>
        <p:txBody>
          <a:bodyPr wrap="square" lIns="0" tIns="0" rIns="0" bIns="0" rtlCol="0" anchor="ctr"/>
          <a:lstStyle/>
          <a:p>
            <a:pPr algn="ctr"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2: </a:t>
            </a:r>
            <a:pPr algn="ctr" indent="0" marL="0">
              <a:buNone/>
            </a:pPr>
            <a:r>
              <a:rPr lang="en-US" sz="1100" i="1" dirty="0">
                <a:solidFill>
                  <a:srgbClr val="6E6E6E"/>
                </a:solidFill>
                <a:latin typeface="Times New Roman" pitchFamily="34" charset="0"/>
                <a:ea typeface="Times New Roman" pitchFamily="34" charset="-122"/>
                <a:cs typeface="Times New Roman" pitchFamily="34" charset="-120"/>
              </a:rPr>
              <a:t>το φάσμα του granularity — καμία επιλογή δεν είναι καλή και στα δύο ταυτόχρονα.</a:t>
            </a:r>
            <a:endParaRPr lang="en-US" sz="1100" dirty="0"/>
          </a:p>
        </p:txBody>
      </p:sp>
      <p:sp>
        <p:nvSpPr>
          <p:cNvPr id="20" name="Shape 18"/>
          <p:cNvSpPr/>
          <p:nvPr/>
        </p:nvSpPr>
        <p:spPr>
          <a:xfrm>
            <a:off x="777240" y="4572000"/>
            <a:ext cx="10634472" cy="1417320"/>
          </a:xfrm>
          <a:prstGeom prst="rect">
            <a:avLst/>
          </a:prstGeom>
          <a:solidFill>
            <a:srgbClr val="F7ECEC"/>
          </a:solidFill>
          <a:ln/>
        </p:spPr>
      </p:sp>
      <p:sp>
        <p:nvSpPr>
          <p:cNvPr id="21" name="Text 19"/>
          <p:cNvSpPr/>
          <p:nvPr/>
        </p:nvSpPr>
        <p:spPr>
          <a:xfrm>
            <a:off x="960120" y="4681728"/>
            <a:ext cx="10268712" cy="292608"/>
          </a:xfrm>
          <a:prstGeom prst="rect">
            <a:avLst/>
          </a:prstGeom>
          <a:noFill/>
          <a:ln/>
        </p:spPr>
        <p:txBody>
          <a:bodyPr wrap="square" lIns="0" tIns="0" rIns="0" bIns="0" rtlCol="0" anchor="ctr"/>
          <a:lstStyle/>
          <a:p>
            <a:pPr indent="0" marL="0">
              <a:buNone/>
            </a:pPr>
            <a:r>
              <a:rPr lang="en-US" sz="1450" b="1" dirty="0">
                <a:solidFill>
                  <a:srgbClr val="8C2A2A"/>
                </a:solidFill>
                <a:latin typeface="Times New Roman" pitchFamily="34" charset="0"/>
                <a:ea typeface="Times New Roman" pitchFamily="34" charset="-122"/>
                <a:cs typeface="Times New Roman" pitchFamily="34" charset="-120"/>
              </a:rPr>
              <a:t>Το ουσιαστικό — δεν υπάρχει PTE για cache line</a:t>
            </a:r>
            <a:endParaRPr lang="en-US" sz="1450" dirty="0"/>
          </a:p>
        </p:txBody>
      </p:sp>
      <p:sp>
        <p:nvSpPr>
          <p:cNvPr id="22" name="Text 20"/>
          <p:cNvSpPr/>
          <p:nvPr/>
        </p:nvSpPr>
        <p:spPr>
          <a:xfrm>
            <a:off x="960120" y="5010912"/>
            <a:ext cx="10268712" cy="86868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Άρα δεν γίνεται να κάνεις migrate cache lines αντί για pages μέσα από το OS. Ή βάζεις hardware indirection (η τοπική DRAM γίνεται cache γραμμών), ή —κι εδώ στοχεύω— κάνεις profiling σε λεπτό granularity (64 B) και migration σε χοντρό (4 KB). Το granularity του profiling δεν είναι ίδιο με του migration· αυτό ακριβώς κάνει το M5.</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§3.3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Γιατί δεν δουλεύει: το κόστος του migration</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3. Γιατί δεν δουλεύει</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7 / 14</a:t>
            </a:r>
            <a:endParaRPr lang="en-US" sz="950" dirty="0"/>
          </a:p>
        </p:txBody>
      </p:sp>
      <p:sp>
        <p:nvSpPr>
          <p:cNvPr id="7" name="Text 5"/>
          <p:cNvSpPr/>
          <p:nvPr/>
        </p:nvSpPr>
        <p:spPr>
          <a:xfrm>
            <a:off x="777240" y="1298448"/>
            <a:ext cx="10634472" cy="320040"/>
          </a:xfrm>
          <a:prstGeom prst="rect">
            <a:avLst/>
          </a:prstGeom>
          <a:noFill/>
          <a:ln/>
        </p:spPr>
        <p:txBody>
          <a:bodyPr wrap="square" lIns="0" tIns="0" rIns="0" bIns="0" rtlCol="0" anchor="ctr"/>
          <a:lstStyle/>
          <a:p>
            <a:pPr indent="0" marL="0">
              <a:buNone/>
            </a:pPr>
            <a:r>
              <a:rPr lang="en-US" sz="1600" dirty="0">
                <a:solidFill>
                  <a:srgbClr val="1A1A1A"/>
                </a:solidFill>
                <a:latin typeface="Times New Roman" pitchFamily="34" charset="0"/>
                <a:ea typeface="Times New Roman" pitchFamily="34" charset="-122"/>
                <a:cs typeface="Times New Roman" pitchFamily="34" charset="-120"/>
              </a:rPr>
              <a:t>Για να προαχθεί ένα page 4 KB, το OS πληρώνει τέσσερα κόστη:</a:t>
            </a:r>
            <a:endParaRPr lang="en-US" sz="1600" dirty="0"/>
          </a:p>
        </p:txBody>
      </p:sp>
      <p:sp>
        <p:nvSpPr>
          <p:cNvPr id="8" name="Text 6"/>
          <p:cNvSpPr/>
          <p:nvPr/>
        </p:nvSpPr>
        <p:spPr>
          <a:xfrm>
            <a:off x="777240" y="1783080"/>
            <a:ext cx="365760" cy="548640"/>
          </a:xfrm>
          <a:prstGeom prst="rect">
            <a:avLst/>
          </a:prstGeom>
          <a:noFill/>
          <a:ln/>
        </p:spPr>
        <p:txBody>
          <a:bodyPr wrap="square" lIns="0" tIns="0" rIns="0" bIns="0" rtlCol="0" anchor="t"/>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1.</a:t>
            </a:r>
            <a:endParaRPr lang="en-US" sz="1450" dirty="0"/>
          </a:p>
        </p:txBody>
      </p:sp>
      <p:sp>
        <p:nvSpPr>
          <p:cNvPr id="9" name="Text 7"/>
          <p:cNvSpPr/>
          <p:nvPr/>
        </p:nvSpPr>
        <p:spPr>
          <a:xfrm>
            <a:off x="1188720" y="1783080"/>
            <a:ext cx="5943600" cy="640080"/>
          </a:xfrm>
          <a:prstGeom prst="rect">
            <a:avLst/>
          </a:prstGeom>
          <a:noFill/>
          <a:ln/>
        </p:spPr>
        <p:txBody>
          <a:bodyPr wrap="square" lIns="0" tIns="0" rIns="0" bIns="0" rtlCol="0" anchor="t"/>
          <a:lstStyle/>
          <a:p>
            <a:pPr algn="just" indent="0" marL="0">
              <a:lnSpc>
                <a:spcPts val="1900"/>
              </a:lnSpc>
              <a:buNone/>
            </a:pPr>
            <a:r>
              <a:rPr lang="en-US" sz="1350" b="1" dirty="0">
                <a:solidFill>
                  <a:srgbClr val="1A1A1A"/>
                </a:solidFill>
                <a:latin typeface="Times New Roman" pitchFamily="34" charset="0"/>
                <a:ea typeface="Times New Roman" pitchFamily="34" charset="-122"/>
                <a:cs typeface="Times New Roman" pitchFamily="34" charset="-120"/>
              </a:rPr>
              <a:t>Copy. </a:t>
            </a:r>
            <a:pPr algn="just"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4 KB read από CXL + 4 KB write σε DDR — τρώει το bandwidth που θέλεις να γλιτώσεις.</a:t>
            </a:r>
            <a:endParaRPr lang="en-US" sz="1350" dirty="0"/>
          </a:p>
        </p:txBody>
      </p:sp>
      <p:sp>
        <p:nvSpPr>
          <p:cNvPr id="10" name="Text 8"/>
          <p:cNvSpPr/>
          <p:nvPr/>
        </p:nvSpPr>
        <p:spPr>
          <a:xfrm>
            <a:off x="777240" y="2514600"/>
            <a:ext cx="365760" cy="548640"/>
          </a:xfrm>
          <a:prstGeom prst="rect">
            <a:avLst/>
          </a:prstGeom>
          <a:noFill/>
          <a:ln/>
        </p:spPr>
        <p:txBody>
          <a:bodyPr wrap="square" lIns="0" tIns="0" rIns="0" bIns="0" rtlCol="0" anchor="t"/>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2.</a:t>
            </a:r>
            <a:endParaRPr lang="en-US" sz="1450" dirty="0"/>
          </a:p>
        </p:txBody>
      </p:sp>
      <p:sp>
        <p:nvSpPr>
          <p:cNvPr id="11" name="Text 9"/>
          <p:cNvSpPr/>
          <p:nvPr/>
        </p:nvSpPr>
        <p:spPr>
          <a:xfrm>
            <a:off x="1188720" y="2514600"/>
            <a:ext cx="5943600" cy="640080"/>
          </a:xfrm>
          <a:prstGeom prst="rect">
            <a:avLst/>
          </a:prstGeom>
          <a:noFill/>
          <a:ln/>
        </p:spPr>
        <p:txBody>
          <a:bodyPr wrap="square" lIns="0" tIns="0" rIns="0" bIns="0" rtlCol="0" anchor="t"/>
          <a:lstStyle/>
          <a:p>
            <a:pPr algn="just" indent="0" marL="0">
              <a:lnSpc>
                <a:spcPts val="1900"/>
              </a:lnSpc>
              <a:buNone/>
            </a:pPr>
            <a:r>
              <a:rPr lang="en-US" sz="1350" b="1" dirty="0">
                <a:solidFill>
                  <a:srgbClr val="1A1A1A"/>
                </a:solidFill>
                <a:latin typeface="Times New Roman" pitchFamily="34" charset="0"/>
                <a:ea typeface="Times New Roman" pitchFamily="34" charset="-122"/>
                <a:cs typeface="Times New Roman" pitchFamily="34" charset="-120"/>
              </a:rPr>
              <a:t>Ενημέρωση page table. </a:t>
            </a:r>
            <a:pPr algn="just"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Διάσχιση του rmap για κάθε PTE που δείχνει στο page.</a:t>
            </a:r>
            <a:endParaRPr lang="en-US" sz="1350" dirty="0"/>
          </a:p>
        </p:txBody>
      </p:sp>
      <p:sp>
        <p:nvSpPr>
          <p:cNvPr id="12" name="Text 10"/>
          <p:cNvSpPr/>
          <p:nvPr/>
        </p:nvSpPr>
        <p:spPr>
          <a:xfrm>
            <a:off x="777240" y="3246120"/>
            <a:ext cx="365760" cy="548640"/>
          </a:xfrm>
          <a:prstGeom prst="rect">
            <a:avLst/>
          </a:prstGeom>
          <a:noFill/>
          <a:ln/>
        </p:spPr>
        <p:txBody>
          <a:bodyPr wrap="square" lIns="0" tIns="0" rIns="0" bIns="0" rtlCol="0" anchor="t"/>
          <a:lstStyle/>
          <a:p>
            <a:pPr indent="0" marL="0">
              <a:buNone/>
            </a:pPr>
            <a:r>
              <a:rPr lang="en-US" sz="1450" b="1" dirty="0">
                <a:solidFill>
                  <a:srgbClr val="8C2A2A"/>
                </a:solidFill>
                <a:latin typeface="Times New Roman" pitchFamily="34" charset="0"/>
                <a:ea typeface="Times New Roman" pitchFamily="34" charset="-122"/>
                <a:cs typeface="Times New Roman" pitchFamily="34" charset="-120"/>
              </a:rPr>
              <a:t>3.</a:t>
            </a:r>
            <a:endParaRPr lang="en-US" sz="1450" dirty="0"/>
          </a:p>
        </p:txBody>
      </p:sp>
      <p:sp>
        <p:nvSpPr>
          <p:cNvPr id="13" name="Text 11"/>
          <p:cNvSpPr/>
          <p:nvPr/>
        </p:nvSpPr>
        <p:spPr>
          <a:xfrm>
            <a:off x="1188720" y="3246120"/>
            <a:ext cx="5943600" cy="640080"/>
          </a:xfrm>
          <a:prstGeom prst="rect">
            <a:avLst/>
          </a:prstGeom>
          <a:noFill/>
          <a:ln/>
        </p:spPr>
        <p:txBody>
          <a:bodyPr wrap="square" lIns="0" tIns="0" rIns="0" bIns="0" rtlCol="0" anchor="t"/>
          <a:lstStyle/>
          <a:p>
            <a:pPr algn="just" indent="0" marL="0">
              <a:lnSpc>
                <a:spcPts val="1900"/>
              </a:lnSpc>
              <a:buNone/>
            </a:pPr>
            <a:r>
              <a:rPr lang="en-US" sz="1350" b="1" dirty="0">
                <a:solidFill>
                  <a:srgbClr val="8C2A2A"/>
                </a:solidFill>
                <a:latin typeface="Times New Roman" pitchFamily="34" charset="0"/>
                <a:ea typeface="Times New Roman" pitchFamily="34" charset="-122"/>
                <a:cs typeface="Times New Roman" pitchFamily="34" charset="-120"/>
              </a:rPr>
              <a:t>TLB shootdown. </a:t>
            </a:r>
            <a:pPr algn="just"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IPI σε κάθε core με πιθανό cached translation — συνήθως το πιο ακριβό.</a:t>
            </a:r>
            <a:endParaRPr lang="en-US" sz="1350" dirty="0"/>
          </a:p>
        </p:txBody>
      </p:sp>
      <p:sp>
        <p:nvSpPr>
          <p:cNvPr id="14" name="Text 12"/>
          <p:cNvSpPr/>
          <p:nvPr/>
        </p:nvSpPr>
        <p:spPr>
          <a:xfrm>
            <a:off x="777240" y="3977640"/>
            <a:ext cx="365760" cy="548640"/>
          </a:xfrm>
          <a:prstGeom prst="rect">
            <a:avLst/>
          </a:prstGeom>
          <a:noFill/>
          <a:ln/>
        </p:spPr>
        <p:txBody>
          <a:bodyPr wrap="square" lIns="0" tIns="0" rIns="0" bIns="0" rtlCol="0" anchor="t"/>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4.</a:t>
            </a:r>
            <a:endParaRPr lang="en-US" sz="1450" dirty="0"/>
          </a:p>
        </p:txBody>
      </p:sp>
      <p:sp>
        <p:nvSpPr>
          <p:cNvPr id="15" name="Text 13"/>
          <p:cNvSpPr/>
          <p:nvPr/>
        </p:nvSpPr>
        <p:spPr>
          <a:xfrm>
            <a:off x="1188720" y="3977640"/>
            <a:ext cx="5943600" cy="640080"/>
          </a:xfrm>
          <a:prstGeom prst="rect">
            <a:avLst/>
          </a:prstGeom>
          <a:noFill/>
          <a:ln/>
        </p:spPr>
        <p:txBody>
          <a:bodyPr wrap="square" lIns="0" tIns="0" rIns="0" bIns="0" rtlCol="0" anchor="t"/>
          <a:lstStyle/>
          <a:p>
            <a:pPr algn="just" indent="0" marL="0">
              <a:lnSpc>
                <a:spcPts val="1900"/>
              </a:lnSpc>
              <a:buNone/>
            </a:pPr>
            <a:r>
              <a:rPr lang="en-US" sz="1350" b="1" dirty="0">
                <a:solidFill>
                  <a:srgbClr val="1A1A1A"/>
                </a:solidFill>
                <a:latin typeface="Times New Roman" pitchFamily="34" charset="0"/>
                <a:ea typeface="Times New Roman" pitchFamily="34" charset="-122"/>
                <a:cs typeface="Times New Roman" pitchFamily="34" charset="-120"/>
              </a:rPr>
              <a:t>Lock contention. </a:t>
            </a:r>
            <a:pPr algn="just"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mmap_lock, LRU locks· δεν κάνει καλό scaling.</a:t>
            </a:r>
            <a:endParaRPr lang="en-US" sz="1350" dirty="0"/>
          </a:p>
        </p:txBody>
      </p:sp>
      <p:sp>
        <p:nvSpPr>
          <p:cNvPr id="16" name="Shape 14"/>
          <p:cNvSpPr/>
          <p:nvPr/>
        </p:nvSpPr>
        <p:spPr>
          <a:xfrm>
            <a:off x="7360920" y="1783080"/>
            <a:ext cx="4050792" cy="2880360"/>
          </a:xfrm>
          <a:prstGeom prst="rect">
            <a:avLst/>
          </a:prstGeom>
          <a:solidFill>
            <a:srgbClr val="F0F0EE"/>
          </a:solidFill>
          <a:ln/>
        </p:spPr>
      </p:sp>
      <p:sp>
        <p:nvSpPr>
          <p:cNvPr id="17" name="Text 15"/>
          <p:cNvSpPr/>
          <p:nvPr/>
        </p:nvSpPr>
        <p:spPr>
          <a:xfrm>
            <a:off x="7543800" y="1892808"/>
            <a:ext cx="3685032"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Τάξη μεγέθους</a:t>
            </a:r>
            <a:endParaRPr lang="en-US" sz="1450" dirty="0"/>
          </a:p>
        </p:txBody>
      </p:sp>
      <p:sp>
        <p:nvSpPr>
          <p:cNvPr id="18" name="Text 16"/>
          <p:cNvSpPr/>
          <p:nvPr/>
        </p:nvSpPr>
        <p:spPr>
          <a:xfrm>
            <a:off x="7543800" y="2221992"/>
            <a:ext cx="3685032" cy="233172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Ένα migration ενός page κοστίζει μsec — χιλιάδες φορές πάνω από τα ~250 ns που προσπαθείς να αποφύγεις ανά access.</a:t>
            </a:r>
            <a:endParaRPr lang="en-US" sz="1350" dirty="0"/>
          </a:p>
          <a:p>
            <a:pPr indent="0" marL="0">
              <a:lnSpc>
                <a:spcPts val="1900"/>
              </a:lnSpc>
              <a:buNone/>
            </a:pPr>
            <a:endParaRPr lang="en-US" sz="1350" dirty="0"/>
          </a:p>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Άρα ένα page πρέπει να ξαναχρησιμοποιηθεί πολλές φορές για να αξίζει το migration. Γι’ αυτό ένα λάθος promotion δεν είναι απλώς άχρηστο· είναι και επιζήμιο.</a:t>
            </a:r>
            <a:endParaRPr lang="en-US" sz="1350" dirty="0"/>
          </a:p>
        </p:txBody>
      </p:sp>
      <p:sp>
        <p:nvSpPr>
          <p:cNvPr id="19" name="Text 17"/>
          <p:cNvSpPr/>
          <p:nvPr/>
        </p:nvSpPr>
        <p:spPr>
          <a:xfrm>
            <a:off x="777240" y="4892040"/>
            <a:ext cx="10634472" cy="777240"/>
          </a:xfrm>
          <a:prstGeom prst="rect">
            <a:avLst/>
          </a:prstGeom>
          <a:noFill/>
          <a:ln/>
        </p:spPr>
        <p:txBody>
          <a:bodyPr wrap="square" lIns="0" tIns="0" rIns="0" bIns="0" rtlCol="0" anchor="ctr"/>
          <a:lstStyle/>
          <a:p>
            <a:pPr algn="just" indent="0" marL="0">
              <a:lnSpc>
                <a:spcPts val="2100"/>
              </a:lnSpc>
              <a:buNone/>
            </a:pPr>
            <a:r>
              <a:rPr lang="en-US" sz="1450" i="1" dirty="0">
                <a:solidFill>
                  <a:srgbClr val="6E6E6E"/>
                </a:solidFill>
                <a:latin typeface="Times New Roman" pitchFamily="34" charset="0"/>
                <a:ea typeface="Times New Roman" pitchFamily="34" charset="-122"/>
                <a:cs typeface="Times New Roman" pitchFamily="34" charset="-120"/>
              </a:rPr>
              <a:t>Αυτό το κόστος είναι που επιβάλλει quota στο migration bandwidth και hysteresis στις αποφάσεις, ώστε ο μηχανισμός να μην καίει τους πόρους που υποτίθεται ότι γλιτώνει.</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§4.1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Τρεις εργασίες, τρεις διαφορετικές διαγνώσεις</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4. Σχετικές εργασίες</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8 / 14</a:t>
            </a:r>
            <a:endParaRPr lang="en-US" sz="950" dirty="0"/>
          </a:p>
        </p:txBody>
      </p:sp>
      <p:sp>
        <p:nvSpPr>
          <p:cNvPr id="7" name="Text 5"/>
          <p:cNvSpPr/>
          <p:nvPr/>
        </p:nvSpPr>
        <p:spPr>
          <a:xfrm>
            <a:off x="777240" y="1280160"/>
            <a:ext cx="1063447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3: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και οι τρεις δείχνουν διαφορετική ρίζα για το ίδιο πρόβλημα.</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600200"/>
          <a:ext cx="10725912" cy="914400"/>
        </p:xfrm>
        <a:graphic>
          <a:graphicData uri="http://schemas.openxmlformats.org/drawingml/2006/table">
            <a:tbl>
              <a:tblPr/>
              <a:tblGrid>
                <a:gridCol w="1783080"/>
                <a:gridCol w="3703320"/>
                <a:gridCol w="3566160"/>
                <a:gridCol w="1673352"/>
              </a:tblGrid>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Εργασία</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Διάγνωση</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Λύση</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Granularity</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74980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NeoMem</a:t>
                      </a:r>
                      <a:endParaRPr lang="en-US" sz="1350" dirty="0">
                        <a:latin typeface="Times New Roman" charset="0"/>
                        <a:ea typeface="Times New Roman" charset="0"/>
                        <a:cs typeface="Times New Roman" charset="0"/>
                      </a:endParaRPr>
                    </a:p>
                    <a:p>
                      <a:pPr indent="0" marL="0">
                        <a:buNone/>
                      </a:pPr>
                      <a:r>
                        <a:rPr lang="en-US" sz="1350" b="1" dirty="0">
                          <a:solidFill>
                            <a:srgbClr val="1A1A1A"/>
                          </a:solidFill>
                          <a:latin typeface="Times New Roman" pitchFamily="34" charset="0"/>
                          <a:ea typeface="Times New Roman" pitchFamily="34" charset="-122"/>
                          <a:cs typeface="Times New Roman" pitchFamily="34" charset="-120"/>
                        </a:rPr>
                        <a:t>(MICRO ’24)</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 profiling είναι αργό και χοντρό — φτιάξ’ το και τα 4 KB pages φτάνουν</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Count-min sketch μέσα στον CXL controller + dynamic hotness threshold</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4 KB</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749808">
                <a:tc>
                  <a:txBody>
                    <a:bodyPr/>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M5</a:t>
                      </a:r>
                      <a:endParaRPr lang="en-US" sz="1350" dirty="0">
                        <a:latin typeface="Times New Roman" charset="0"/>
                        <a:ea typeface="Times New Roman" charset="0"/>
                        <a:cs typeface="Times New Roman" charset="0"/>
                      </a:endParaRPr>
                    </a:p>
                    <a:p>
                      <a:pPr indent="0" marL="0">
                        <a:buNone/>
                      </a:pPr>
                      <a:r>
                        <a:rPr lang="en-US" sz="1350" b="1" dirty="0">
                          <a:solidFill>
                            <a:srgbClr val="1F3A63"/>
                          </a:solidFill>
                          <a:latin typeface="Times New Roman" pitchFamily="34" charset="0"/>
                          <a:ea typeface="Times New Roman" pitchFamily="34" charset="-122"/>
                          <a:cs typeface="Times New Roman" pitchFamily="34" charset="-120"/>
                        </a:rPr>
                        <a:t>(ASPLOS ’25)</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F3A63"/>
                          </a:solidFill>
                          <a:latin typeface="Times New Roman" pitchFamily="34" charset="0"/>
                          <a:ea typeface="Times New Roman" pitchFamily="34" charset="-122"/>
                          <a:cs typeface="Times New Roman" pitchFamily="34" charset="-120"/>
                        </a:rPr>
                        <a:t>Το hotness είναι sub-page — το πλήθος των accesses ανά page σε ξεγελάει</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F3A63"/>
                          </a:solidFill>
                          <a:latin typeface="Times New Roman" pitchFamily="34" charset="0"/>
                          <a:ea typeface="Times New Roman" pitchFamily="34" charset="-122"/>
                          <a:cs typeface="Times New Roman" pitchFamily="34" charset="-120"/>
                        </a:rPr>
                        <a:t>Top-K trackers για pages (HPT) και για 64 B words (HWT)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1F3A63"/>
                          </a:solidFill>
                          <a:latin typeface="Courier New" pitchFamily="34" charset="0"/>
                          <a:ea typeface="Courier New" pitchFamily="34" charset="-122"/>
                          <a:cs typeface="Courier New" pitchFamily="34" charset="-120"/>
                        </a:rPr>
                        <a:t>profiling 64 B</a:t>
                      </a:r>
                      <a:endParaRPr lang="en-US" sz="1050" dirty="0">
                        <a:latin typeface="Courier New" charset="0"/>
                        <a:ea typeface="Courier New" charset="0"/>
                        <a:cs typeface="Courier New" charset="0"/>
                      </a:endParaRPr>
                    </a:p>
                    <a:p>
                      <a:pPr indent="0" marL="0">
                        <a:buNone/>
                      </a:pPr>
                      <a:r>
                        <a:rPr lang="en-US" sz="1050" b="1" dirty="0">
                          <a:solidFill>
                            <a:srgbClr val="1F3A63"/>
                          </a:solidFill>
                          <a:latin typeface="Courier New" pitchFamily="34" charset="0"/>
                          <a:ea typeface="Courier New" pitchFamily="34" charset="-122"/>
                          <a:cs typeface="Courier New" pitchFamily="34" charset="-120"/>
                        </a:rPr>
                        <a:t>migration 4 KB</a:t>
                      </a:r>
                      <a:endParaRPr lang="en-US" sz="10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74980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Memstrata</a:t>
                      </a:r>
                      <a:endParaRPr lang="en-US" sz="1350" dirty="0">
                        <a:latin typeface="Times New Roman" charset="0"/>
                        <a:ea typeface="Times New Roman" charset="0"/>
                        <a:cs typeface="Times New Roman" charset="0"/>
                      </a:endParaRPr>
                    </a:p>
                    <a:p>
                      <a:pPr indent="0" marL="0">
                        <a:buNone/>
                      </a:pPr>
                      <a:r>
                        <a:rPr lang="en-US" sz="1350" b="1" dirty="0">
                          <a:solidFill>
                            <a:srgbClr val="1A1A1A"/>
                          </a:solidFill>
                          <a:latin typeface="Times New Roman" pitchFamily="34" charset="0"/>
                          <a:ea typeface="Times New Roman" pitchFamily="34" charset="-122"/>
                          <a:cs typeface="Times New Roman" pitchFamily="34" charset="-120"/>
                        </a:rPr>
                        <a:t>(OSDI ’24)</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 hardware tiering δουλεύει — μέχρι να μπουν πολλές VMs και να συγκρουστούν</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Page coloring + online slowdown estimator</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1A1A1A"/>
                          </a:solidFill>
                          <a:latin typeface="Courier New" pitchFamily="34" charset="0"/>
                          <a:ea typeface="Courier New" pitchFamily="34" charset="-122"/>
                          <a:cs typeface="Courier New" pitchFamily="34" charset="-120"/>
                        </a:rPr>
                        <a:t>64 B (hardware)</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600200"/>
            <a:ext cx="10725912" cy="20117"/>
          </a:xfrm>
          <a:prstGeom prst="rect">
            <a:avLst/>
          </a:prstGeom>
          <a:solidFill>
            <a:srgbClr val="1A1A1A"/>
          </a:solidFill>
          <a:ln/>
        </p:spPr>
      </p:sp>
      <p:sp>
        <p:nvSpPr>
          <p:cNvPr id="10" name="Shape 7"/>
          <p:cNvSpPr/>
          <p:nvPr/>
        </p:nvSpPr>
        <p:spPr>
          <a:xfrm>
            <a:off x="777240" y="1984248"/>
            <a:ext cx="10725912" cy="9144"/>
          </a:xfrm>
          <a:prstGeom prst="rect">
            <a:avLst/>
          </a:prstGeom>
          <a:solidFill>
            <a:srgbClr val="BFBFBF"/>
          </a:solidFill>
          <a:ln/>
        </p:spPr>
      </p:sp>
      <p:sp>
        <p:nvSpPr>
          <p:cNvPr id="11" name="Shape 8"/>
          <p:cNvSpPr/>
          <p:nvPr/>
        </p:nvSpPr>
        <p:spPr>
          <a:xfrm>
            <a:off x="777240" y="4233672"/>
            <a:ext cx="10725912" cy="20117"/>
          </a:xfrm>
          <a:prstGeom prst="rect">
            <a:avLst/>
          </a:prstGeom>
          <a:solidFill>
            <a:srgbClr val="1A1A1A"/>
          </a:solidFill>
          <a:ln/>
        </p:spPr>
      </p:sp>
      <p:sp>
        <p:nvSpPr>
          <p:cNvPr id="12" name="Text 9"/>
          <p:cNvSpPr/>
          <p:nvPr/>
        </p:nvSpPr>
        <p:spPr>
          <a:xfrm>
            <a:off x="777240" y="5029200"/>
            <a:ext cx="10634472" cy="1005840"/>
          </a:xfrm>
          <a:prstGeom prst="rect">
            <a:avLst/>
          </a:prstGeom>
          <a:noFill/>
          <a:ln/>
        </p:spPr>
        <p:txBody>
          <a:bodyPr wrap="square" lIns="0" tIns="0" rIns="0" bIns="0" rtlCol="0" anchor="ctr"/>
          <a:lstStyle/>
          <a:p>
            <a:pPr algn="just" indent="0" marL="0">
              <a:lnSpc>
                <a:spcPts val="2200"/>
              </a:lnSpc>
              <a:buNone/>
            </a:pPr>
            <a:r>
              <a:rPr lang="en-US" sz="1500" b="1" dirty="0">
                <a:solidFill>
                  <a:srgbClr val="1A1A1A"/>
                </a:solidFill>
                <a:latin typeface="Times New Roman" pitchFamily="34" charset="0"/>
                <a:ea typeface="Times New Roman" pitchFamily="34" charset="-122"/>
                <a:cs typeface="Times New Roman" pitchFamily="34" charset="-120"/>
              </a:rPr>
              <a:t>Οι τρεις διαγνώσεις διαφωνούν, και αυτό βοηθάει: </a:t>
            </a:r>
            <a:pPr algn="just" indent="0" marL="0">
              <a:lnSpc>
                <a:spcPts val="2200"/>
              </a:lnSpc>
              <a:buNone/>
            </a:pPr>
            <a:r>
              <a:rPr lang="en-US" sz="1500" dirty="0">
                <a:solidFill>
                  <a:srgbClr val="1A1A1A"/>
                </a:solidFill>
                <a:latin typeface="Times New Roman" pitchFamily="34" charset="0"/>
                <a:ea typeface="Times New Roman" pitchFamily="34" charset="-122"/>
                <a:cs typeface="Times New Roman" pitchFamily="34" charset="-120"/>
              </a:rPr>
              <a:t>το NeoMem λέει ότι λείπει resolution στον χρόνο, το M5 ότι λείπει στον χώρο, και το Memstrata ότι το πρόβλημα βγαίνει μόνο όταν συνυπάρχουν πολλά workloads. Διαλέγω το M5, γιατί είναι πιο κοντά στην ιδέα του sub-page hotness.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§4.2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Ο τίμιος συμβιβασμός: pages ή lines;</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4. Σχετικές εργασίες</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9 / 14</a:t>
            </a:r>
            <a:endParaRPr lang="en-US" sz="950" dirty="0"/>
          </a:p>
        </p:txBody>
      </p:sp>
      <p:sp>
        <p:nvSpPr>
          <p:cNvPr id="7" name="Text 5"/>
          <p:cNvSpPr/>
          <p:nvPr/>
        </p:nvSpPr>
        <p:spPr>
          <a:xfrm>
            <a:off x="777240" y="1234440"/>
            <a:ext cx="1063447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4: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page migration (software) vs line caching (hardware).</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536192"/>
          <a:ext cx="10634472" cy="914400"/>
        </p:xfrm>
        <a:graphic>
          <a:graphicData uri="http://schemas.openxmlformats.org/drawingml/2006/table">
            <a:tbl>
              <a:tblPr/>
              <a:tblGrid>
                <a:gridCol w="3657600"/>
                <a:gridCol w="3474720"/>
                <a:gridCol w="3502152"/>
              </a:tblGrid>
              <a:tr h="384048">
                <a:tc>
                  <a:txBody>
                    <a:bodyPr/>
                    <a:lstStyle/>
                    <a:p>
                      <a:pPr indent="0" marL="0">
                        <a:buNone/>
                      </a:pPr>
                      <a:r>
                        <a:rPr lang="en-US" sz="1300" b="1" dirty="0">
                          <a:solidFill>
                            <a:srgbClr val="1A1A1A"/>
                          </a:solidFill>
                          <a:latin typeface="Times New Roman" pitchFamily="34" charset="0"/>
                          <a:ea typeface="Times New Roman" pitchFamily="34" charset="-122"/>
                          <a:cs typeface="Times New Roman" pitchFamily="34" charset="-120"/>
                        </a:rPr>
                        <a:t>Ιδιότητα</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A1A1A"/>
                          </a:solidFill>
                          <a:latin typeface="Times New Roman" pitchFamily="34" charset="0"/>
                          <a:ea typeface="Times New Roman" pitchFamily="34" charset="-122"/>
                          <a:cs typeface="Times New Roman" pitchFamily="34" charset="-120"/>
                        </a:rPr>
                        <a:t>Page migration (OS)</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A1A1A"/>
                          </a:solidFill>
                          <a:latin typeface="Times New Roman" pitchFamily="34" charset="0"/>
                          <a:ea typeface="Times New Roman" pitchFamily="34" charset="-122"/>
                          <a:cs typeface="Times New Roman" pitchFamily="34" charset="-120"/>
                        </a:rPr>
                        <a:t>Line caching (hardware)</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Unit</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4 KB / 2 MB</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64 B</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Ποιος αποφασίζει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το OS, με παλιά πληροφορία</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το hardware, reactively</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Waste στο transfer</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Μεγάλο</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Σχεδόν μηδέν</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Σταθερό κόστος ανά κίνηση</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μs (TLB shootdown)</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Metadata</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page tables (υπάρχουν ήδη)</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tag array — τεράστιο</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Capacity</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100% χρησιμοποιήσιμη</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το γρήγορο tier γίνεται cache</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Conflict misses</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Δεν υπάρχουν</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Ναι — και ανάμεσα σε VMs</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Νέο hardware</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Όχι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Ναι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536192"/>
            <a:ext cx="10634472" cy="20117"/>
          </a:xfrm>
          <a:prstGeom prst="rect">
            <a:avLst/>
          </a:prstGeom>
          <a:solidFill>
            <a:srgbClr val="1A1A1A"/>
          </a:solidFill>
          <a:ln/>
        </p:spPr>
      </p:sp>
      <p:sp>
        <p:nvSpPr>
          <p:cNvPr id="10" name="Shape 7"/>
          <p:cNvSpPr/>
          <p:nvPr/>
        </p:nvSpPr>
        <p:spPr>
          <a:xfrm>
            <a:off x="777240" y="1920240"/>
            <a:ext cx="10634472" cy="9144"/>
          </a:xfrm>
          <a:prstGeom prst="rect">
            <a:avLst/>
          </a:prstGeom>
          <a:solidFill>
            <a:srgbClr val="BFBFBF"/>
          </a:solidFill>
          <a:ln/>
        </p:spPr>
      </p:sp>
      <p:sp>
        <p:nvSpPr>
          <p:cNvPr id="11" name="Shape 8"/>
          <p:cNvSpPr/>
          <p:nvPr/>
        </p:nvSpPr>
        <p:spPr>
          <a:xfrm>
            <a:off x="777240" y="4846320"/>
            <a:ext cx="10634472" cy="20117"/>
          </a:xfrm>
          <a:prstGeom prst="rect">
            <a:avLst/>
          </a:prstGeom>
          <a:solidFill>
            <a:srgbClr val="1A1A1A"/>
          </a:solidFill>
          <a:ln/>
        </p:spPr>
      </p:sp>
      <p:sp>
        <p:nvSpPr>
          <p:cNvPr id="12" name="Text 9"/>
          <p:cNvSpPr/>
          <p:nvPr/>
        </p:nvSpPr>
        <p:spPr>
          <a:xfrm>
            <a:off x="777240" y="5212080"/>
            <a:ext cx="10634472" cy="914400"/>
          </a:xfrm>
          <a:prstGeom prst="rect">
            <a:avLst/>
          </a:prstGeom>
          <a:noFill/>
          <a:ln/>
        </p:spPr>
        <p:txBody>
          <a:bodyPr wrap="square" lIns="0" tIns="0" rIns="0" bIns="0" rtlCol="0" anchor="ctr"/>
          <a:lstStyle/>
          <a:p>
            <a:pPr algn="just" indent="0" marL="0">
              <a:lnSpc>
                <a:spcPts val="2100"/>
              </a:lnSpc>
              <a:buNone/>
            </a:pPr>
            <a:r>
              <a:rPr lang="en-US" sz="1450" b="1" dirty="0">
                <a:solidFill>
                  <a:srgbClr val="8C2A2A"/>
                </a:solidFill>
                <a:latin typeface="Times New Roman" pitchFamily="34" charset="0"/>
                <a:ea typeface="Times New Roman" pitchFamily="34" charset="-122"/>
                <a:cs typeface="Times New Roman" pitchFamily="34" charset="-120"/>
              </a:rPr>
              <a:t>Συμπέρασμα: </a:t>
            </a:r>
            <a:pPr algn="just" indent="0" marL="0">
              <a:lnSpc>
                <a:spcPts val="2100"/>
              </a:lnSpc>
              <a:buNone/>
            </a:pPr>
            <a:r>
              <a:rPr lang="en-US" sz="1450" dirty="0">
                <a:solidFill>
                  <a:srgbClr val="1A1A1A"/>
                </a:solidFill>
                <a:latin typeface="Times New Roman" pitchFamily="34" charset="0"/>
                <a:ea typeface="Times New Roman" pitchFamily="34" charset="-122"/>
                <a:cs typeface="Times New Roman" pitchFamily="34" charset="-120"/>
              </a:rPr>
              <a:t>το line granularity κόβει το waste και το σταθερό κόστος, αλλά φέρνει conflict misses, tag storage, και χάνεις τη γρήγορη capacity σαν χρησιμοποιήσιμη μνήμη. Δεν είναι καθαρή νίκη, και γι’ αυτό δεν έχει κλείσει το θέμα.</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§5.1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Το εργαλείο: CXLRAMSim</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10 / 14</a:t>
            </a:r>
            <a:endParaRPr lang="en-US" sz="950" dirty="0"/>
          </a:p>
        </p:txBody>
      </p:sp>
      <p:sp>
        <p:nvSpPr>
          <p:cNvPr id="7" name="Text 5"/>
          <p:cNvSpPr/>
          <p:nvPr/>
        </p:nvSpPr>
        <p:spPr>
          <a:xfrm>
            <a:off x="777240" y="1325880"/>
            <a:ext cx="10634472" cy="82296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Ο CXLRAMSim είναι full-system προσομοιωτής πάνω στο gem5 v25, που μπουτάρει Linux 6.14. Βάζει τη συσκευή CXL στη σωστή θέση πάνω στο I/O bus, οπότε ο kernel, οι drivers και το software stack μένουν αναλλοίωτα.</a:t>
            </a:r>
            <a:endParaRPr lang="en-US" sz="1600" dirty="0"/>
          </a:p>
        </p:txBody>
      </p:sp>
      <p:sp>
        <p:nvSpPr>
          <p:cNvPr id="8" name="Text 6"/>
          <p:cNvSpPr/>
          <p:nvPr/>
        </p:nvSpPr>
        <p:spPr>
          <a:xfrm>
            <a:off x="777240" y="2240280"/>
            <a:ext cx="10634472" cy="292608"/>
          </a:xfrm>
          <a:prstGeom prst="rect">
            <a:avLst/>
          </a:prstGeom>
          <a:noFill/>
          <a:ln/>
        </p:spPr>
        <p:txBody>
          <a:bodyPr wrap="square" lIns="0" tIns="0" rIns="0" bIns="0" rtlCol="0" anchor="ctr"/>
          <a:lstStyle/>
          <a:p>
            <a:pPr indent="0" marL="0">
              <a:buNone/>
            </a:pPr>
            <a:r>
              <a:rPr lang="en-US" sz="1450" b="1" dirty="0">
                <a:solidFill>
                  <a:srgbClr val="1A1A1A"/>
                </a:solidFill>
                <a:latin typeface="Times New Roman" pitchFamily="34" charset="0"/>
                <a:ea typeface="Times New Roman" pitchFamily="34" charset="-122"/>
                <a:cs typeface="Times New Roman" pitchFamily="34" charset="-120"/>
              </a:rPr>
              <a:t>Τι μοντελοποιεί:</a:t>
            </a:r>
            <a:endParaRPr lang="en-US" sz="1450" dirty="0"/>
          </a:p>
        </p:txBody>
      </p:sp>
      <p:sp>
        <p:nvSpPr>
          <p:cNvPr id="9" name="Text 7"/>
          <p:cNvSpPr/>
          <p:nvPr/>
        </p:nvSpPr>
        <p:spPr>
          <a:xfrm>
            <a:off x="868680" y="2578608"/>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0" name="Text 8"/>
          <p:cNvSpPr/>
          <p:nvPr/>
        </p:nvSpPr>
        <p:spPr>
          <a:xfrm>
            <a:off x="1188720" y="2578608"/>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Firmware. </a:t>
            </a:r>
            <a:pPr indent="0" marL="0">
              <a:buNone/>
            </a:pPr>
            <a:r>
              <a:rPr lang="en-US" sz="1400" dirty="0">
                <a:solidFill>
                  <a:srgbClr val="1A1A1A"/>
                </a:solidFill>
                <a:latin typeface="Times New Roman" pitchFamily="34" charset="0"/>
                <a:ea typeface="Times New Roman" pitchFamily="34" charset="-122"/>
                <a:cs typeface="Times New Roman" pitchFamily="34" charset="-120"/>
              </a:rPr>
              <a:t>ACPI tables (MCFG, DSDT, CEDT, SRAT) για το discovery της τοπολογίας.</a:t>
            </a:r>
            <a:endParaRPr lang="en-US" sz="1400" dirty="0"/>
          </a:p>
        </p:txBody>
      </p:sp>
      <p:sp>
        <p:nvSpPr>
          <p:cNvPr id="11" name="Text 9"/>
          <p:cNvSpPr/>
          <p:nvPr/>
        </p:nvSpPr>
        <p:spPr>
          <a:xfrm>
            <a:off x="868680" y="2962656"/>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2" name="Text 10"/>
          <p:cNvSpPr/>
          <p:nvPr/>
        </p:nvSpPr>
        <p:spPr>
          <a:xfrm>
            <a:off x="1188720" y="2962656"/>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CXL.io. </a:t>
            </a:r>
            <a:pPr indent="0" marL="0">
              <a:buNone/>
            </a:pPr>
            <a:r>
              <a:rPr lang="en-US" sz="1400" dirty="0">
                <a:solidFill>
                  <a:srgbClr val="1A1A1A"/>
                </a:solidFill>
                <a:latin typeface="Times New Roman" pitchFamily="34" charset="0"/>
                <a:ea typeface="Times New Roman" pitchFamily="34" charset="-122"/>
                <a:cs typeface="Times New Roman" pitchFamily="34" charset="-120"/>
              </a:rPr>
              <a:t>Root Complex και registers για το enumeration της συσκευής.</a:t>
            </a:r>
            <a:endParaRPr lang="en-US" sz="1400" dirty="0"/>
          </a:p>
        </p:txBody>
      </p:sp>
      <p:sp>
        <p:nvSpPr>
          <p:cNvPr id="13" name="Text 11"/>
          <p:cNvSpPr/>
          <p:nvPr/>
        </p:nvSpPr>
        <p:spPr>
          <a:xfrm>
            <a:off x="868680" y="3346704"/>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4" name="Text 12"/>
          <p:cNvSpPr/>
          <p:nvPr/>
        </p:nvSpPr>
        <p:spPr>
          <a:xfrm>
            <a:off x="1188720" y="3346704"/>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CXL.mem. </a:t>
            </a:r>
            <a:pPr indent="0" marL="0">
              <a:buNone/>
            </a:pPr>
            <a:r>
              <a:rPr lang="en-US" sz="1400" dirty="0">
                <a:solidFill>
                  <a:srgbClr val="1A1A1A"/>
                </a:solidFill>
                <a:latin typeface="Times New Roman" pitchFamily="34" charset="0"/>
                <a:ea typeface="Times New Roman" pitchFamily="34" charset="-122"/>
                <a:cs typeface="Times New Roman" pitchFamily="34" charset="-120"/>
              </a:rPr>
              <a:t>transaction layer με M2S / S2M channels και packetization στα άκρα.</a:t>
            </a:r>
            <a:endParaRPr lang="en-US" sz="1400" dirty="0"/>
          </a:p>
        </p:txBody>
      </p:sp>
      <p:sp>
        <p:nvSpPr>
          <p:cNvPr id="15" name="Text 13"/>
          <p:cNvSpPr/>
          <p:nvPr/>
        </p:nvSpPr>
        <p:spPr>
          <a:xfrm>
            <a:off x="868680" y="3730752"/>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6" name="Text 14"/>
          <p:cNvSpPr/>
          <p:nvPr/>
        </p:nvSpPr>
        <p:spPr>
          <a:xfrm>
            <a:off x="1188720" y="3730752"/>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Coherence. </a:t>
            </a:r>
            <a:pPr indent="0" marL="0">
              <a:buNone/>
            </a:pPr>
            <a:r>
              <a:rPr lang="en-US" sz="1400" dirty="0">
                <a:solidFill>
                  <a:srgbClr val="1A1A1A"/>
                </a:solidFill>
                <a:latin typeface="Times New Roman" pitchFamily="34" charset="0"/>
                <a:ea typeface="Times New Roman" pitchFamily="34" charset="-122"/>
                <a:cs typeface="Times New Roman" pitchFamily="34" charset="-120"/>
              </a:rPr>
              <a:t>MESI δύο επιπέδων με directory (Ruby).</a:t>
            </a:r>
            <a:endParaRPr lang="en-US" sz="1400" dirty="0"/>
          </a:p>
        </p:txBody>
      </p:sp>
      <p:sp>
        <p:nvSpPr>
          <p:cNvPr id="17" name="Shape 15"/>
          <p:cNvSpPr/>
          <p:nvPr/>
        </p:nvSpPr>
        <p:spPr>
          <a:xfrm>
            <a:off x="777240" y="4343400"/>
            <a:ext cx="10634472" cy="1600200"/>
          </a:xfrm>
          <a:prstGeom prst="rect">
            <a:avLst/>
          </a:prstGeom>
          <a:solidFill>
            <a:srgbClr val="F0F0EE"/>
          </a:solidFill>
          <a:ln/>
        </p:spPr>
      </p:sp>
      <p:sp>
        <p:nvSpPr>
          <p:cNvPr id="18" name="Text 16"/>
          <p:cNvSpPr/>
          <p:nvPr/>
        </p:nvSpPr>
        <p:spPr>
          <a:xfrm>
            <a:off x="960120" y="4453128"/>
            <a:ext cx="10268712"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Πού μπαίνει ο δικός μου κώδικας</a:t>
            </a:r>
            <a:endParaRPr lang="en-US" sz="1450" dirty="0"/>
          </a:p>
        </p:txBody>
      </p:sp>
      <p:sp>
        <p:nvSpPr>
          <p:cNvPr id="19" name="Text 17"/>
          <p:cNvSpPr/>
          <p:nvPr/>
        </p:nvSpPr>
        <p:spPr>
          <a:xfrm>
            <a:off x="960120" y="4782312"/>
            <a:ext cx="10268712" cy="105156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Εκεί που ο CXL node κάνει de-packetize ένα M2S request σε access στη DRAM, έχω το triple {physical address, read/write, timestamp}. Αυτό είναι ακριβώς το stream των LLC misses προς την CXL που κάνουν profiling το NeoMem και το M5· τίποτα άλλο δεν φαίνεται από εκεί. Ο profiler μπαίνει σαν tap πάνω σε αυτό το path.</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§5.2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Σχέδιο του πειράματος</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11 / 14</a:t>
            </a:r>
            <a:endParaRPr lang="en-US" sz="950" dirty="0"/>
          </a:p>
        </p:txBody>
      </p:sp>
      <p:sp>
        <p:nvSpPr>
          <p:cNvPr id="7" name="Text 5"/>
          <p:cNvSpPr/>
          <p:nvPr/>
        </p:nvSpPr>
        <p:spPr>
          <a:xfrm>
            <a:off x="777240" y="1298448"/>
            <a:ext cx="5120640" cy="292608"/>
          </a:xfrm>
          <a:prstGeom prst="rect">
            <a:avLst/>
          </a:prstGeom>
          <a:noFill/>
          <a:ln/>
        </p:spPr>
        <p:txBody>
          <a:bodyPr wrap="square" lIns="0" tIns="0" rIns="0" bIns="0" rtlCol="0" anchor="ctr"/>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Πέντε cases για σύγκριση.</a:t>
            </a:r>
            <a:endParaRPr lang="en-US" sz="1500" dirty="0"/>
          </a:p>
        </p:txBody>
      </p:sp>
      <p:sp>
        <p:nvSpPr>
          <p:cNvPr id="8" name="Text 6"/>
          <p:cNvSpPr/>
          <p:nvPr/>
        </p:nvSpPr>
        <p:spPr>
          <a:xfrm>
            <a:off x="777240" y="1664208"/>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1.</a:t>
            </a:r>
            <a:endParaRPr lang="en-US" sz="1400" dirty="0"/>
          </a:p>
        </p:txBody>
      </p:sp>
      <p:sp>
        <p:nvSpPr>
          <p:cNvPr id="9" name="Text 7"/>
          <p:cNvSpPr/>
          <p:nvPr/>
        </p:nvSpPr>
        <p:spPr>
          <a:xfrm>
            <a:off x="1143000" y="1664208"/>
            <a:ext cx="5029200" cy="310896"/>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Όλα στην CXL</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lower bound</a:t>
            </a:r>
            <a:endParaRPr lang="en-US" sz="1400" dirty="0"/>
          </a:p>
        </p:txBody>
      </p:sp>
      <p:sp>
        <p:nvSpPr>
          <p:cNvPr id="10" name="Text 8"/>
          <p:cNvSpPr/>
          <p:nvPr/>
        </p:nvSpPr>
        <p:spPr>
          <a:xfrm>
            <a:off x="777240" y="2066544"/>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2.</a:t>
            </a:r>
            <a:endParaRPr lang="en-US" sz="1400" dirty="0"/>
          </a:p>
        </p:txBody>
      </p:sp>
      <p:sp>
        <p:nvSpPr>
          <p:cNvPr id="11" name="Text 9"/>
          <p:cNvSpPr/>
          <p:nvPr/>
        </p:nvSpPr>
        <p:spPr>
          <a:xfrm>
            <a:off x="1143000" y="2066544"/>
            <a:ext cx="5029200" cy="310896"/>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Όλα σε τοπική DRAM</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upper bound</a:t>
            </a:r>
            <a:endParaRPr lang="en-US" sz="1400" dirty="0"/>
          </a:p>
        </p:txBody>
      </p:sp>
      <p:sp>
        <p:nvSpPr>
          <p:cNvPr id="12" name="Text 10"/>
          <p:cNvSpPr/>
          <p:nvPr/>
        </p:nvSpPr>
        <p:spPr>
          <a:xfrm>
            <a:off x="777240" y="2468880"/>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3.</a:t>
            </a:r>
            <a:endParaRPr lang="en-US" sz="1400" dirty="0"/>
          </a:p>
        </p:txBody>
      </p:sp>
      <p:sp>
        <p:nvSpPr>
          <p:cNvPr id="13" name="Text 11"/>
          <p:cNvSpPr/>
          <p:nvPr/>
        </p:nvSpPr>
        <p:spPr>
          <a:xfrm>
            <a:off x="1143000" y="2468880"/>
            <a:ext cx="5029200" cy="310896"/>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Απλό page migration</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το «πρόβλημα»</a:t>
            </a:r>
            <a:endParaRPr lang="en-US" sz="1400" dirty="0"/>
          </a:p>
        </p:txBody>
      </p:sp>
      <p:sp>
        <p:nvSpPr>
          <p:cNvPr id="14" name="Text 12"/>
          <p:cNvSpPr/>
          <p:nvPr/>
        </p:nvSpPr>
        <p:spPr>
          <a:xfrm>
            <a:off x="777240" y="2871216"/>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4.</a:t>
            </a:r>
            <a:endParaRPr lang="en-US" sz="1400" dirty="0"/>
          </a:p>
        </p:txBody>
      </p:sp>
      <p:sp>
        <p:nvSpPr>
          <p:cNvPr id="15" name="Text 13"/>
          <p:cNvSpPr/>
          <p:nvPr/>
        </p:nvSpPr>
        <p:spPr>
          <a:xfrm>
            <a:off x="1143000" y="2871216"/>
            <a:ext cx="5029200" cy="310896"/>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Ο μηχανισμός του M5 (HPT + HWT)</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η πρόταση</a:t>
            </a:r>
            <a:endParaRPr lang="en-US" sz="1400" dirty="0"/>
          </a:p>
        </p:txBody>
      </p:sp>
      <p:sp>
        <p:nvSpPr>
          <p:cNvPr id="16" name="Text 14"/>
          <p:cNvSpPr/>
          <p:nvPr/>
        </p:nvSpPr>
        <p:spPr>
          <a:xfrm>
            <a:off x="777240" y="3273552"/>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5.</a:t>
            </a:r>
            <a:endParaRPr lang="en-US" sz="1400" dirty="0"/>
          </a:p>
        </p:txBody>
      </p:sp>
      <p:sp>
        <p:nvSpPr>
          <p:cNvPr id="17" name="Text 15"/>
          <p:cNvSpPr/>
          <p:nvPr/>
        </p:nvSpPr>
        <p:spPr>
          <a:xfrm>
            <a:off x="1143000" y="3273552"/>
            <a:ext cx="5029200" cy="310896"/>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Oracle placement</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offline βέλτιστο</a:t>
            </a:r>
            <a:endParaRPr lang="en-US" sz="1400" dirty="0"/>
          </a:p>
        </p:txBody>
      </p:sp>
      <p:sp>
        <p:nvSpPr>
          <p:cNvPr id="18" name="Text 16"/>
          <p:cNvSpPr/>
          <p:nvPr/>
        </p:nvSpPr>
        <p:spPr>
          <a:xfrm>
            <a:off x="777240" y="3794760"/>
            <a:ext cx="5120640" cy="640080"/>
          </a:xfrm>
          <a:prstGeom prst="rect">
            <a:avLst/>
          </a:prstGeom>
          <a:noFill/>
          <a:ln/>
        </p:spPr>
        <p:txBody>
          <a:bodyPr wrap="square" lIns="0" tIns="0" rIns="0" bIns="0" rtlCol="0" anchor="ctr"/>
          <a:lstStyle/>
          <a:p>
            <a:pPr algn="just" indent="0" marL="0">
              <a:lnSpc>
                <a:spcPts val="2000"/>
              </a:lnSpc>
              <a:buNone/>
            </a:pPr>
            <a:r>
              <a:rPr lang="en-US" sz="1400" i="1" dirty="0">
                <a:solidFill>
                  <a:srgbClr val="8C2A2A"/>
                </a:solidFill>
                <a:latin typeface="Times New Roman" pitchFamily="34" charset="0"/>
                <a:ea typeface="Times New Roman" pitchFamily="34" charset="-122"/>
                <a:cs typeface="Times New Roman" pitchFamily="34" charset="-120"/>
              </a:rPr>
              <a:t>Η απόσταση ανάμεσα στο απλό migration και στο oracle είναι ακριβώς το πρόβλημα που θέλω να δείξω.</a:t>
            </a:r>
            <a:endParaRPr lang="en-US" sz="1400" dirty="0"/>
          </a:p>
        </p:txBody>
      </p:sp>
      <p:sp>
        <p:nvSpPr>
          <p:cNvPr id="19" name="Shape 17"/>
          <p:cNvSpPr/>
          <p:nvPr/>
        </p:nvSpPr>
        <p:spPr>
          <a:xfrm>
            <a:off x="6172200" y="1325880"/>
            <a:ext cx="9144" cy="4023360"/>
          </a:xfrm>
          <a:prstGeom prst="rect">
            <a:avLst/>
          </a:prstGeom>
          <a:solidFill>
            <a:srgbClr val="BFBFBF"/>
          </a:solidFill>
          <a:ln/>
        </p:spPr>
      </p:sp>
      <p:sp>
        <p:nvSpPr>
          <p:cNvPr id="20" name="Text 18"/>
          <p:cNvSpPr/>
          <p:nvPr/>
        </p:nvSpPr>
        <p:spPr>
          <a:xfrm>
            <a:off x="6492240" y="1298448"/>
            <a:ext cx="4937760" cy="292608"/>
          </a:xfrm>
          <a:prstGeom prst="rect">
            <a:avLst/>
          </a:prstGeom>
          <a:noFill/>
          <a:ln/>
        </p:spPr>
        <p:txBody>
          <a:bodyPr wrap="square" lIns="0" tIns="0" rIns="0" bIns="0" rtlCol="0" anchor="ctr"/>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Workloads.</a:t>
            </a:r>
            <a:endParaRPr lang="en-US" sz="1500" dirty="0"/>
          </a:p>
        </p:txBody>
      </p:sp>
      <p:sp>
        <p:nvSpPr>
          <p:cNvPr id="21" name="Text 19"/>
          <p:cNvSpPr/>
          <p:nvPr/>
        </p:nvSpPr>
        <p:spPr>
          <a:xfrm>
            <a:off x="6492240" y="1645920"/>
            <a:ext cx="4937760" cy="1554480"/>
          </a:xfrm>
          <a:prstGeom prst="rect">
            <a:avLst/>
          </a:prstGeom>
          <a:noFill/>
          <a:ln/>
        </p:spPr>
        <p:txBody>
          <a:bodyPr wrap="square" lIns="0" tIns="0" rIns="0" bIns="0" rtlCol="0" anchor="ctr"/>
          <a:lstStyle/>
          <a:p>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GUPS</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τυχαία 8 B updates, μηδέν spatial locality (η χειρότερη περίπτωση)
</a:t>
            </a:r>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XSBench</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Monte Carlo lookups σε μεγάλα tables
</a:t>
            </a:r>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PageRank</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irregular graph access, το hot set μετακινείται
</a:t>
            </a:r>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Btree / YCSB-C</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Zipf, ακραίο sub-page hotness</a:t>
            </a:r>
            <a:endParaRPr lang="en-US" sz="1350" dirty="0"/>
          </a:p>
        </p:txBody>
      </p:sp>
      <p:sp>
        <p:nvSpPr>
          <p:cNvPr id="22" name="Text 20"/>
          <p:cNvSpPr/>
          <p:nvPr/>
        </p:nvSpPr>
        <p:spPr>
          <a:xfrm>
            <a:off x="6492240" y="3520440"/>
            <a:ext cx="4937760" cy="292608"/>
          </a:xfrm>
          <a:prstGeom prst="rect">
            <a:avLst/>
          </a:prstGeom>
          <a:noFill/>
          <a:ln/>
        </p:spPr>
        <p:txBody>
          <a:bodyPr wrap="square" lIns="0" tIns="0" rIns="0" bIns="0" rtlCol="0" anchor="ctr"/>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Metrics.</a:t>
            </a:r>
            <a:endParaRPr lang="en-US" sz="1500" dirty="0"/>
          </a:p>
        </p:txBody>
      </p:sp>
      <p:sp>
        <p:nvSpPr>
          <p:cNvPr id="23" name="Text 21"/>
          <p:cNvSpPr/>
          <p:nvPr/>
        </p:nvSpPr>
        <p:spPr>
          <a:xfrm>
            <a:off x="6492240" y="3867912"/>
            <a:ext cx="4937760" cy="1783080"/>
          </a:xfrm>
          <a:prstGeom prst="rect">
            <a:avLst/>
          </a:prstGeom>
          <a:noFill/>
          <a:ln/>
        </p:spPr>
        <p:txBody>
          <a:bodyPr wrap="square" lIns="0" tIns="0" rIns="0" bIns="0" rtlCol="0" anchor="ctr"/>
          <a:lstStyle/>
          <a:p>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CDF του access density ανά 64 B line
</a:t>
            </a:r>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migration efficiency: bytes που μετακινήθηκαν ÷ bytes που όντως χρησιμοποιήθηκαν
</a:t>
            </a:r>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promotion timeliness· πόσα pages είναι ακόμα hot την ώρα του promotion
</a:t>
            </a:r>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slowdown vs το fast-tier ratio· αριθμός από ping-pongs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§5.3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Το σχήμα που θα το κρίνει</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12 / 14</a:t>
            </a:r>
            <a:endParaRPr lang="en-US" sz="950" dirty="0"/>
          </a:p>
        </p:txBody>
      </p:sp>
      <p:sp>
        <p:nvSpPr>
          <p:cNvPr id="7" name="Text 5"/>
          <p:cNvSpPr/>
          <p:nvPr/>
        </p:nvSpPr>
        <p:spPr>
          <a:xfrm>
            <a:off x="777240" y="1325880"/>
            <a:ext cx="4709160" cy="1463040"/>
          </a:xfrm>
          <a:prstGeom prst="rect">
            <a:avLst/>
          </a:prstGeom>
          <a:noFill/>
          <a:ln/>
        </p:spPr>
        <p:txBody>
          <a:bodyPr wrap="square" lIns="0" tIns="0" rIns="0" bIns="0" rtlCol="0" anchor="ctr"/>
          <a:lstStyle/>
          <a:p>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Για κάθε page 4 KB μετράω τι ποσοστό των accesses του πέφτει στις k πιο hot 64 B lines. Αν το 80% των accesses πέφτει σε λιγότερο από 10% του page, το επιχείρημα του granularity αποδεικνύεται με ένα μόνο γράφημα (Σχήμα 3).</a:t>
            </a:r>
            <a:endParaRPr lang="en-US" sz="1500" dirty="0"/>
          </a:p>
        </p:txBody>
      </p:sp>
      <p:sp>
        <p:nvSpPr>
          <p:cNvPr id="8" name="Text 6"/>
          <p:cNvSpPr/>
          <p:nvPr/>
        </p:nvSpPr>
        <p:spPr>
          <a:xfrm>
            <a:off x="777240" y="2971800"/>
            <a:ext cx="4709160" cy="1737360"/>
          </a:xfrm>
          <a:prstGeom prst="rect">
            <a:avLst/>
          </a:prstGeom>
          <a:noFill/>
          <a:ln/>
        </p:spPr>
        <p:txBody>
          <a:bodyPr wrap="square" lIns="0" tIns="0" rIns="0" bIns="0" rtlCol="0" anchor="ctr"/>
          <a:lstStyle/>
          <a:p>
            <a:pPr algn="just" indent="0" marL="0">
              <a:lnSpc>
                <a:spcPts val="2100"/>
              </a:lnSpc>
              <a:buNone/>
            </a:pPr>
            <a:r>
              <a:rPr lang="en-US" sz="1400" b="1" dirty="0">
                <a:solidFill>
                  <a:srgbClr val="8C2A2A"/>
                </a:solidFill>
                <a:latin typeface="Times New Roman" pitchFamily="34" charset="0"/>
                <a:ea typeface="Times New Roman" pitchFamily="34" charset="-122"/>
                <a:cs typeface="Times New Roman" pitchFamily="34" charset="-120"/>
              </a:rPr>
              <a:t>Επιφύλαξη. </a:t>
            </a:r>
            <a:pPr algn="just" indent="0" marL="0">
              <a:lnSpc>
                <a:spcPts val="2100"/>
              </a:lnSpc>
              <a:buNone/>
            </a:pPr>
            <a:r>
              <a:rPr lang="en-US" sz="1400" dirty="0">
                <a:solidFill>
                  <a:srgbClr val="1A1A1A"/>
                </a:solidFill>
                <a:latin typeface="Times New Roman" pitchFamily="34" charset="0"/>
                <a:ea typeface="Times New Roman" pitchFamily="34" charset="-122"/>
                <a:cs typeface="Times New Roman" pitchFamily="34" charset="-120"/>
              </a:rPr>
              <a:t>Η καμπύλη είναι το αναμενόμενο σχήμα, όχι πραγματικά δεδομένα· ο προσομοιωτής δεν έχει τρέξει ακόμα. Αν βγει επίπεδη, το επιχείρημα του sub-page hotness πέφτει για αυτό το workload — που είναι εξίσου χρήσιμο αποτέλεσμα.</a:t>
            </a:r>
            <a:endParaRPr lang="en-US" sz="1400" dirty="0"/>
          </a:p>
        </p:txBody>
      </p:sp>
      <p:graphicFrame>
        <p:nvGraphicFramePr>
          <p:cNvPr id="9" name="Chart 0" descr=""/>
          <p:cNvGraphicFramePr/>
          <p:nvPr/>
        </p:nvGraphicFramePr>
        <p:xfrm>
          <a:off x="5806440" y="1371600"/>
          <a:ext cx="5605272" cy="37033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5806440" y="5166360"/>
            <a:ext cx="5605272" cy="292608"/>
          </a:xfrm>
          <a:prstGeom prst="rect">
            <a:avLst/>
          </a:prstGeom>
          <a:noFill/>
          <a:ln/>
        </p:spPr>
        <p:txBody>
          <a:bodyPr wrap="square" lIns="0" tIns="0" rIns="0" bIns="0" rtlCol="0" anchor="ctr"/>
          <a:lstStyle/>
          <a:p>
            <a:pPr algn="ctr"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3: </a:t>
            </a:r>
            <a:pPr algn="ctr" indent="0" marL="0">
              <a:buNone/>
            </a:pPr>
            <a:r>
              <a:rPr lang="en-US" sz="1100" i="1" dirty="0">
                <a:solidFill>
                  <a:srgbClr val="6E6E6E"/>
                </a:solidFill>
                <a:latin typeface="Times New Roman" pitchFamily="34" charset="0"/>
                <a:ea typeface="Times New Roman" pitchFamily="34" charset="-122"/>
                <a:cs typeface="Times New Roman" pitchFamily="34" charset="-120"/>
              </a:rPr>
              <a:t>cumulative % των accesses στις k πιο hot 64 B lines (αναμενόμενο σχήμα).</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§6.1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Φάσεις υλοποίησης και ρίσκο</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6. Πλάνο &amp; συζήτηση</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13 / 14</a:t>
            </a:r>
            <a:endParaRPr lang="en-US" sz="950" dirty="0"/>
          </a:p>
        </p:txBody>
      </p:sp>
      <p:sp>
        <p:nvSpPr>
          <p:cNvPr id="7" name="Text 5"/>
          <p:cNvSpPr/>
          <p:nvPr/>
        </p:nvSpPr>
        <p:spPr>
          <a:xfrm>
            <a:off x="777240" y="1371600"/>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1.</a:t>
            </a:r>
            <a:endParaRPr lang="en-US" sz="1500" dirty="0"/>
          </a:p>
        </p:txBody>
      </p:sp>
      <p:sp>
        <p:nvSpPr>
          <p:cNvPr id="8" name="Text 6"/>
          <p:cNvSpPr/>
          <p:nvPr/>
        </p:nvSpPr>
        <p:spPr>
          <a:xfrm>
            <a:off x="1874520" y="1371600"/>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Boot &amp; checkpoint.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Boot μέχρι shell, επιβεβαίωση του zNUMA node, latency microbenchmark («να δείξω ότι η CXL είναι όντως πιο αργή»).</a:t>
            </a:r>
            <a:endParaRPr lang="en-US" sz="1450" dirty="0"/>
          </a:p>
        </p:txBody>
      </p:sp>
      <p:sp>
        <p:nvSpPr>
          <p:cNvPr id="9" name="Shape 7"/>
          <p:cNvSpPr/>
          <p:nvPr/>
        </p:nvSpPr>
        <p:spPr>
          <a:xfrm>
            <a:off x="1874520" y="2011680"/>
            <a:ext cx="9537192" cy="5486"/>
          </a:xfrm>
          <a:prstGeom prst="rect">
            <a:avLst/>
          </a:prstGeom>
          <a:solidFill>
            <a:srgbClr val="E8E8E8"/>
          </a:solidFill>
          <a:ln/>
        </p:spPr>
      </p:sp>
      <p:sp>
        <p:nvSpPr>
          <p:cNvPr id="10" name="Text 8"/>
          <p:cNvSpPr/>
          <p:nvPr/>
        </p:nvSpPr>
        <p:spPr>
          <a:xfrm>
            <a:off x="777240" y="2121408"/>
            <a:ext cx="1051560" cy="292608"/>
          </a:xfrm>
          <a:prstGeom prst="rect">
            <a:avLst/>
          </a:prstGeom>
          <a:noFill/>
          <a:ln/>
        </p:spPr>
        <p:txBody>
          <a:bodyPr wrap="square" lIns="0" tIns="0" rIns="0" bIns="0" rtlCol="0" anchor="t"/>
          <a:lstStyle/>
          <a:p>
            <a:pPr indent="0" marL="0">
              <a:buNone/>
            </a:pPr>
            <a:r>
              <a:rPr lang="en-US" sz="1500" b="1" dirty="0">
                <a:solidFill>
                  <a:srgbClr val="8C2A2A"/>
                </a:solidFill>
                <a:latin typeface="Times New Roman" pitchFamily="34" charset="0"/>
                <a:ea typeface="Times New Roman" pitchFamily="34" charset="-122"/>
                <a:cs typeface="Times New Roman" pitchFamily="34" charset="-120"/>
              </a:rPr>
              <a:t>Φάση 2.</a:t>
            </a:r>
            <a:endParaRPr lang="en-US" sz="1500" dirty="0"/>
          </a:p>
        </p:txBody>
      </p:sp>
      <p:sp>
        <p:nvSpPr>
          <p:cNvPr id="11" name="Text 9"/>
          <p:cNvSpPr/>
          <p:nvPr/>
        </p:nvSpPr>
        <p:spPr>
          <a:xfrm>
            <a:off x="1874520" y="2121408"/>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8C2A2A"/>
                </a:solidFill>
                <a:latin typeface="Times New Roman" pitchFamily="34" charset="0"/>
                <a:ea typeface="Times New Roman" pitchFamily="34" charset="-122"/>
                <a:cs typeface="Times New Roman" pitchFamily="34" charset="-120"/>
              </a:rPr>
              <a:t>Access tracing.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Tap στο request stream της συσκευής και CDF του access density — το πρώτο πραγματικό αποτέλεσμα.</a:t>
            </a:r>
            <a:endParaRPr lang="en-US" sz="1450" dirty="0"/>
          </a:p>
        </p:txBody>
      </p:sp>
      <p:sp>
        <p:nvSpPr>
          <p:cNvPr id="12" name="Shape 10"/>
          <p:cNvSpPr/>
          <p:nvPr/>
        </p:nvSpPr>
        <p:spPr>
          <a:xfrm>
            <a:off x="1874520" y="2761488"/>
            <a:ext cx="9537192" cy="5486"/>
          </a:xfrm>
          <a:prstGeom prst="rect">
            <a:avLst/>
          </a:prstGeom>
          <a:solidFill>
            <a:srgbClr val="E8E8E8"/>
          </a:solidFill>
          <a:ln/>
        </p:spPr>
      </p:sp>
      <p:sp>
        <p:nvSpPr>
          <p:cNvPr id="13" name="Text 11"/>
          <p:cNvSpPr/>
          <p:nvPr/>
        </p:nvSpPr>
        <p:spPr>
          <a:xfrm>
            <a:off x="777240" y="2871216"/>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3.</a:t>
            </a:r>
            <a:endParaRPr lang="en-US" sz="1500" dirty="0"/>
          </a:p>
        </p:txBody>
      </p:sp>
      <p:sp>
        <p:nvSpPr>
          <p:cNvPr id="14" name="Text 12"/>
          <p:cNvSpPr/>
          <p:nvPr/>
        </p:nvSpPr>
        <p:spPr>
          <a:xfrm>
            <a:off x="1874520" y="2871216"/>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Baseline migration.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Απλό page migration με τίμιο cost model και bandwidth quota.</a:t>
            </a:r>
            <a:endParaRPr lang="en-US" sz="1450" dirty="0"/>
          </a:p>
        </p:txBody>
      </p:sp>
      <p:sp>
        <p:nvSpPr>
          <p:cNvPr id="15" name="Shape 13"/>
          <p:cNvSpPr/>
          <p:nvPr/>
        </p:nvSpPr>
        <p:spPr>
          <a:xfrm>
            <a:off x="1874520" y="3511296"/>
            <a:ext cx="9537192" cy="5486"/>
          </a:xfrm>
          <a:prstGeom prst="rect">
            <a:avLst/>
          </a:prstGeom>
          <a:solidFill>
            <a:srgbClr val="E8E8E8"/>
          </a:solidFill>
          <a:ln/>
        </p:spPr>
      </p:sp>
      <p:sp>
        <p:nvSpPr>
          <p:cNvPr id="16" name="Text 14"/>
          <p:cNvSpPr/>
          <p:nvPr/>
        </p:nvSpPr>
        <p:spPr>
          <a:xfrm>
            <a:off x="777240" y="3621024"/>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4.</a:t>
            </a:r>
            <a:endParaRPr lang="en-US" sz="1500" dirty="0"/>
          </a:p>
        </p:txBody>
      </p:sp>
      <p:sp>
        <p:nvSpPr>
          <p:cNvPr id="17" name="Text 15"/>
          <p:cNvSpPr/>
          <p:nvPr/>
        </p:nvSpPr>
        <p:spPr>
          <a:xfrm>
            <a:off x="1874520" y="3621024"/>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Υλοποίηση του M5.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Πρώτα ο HPT (hot pages), μετά ο HWT (hot 64 B words) σαν το κομμάτι που κάνει τη διαφορά.</a:t>
            </a:r>
            <a:endParaRPr lang="en-US" sz="1450" dirty="0"/>
          </a:p>
        </p:txBody>
      </p:sp>
      <p:sp>
        <p:nvSpPr>
          <p:cNvPr id="18" name="Shape 16"/>
          <p:cNvSpPr/>
          <p:nvPr/>
        </p:nvSpPr>
        <p:spPr>
          <a:xfrm>
            <a:off x="1874520" y="4261104"/>
            <a:ext cx="9537192" cy="5486"/>
          </a:xfrm>
          <a:prstGeom prst="rect">
            <a:avLst/>
          </a:prstGeom>
          <a:solidFill>
            <a:srgbClr val="E8E8E8"/>
          </a:solidFill>
          <a:ln/>
        </p:spPr>
      </p:sp>
      <p:sp>
        <p:nvSpPr>
          <p:cNvPr id="19" name="Text 17"/>
          <p:cNvSpPr/>
          <p:nvPr/>
        </p:nvSpPr>
        <p:spPr>
          <a:xfrm>
            <a:off x="777240" y="4370832"/>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5.</a:t>
            </a:r>
            <a:endParaRPr lang="en-US" sz="1500" dirty="0"/>
          </a:p>
        </p:txBody>
      </p:sp>
      <p:sp>
        <p:nvSpPr>
          <p:cNvPr id="20" name="Text 18"/>
          <p:cNvSpPr/>
          <p:nvPr/>
        </p:nvSpPr>
        <p:spPr>
          <a:xfrm>
            <a:off x="1874520" y="4370832"/>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Evaluation &amp; γράψιμο.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Sensitivity ως προς K, interval, quota, CXL latency.</a:t>
            </a:r>
            <a:endParaRPr lang="en-US" sz="1450" dirty="0"/>
          </a:p>
        </p:txBody>
      </p:sp>
      <p:sp>
        <p:nvSpPr>
          <p:cNvPr id="21" name="Text 19"/>
          <p:cNvSpPr/>
          <p:nvPr/>
        </p:nvSpPr>
        <p:spPr>
          <a:xfrm>
            <a:off x="777240" y="5257800"/>
            <a:ext cx="10634472" cy="731520"/>
          </a:xfrm>
          <a:prstGeom prst="rect">
            <a:avLst/>
          </a:prstGeom>
          <a:noFill/>
          <a:ln/>
        </p:spPr>
        <p:txBody>
          <a:bodyPr wrap="square" lIns="0" tIns="0" rIns="0" bIns="0" rtlCol="0" anchor="ctr"/>
          <a:lstStyle/>
          <a:p>
            <a:pPr algn="just" indent="0" marL="0">
              <a:lnSpc>
                <a:spcPts val="2100"/>
              </a:lnSpc>
              <a:buNone/>
            </a:pPr>
            <a:r>
              <a:rPr lang="en-US" sz="1400" i="1" dirty="0">
                <a:solidFill>
                  <a:srgbClr val="6E6E6E"/>
                </a:solidFill>
                <a:latin typeface="Times New Roman" pitchFamily="34" charset="0"/>
                <a:ea typeface="Times New Roman" pitchFamily="34" charset="-122"/>
                <a:cs typeface="Times New Roman" pitchFamily="34" charset="-120"/>
              </a:rPr>
              <a:t>Η Φάση 2 μειώνει το ρίσκο όλων των υπολοίπων: βγάζει παρουσιάσιμο αποτέλεσμα πριν γραφτεί οποιοδήποτε policy. Προαιρετικά: hardware cost model, latency sweep, δύο workloads μαζί.</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§6.2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Ανοιχτά ερωτήματα για συζήτηση</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6. Πλάνο &amp; συζήτηση</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14 / 14</a:t>
            </a:r>
            <a:endParaRPr lang="en-US" sz="950" dirty="0"/>
          </a:p>
        </p:txBody>
      </p:sp>
      <p:sp>
        <p:nvSpPr>
          <p:cNvPr id="7" name="Text 5"/>
          <p:cNvSpPr/>
          <p:nvPr/>
        </p:nvSpPr>
        <p:spPr>
          <a:xfrm>
            <a:off x="777240" y="141732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1.</a:t>
            </a:r>
            <a:endParaRPr lang="en-US" sz="1600" dirty="0"/>
          </a:p>
        </p:txBody>
      </p:sp>
      <p:sp>
        <p:nvSpPr>
          <p:cNvPr id="8" name="Text 6"/>
          <p:cNvSpPr/>
          <p:nvPr/>
        </p:nvSpPr>
        <p:spPr>
          <a:xfrm>
            <a:off x="1234440" y="141732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Πρόσβαση στον CXLRAMSim.</a:t>
            </a:r>
            <a:endParaRPr lang="en-US" sz="1600" dirty="0"/>
          </a:p>
        </p:txBody>
      </p:sp>
      <p:sp>
        <p:nvSpPr>
          <p:cNvPr id="9" name="Text 7"/>
          <p:cNvSpPr/>
          <p:nvPr/>
        </p:nvSpPr>
        <p:spPr>
          <a:xfrm>
            <a:off x="1234440" y="174650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Υπάρχει repo και οδηγίες build; Ιδανικά και έτοιμο disk image — το να το χτίσω από το μηδέν είναι μέρες δουλειάς που δεν διδάσκουν κάτι για το tiering.</a:t>
            </a:r>
            <a:endParaRPr lang="en-US" sz="1400" dirty="0"/>
          </a:p>
        </p:txBody>
      </p:sp>
      <p:sp>
        <p:nvSpPr>
          <p:cNvPr id="10" name="Text 8"/>
          <p:cNvSpPr/>
          <p:nvPr/>
        </p:nvSpPr>
        <p:spPr>
          <a:xfrm>
            <a:off x="777240" y="237744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2.</a:t>
            </a:r>
            <a:endParaRPr lang="en-US" sz="1600" dirty="0"/>
          </a:p>
        </p:txBody>
      </p:sp>
      <p:sp>
        <p:nvSpPr>
          <p:cNvPr id="11" name="Text 9"/>
          <p:cNvSpPr/>
          <p:nvPr/>
        </p:nvSpPr>
        <p:spPr>
          <a:xfrm>
            <a:off x="1234440" y="237744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Μέγεθος των workloads.</a:t>
            </a:r>
            <a:endParaRPr lang="en-US" sz="1600" dirty="0"/>
          </a:p>
        </p:txBody>
      </p:sp>
      <p:sp>
        <p:nvSpPr>
          <p:cNvPr id="12" name="Text 10"/>
          <p:cNvSpPr/>
          <p:nvPr/>
        </p:nvSpPr>
        <p:spPr>
          <a:xfrm>
            <a:off x="1234440" y="270662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Είναι ok να κατεβάσω το μέγεθος σε εκατοντάδες MB αντί για 10–20 GB RSS, κρατώντας ρεαλιστικό το ratio των tiers;</a:t>
            </a:r>
            <a:endParaRPr lang="en-US" sz="1400" dirty="0"/>
          </a:p>
        </p:txBody>
      </p:sp>
      <p:sp>
        <p:nvSpPr>
          <p:cNvPr id="13" name="Text 11"/>
          <p:cNvSpPr/>
          <p:nvPr/>
        </p:nvSpPr>
        <p:spPr>
          <a:xfrm>
            <a:off x="777240" y="333756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3.</a:t>
            </a:r>
            <a:endParaRPr lang="en-US" sz="1600" dirty="0"/>
          </a:p>
        </p:txBody>
      </p:sp>
      <p:sp>
        <p:nvSpPr>
          <p:cNvPr id="14" name="Text 12"/>
          <p:cNvSpPr/>
          <p:nvPr/>
        </p:nvSpPr>
        <p:spPr>
          <a:xfrm>
            <a:off x="1234440" y="333756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Πόσο μακριά να πάει το implementation.</a:t>
            </a:r>
            <a:endParaRPr lang="en-US" sz="1600" dirty="0"/>
          </a:p>
        </p:txBody>
      </p:sp>
      <p:sp>
        <p:nvSpPr>
          <p:cNvPr id="15" name="Text 13"/>
          <p:cNvSpPr/>
          <p:nvPr/>
        </p:nvSpPr>
        <p:spPr>
          <a:xfrm>
            <a:off x="1234440" y="366674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Φτάνει profiler HPT+HWT με μοντελοποιημένο migration engine, ή θέλετε πραγματικό Linux migration από kernel module;</a:t>
            </a:r>
            <a:endParaRPr lang="en-US" sz="1400" dirty="0"/>
          </a:p>
        </p:txBody>
      </p:sp>
      <p:sp>
        <p:nvSpPr>
          <p:cNvPr id="16" name="Text 14"/>
          <p:cNvSpPr/>
          <p:nvPr/>
        </p:nvSpPr>
        <p:spPr>
          <a:xfrm>
            <a:off x="777240" y="429768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4.</a:t>
            </a:r>
            <a:endParaRPr lang="en-US" sz="1600" dirty="0"/>
          </a:p>
        </p:txBody>
      </p:sp>
      <p:sp>
        <p:nvSpPr>
          <p:cNvPr id="17" name="Text 15"/>
          <p:cNvSpPr/>
          <p:nvPr/>
        </p:nvSpPr>
        <p:spPr>
          <a:xfrm>
            <a:off x="1234440" y="429768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Επιλογή paper.</a:t>
            </a:r>
            <a:endParaRPr lang="en-US" sz="1600" dirty="0"/>
          </a:p>
        </p:txBody>
      </p:sp>
      <p:sp>
        <p:nvSpPr>
          <p:cNvPr id="18" name="Text 16"/>
          <p:cNvSpPr/>
          <p:nvPr/>
        </p:nvSpPr>
        <p:spPr>
          <a:xfrm>
            <a:off x="1234440" y="462686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Είναι το M5 η σωστή επιλογή, ή προτιμάτε να δείτε NeoMem;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Memory Tiering σε συστήματα CXL</dc:title>
  <dc:subject>PptxGenJS Presentation</dc:subject>
  <dc:creator>el23408</dc:creator>
  <cp:lastModifiedBy>el23408</cp:lastModifiedBy>
  <cp:revision>1</cp:revision>
  <dcterms:created xsi:type="dcterms:W3CDTF">2026-07-25T20:01:52Z</dcterms:created>
  <dcterms:modified xsi:type="dcterms:W3CDTF">2026-07-25T20:01:52Z</dcterms:modified>
</cp:coreProperties>
</file>